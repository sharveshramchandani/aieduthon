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Ubuntu Bold" charset="1" panose="020B0804030602030204"/>
      <p:regular r:id="rId16"/>
    </p:embeddedFont>
    <p:embeddedFont>
      <p:font typeface="Ubuntu" charset="1" panose="020B050403060203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jpeg" Type="http://schemas.openxmlformats.org/officeDocument/2006/relationships/image"/><Relationship Id="rId3" Target="../media/image15.jpeg" Type="http://schemas.openxmlformats.org/officeDocument/2006/relationships/image"/><Relationship Id="rId4" Target="../media/image16.jpeg" Type="http://schemas.openxmlformats.org/officeDocument/2006/relationships/image"/><Relationship Id="rId5" Target="../media/image2.png" Type="http://schemas.openxmlformats.org/officeDocument/2006/relationships/image"/><Relationship Id="rId6" Target="../media/image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7.png" Type="http://schemas.openxmlformats.org/officeDocument/2006/relationships/image"/><Relationship Id="rId5" Target="../media/image1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333" r="0" b="-9333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14817" y="3367572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2662084"/>
            <a:ext cx="11895438" cy="2319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34"/>
              </a:lnSpc>
            </a:pPr>
            <a:r>
              <a:rPr lang="en-US" b="true" sz="8834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Business Proposal Overview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138857"/>
            <a:ext cx="10914088" cy="91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4"/>
              </a:lnSpc>
              <a:spcBef>
                <a:spcPct val="0"/>
              </a:spcBef>
            </a:pPr>
            <a:r>
              <a:rPr lang="en-US" sz="2602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A comprehensive proposal for enhancing operational efficiency and profitability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71550"/>
            <a:ext cx="545704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G</a:t>
            </a:r>
            <a:r>
              <a:rPr lang="en-US" sz="2099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inyard International Co.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02256" y="971550"/>
            <a:ext cx="545704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2927557" y="7913536"/>
            <a:ext cx="1952122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5400000">
            <a:off x="-239844" y="7913536"/>
            <a:ext cx="1952122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rot="5400000">
            <a:off x="6234015" y="7913536"/>
            <a:ext cx="1952122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5400000">
            <a:off x="9679530" y="7913536"/>
            <a:ext cx="1952122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5400000">
            <a:off x="13387707" y="7834545"/>
            <a:ext cx="1952122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1656070" y="1480105"/>
            <a:ext cx="4463787" cy="4114800"/>
          </a:xfrm>
          <a:custGeom>
            <a:avLst/>
            <a:gdLst/>
            <a:ahLst/>
            <a:cxnLst/>
            <a:rect r="r" b="b" t="t" l="l"/>
            <a:pathLst>
              <a:path h="4114800" w="4463787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1162050"/>
            <a:ext cx="9445425" cy="3524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000"/>
              </a:lnSpc>
            </a:pPr>
            <a:r>
              <a:rPr lang="en-US" b="true" sz="90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Agenda for Business Proposal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811345"/>
            <a:ext cx="9445425" cy="1054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60"/>
              </a:lnSpc>
            </a:pPr>
            <a:r>
              <a:rPr lang="en-US" sz="32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This presentation outlines the key sections we will cover.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825146"/>
            <a:ext cx="2298127" cy="1290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sz="26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Executive Summary and Objectives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078746" y="6841656"/>
            <a:ext cx="2617503" cy="86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sz="26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Market Analysis and Trends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451998" y="6841656"/>
            <a:ext cx="2793159" cy="1290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sz="26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Strategic Approach and Implementation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998991" y="6841656"/>
            <a:ext cx="2888972" cy="1290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sz="26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Financial Projections and Budget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641797" y="6825146"/>
            <a:ext cx="2617503" cy="86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sz="26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Conclusion and Next Steps</a:t>
            </a:r>
          </a:p>
        </p:txBody>
      </p:sp>
      <p:sp>
        <p:nvSpPr>
          <p:cNvPr name="Freeform 15" id="15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7717976" y="5167717"/>
            <a:ext cx="9323039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-1779616" y="-69352"/>
            <a:ext cx="8285081" cy="10356352"/>
          </a:xfrm>
          <a:custGeom>
            <a:avLst/>
            <a:gdLst/>
            <a:ahLst/>
            <a:cxnLst/>
            <a:rect r="r" b="b" t="t" l="l"/>
            <a:pathLst>
              <a:path h="10356352" w="8285081">
                <a:moveTo>
                  <a:pt x="0" y="0"/>
                </a:moveTo>
                <a:lnTo>
                  <a:pt x="8285081" y="0"/>
                </a:lnTo>
                <a:lnTo>
                  <a:pt x="8285081" y="10356352"/>
                </a:lnTo>
                <a:lnTo>
                  <a:pt x="0" y="103563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17976" y="2244329"/>
            <a:ext cx="932303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</a:pPr>
            <a:r>
              <a:rPr lang="en-US" b="true" sz="32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Introducing Our Vision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717976" y="3181849"/>
            <a:ext cx="9323039" cy="165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500"/>
              </a:lnSpc>
            </a:pPr>
            <a:r>
              <a:rPr lang="en-US" sz="50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Our Vision for a Sustainable and Innovative Future in Business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717976" y="5521940"/>
            <a:ext cx="9323039" cy="1054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60"/>
              </a:lnSpc>
            </a:pPr>
            <a:r>
              <a:rPr lang="en-US" sz="32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Building strong foundations for lasting success and growth in our industry.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17976" y="6842441"/>
            <a:ext cx="9323039" cy="1179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</a:pPr>
            <a:r>
              <a:rPr lang="en-US" sz="24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At the heart of our strategy lies a commitment to </a:t>
            </a:r>
            <a:r>
              <a:rPr lang="en-US" b="true" sz="24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innovation and sustainability</a:t>
            </a:r>
            <a:r>
              <a:rPr lang="en-US" sz="24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, ensuring that our solutions meet both current and future business challenges effectively.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68737" y="-5491063"/>
            <a:ext cx="15951844" cy="10634563"/>
          </a:xfrm>
          <a:custGeom>
            <a:avLst/>
            <a:gdLst/>
            <a:ahLst/>
            <a:cxnLst/>
            <a:rect r="r" b="b" t="t" l="l"/>
            <a:pathLst>
              <a:path h="10634563" w="15951844">
                <a:moveTo>
                  <a:pt x="0" y="0"/>
                </a:moveTo>
                <a:lnTo>
                  <a:pt x="15951845" y="0"/>
                </a:lnTo>
                <a:lnTo>
                  <a:pt x="15951845" y="10634563"/>
                </a:lnTo>
                <a:lnTo>
                  <a:pt x="0" y="106345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68737" y="6156257"/>
            <a:ext cx="7676927" cy="2066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32"/>
              </a:lnSpc>
            </a:pPr>
            <a:r>
              <a:rPr lang="en-US" b="true" sz="6693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Current Market Trends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443655" y="6184832"/>
            <a:ext cx="7676927" cy="2923398"/>
            <a:chOff x="0" y="0"/>
            <a:chExt cx="10235902" cy="3897864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47625"/>
              <a:ext cx="10235902" cy="20151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978"/>
                </a:lnSpc>
              </a:pPr>
              <a:r>
                <a:rPr lang="en-US" b="true" sz="3060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Understanding the latest shifts in consumer behavior and industry practices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2422251"/>
              <a:ext cx="10235902" cy="14756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83"/>
                </a:lnSpc>
              </a:pPr>
              <a:r>
                <a:rPr lang="en-US" sz="2295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The market analysis reveals </a:t>
              </a:r>
              <a:r>
                <a:rPr lang="en-US" b="true" sz="2295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significant patterns</a:t>
              </a:r>
              <a:r>
                <a:rPr lang="en-US" sz="2295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 that indicate how businesses must adapt to meet evolving customer expectations and preferences.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1629451" y="3086100"/>
            <a:ext cx="5924450" cy="4114800"/>
          </a:xfrm>
          <a:custGeom>
            <a:avLst/>
            <a:gdLst/>
            <a:ahLst/>
            <a:cxnLst/>
            <a:rect r="r" b="b" t="t" l="l"/>
            <a:pathLst>
              <a:path h="4114800" w="5924450">
                <a:moveTo>
                  <a:pt x="5924450" y="0"/>
                </a:moveTo>
                <a:lnTo>
                  <a:pt x="0" y="0"/>
                </a:lnTo>
                <a:lnTo>
                  <a:pt x="0" y="4114800"/>
                </a:lnTo>
                <a:lnTo>
                  <a:pt x="5924450" y="4114800"/>
                </a:lnTo>
                <a:lnTo>
                  <a:pt x="592445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043749" y="1738511"/>
            <a:ext cx="7215551" cy="6809978"/>
            <a:chOff x="0" y="0"/>
            <a:chExt cx="9620734" cy="9079971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-47625"/>
              <a:ext cx="8908284" cy="13904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</a:pPr>
              <a:r>
                <a:rPr lang="en-US" sz="3200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Exploring Market Opportunities with Significant Growth Potential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1842100"/>
              <a:ext cx="9620734" cy="3571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349"/>
                </a:lnSpc>
              </a:pPr>
              <a:r>
                <a:rPr lang="en-US" b="true" sz="9000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77% growth potential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5856111"/>
              <a:ext cx="9620734" cy="6919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</a:pPr>
              <a:r>
                <a:rPr lang="en-US" b="true" sz="3200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Target demographic opportunity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6999711"/>
              <a:ext cx="9620734" cy="20802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The target demographic shows a </a:t>
              </a:r>
              <a:r>
                <a:rPr lang="en-US" b="true" sz="2400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remarkable increase</a:t>
              </a:r>
              <a:r>
                <a:rPr lang="en-US" sz="2400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 in demand, highlighting a vital opportunity for businesses to invest and expand within this emerging market segment effectively.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174176" y="1028700"/>
            <a:ext cx="3426506" cy="4114800"/>
          </a:xfrm>
          <a:custGeom>
            <a:avLst/>
            <a:gdLst/>
            <a:ahLst/>
            <a:cxnLst/>
            <a:rect r="r" b="b" t="t" l="l"/>
            <a:pathLst>
              <a:path h="4114800" w="3426506">
                <a:moveTo>
                  <a:pt x="0" y="0"/>
                </a:moveTo>
                <a:lnTo>
                  <a:pt x="3426506" y="0"/>
                </a:lnTo>
                <a:lnTo>
                  <a:pt x="342650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90600"/>
            <a:ext cx="11145476" cy="2781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800"/>
              </a:lnSpc>
            </a:pPr>
            <a:r>
              <a:rPr lang="en-US" b="true" sz="90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Our Unique Value Proposition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5600700"/>
            <a:ext cx="4365393" cy="86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b="true" sz="26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Innovative Solutions for Every Challenge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706826" y="5600700"/>
            <a:ext cx="4365393" cy="86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b="true" sz="26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Competitive Pricing that Drives Value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4176" y="5600700"/>
            <a:ext cx="4365393" cy="86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b="true" sz="26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Exceptional Support When You Need It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7327673"/>
            <a:ext cx="4365393" cy="1179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</a:pPr>
            <a:r>
              <a:rPr lang="en-US" sz="24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We offer tailored strategies that maximize efficiency and effectiveness.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601438" y="7327673"/>
            <a:ext cx="4470781" cy="1179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Our pricing model ensures affordability without sacrificing quality or service.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174176" y="7327673"/>
            <a:ext cx="4365393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Our dedicated team is here to assist you at every step.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233269" y="4235107"/>
            <a:ext cx="9846580" cy="5736216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1028700" y="849092"/>
            <a:ext cx="6832987" cy="552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800"/>
              </a:lnSpc>
            </a:pPr>
            <a:r>
              <a:rPr lang="en-US" b="true" sz="90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Projected Yearly Growth Overview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903970"/>
            <a:ext cx="5692095" cy="354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30"/>
              </a:lnSpc>
            </a:pPr>
            <a:r>
              <a:rPr lang="en-US" sz="21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Ginya</a:t>
            </a:r>
            <a:r>
              <a:rPr lang="en-US" sz="21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rd International Co.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874844" y="990600"/>
            <a:ext cx="8384456" cy="86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80"/>
              </a:lnSpc>
            </a:pPr>
            <a:r>
              <a:rPr lang="en-US" b="true" sz="26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Analyzing growth trends to inform future strategic decisions for our business.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874844" y="2197832"/>
            <a:ext cx="8384456" cy="1179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</a:pPr>
            <a:r>
              <a:rPr lang="en-US" sz="24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This chart illustrates the </a:t>
            </a:r>
            <a:r>
              <a:rPr lang="en-US" b="true" sz="24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anticipated growth rates</a:t>
            </a:r>
            <a:r>
              <a:rPr lang="en-US" sz="24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 across different sectors, helping us understand where to focus our resources for maximum impact.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49092"/>
            <a:ext cx="6832987" cy="552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800"/>
              </a:lnSpc>
            </a:pPr>
            <a:r>
              <a:rPr lang="en-US" b="true" sz="9000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Long-Term Goals: Our Strategic Roadmap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8903970"/>
            <a:ext cx="5692095" cy="354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30"/>
              </a:lnSpc>
            </a:pPr>
            <a:r>
              <a:rPr lang="en-US" sz="21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Ginya</a:t>
            </a:r>
            <a:r>
              <a:rPr lang="en-US" sz="2100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rd International Co.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874844" y="1028700"/>
            <a:ext cx="8384456" cy="2738852"/>
            <a:chOff x="0" y="0"/>
            <a:chExt cx="11179274" cy="3651802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38100"/>
              <a:ext cx="11179274" cy="11370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80"/>
                </a:lnSpc>
              </a:pPr>
              <a:r>
                <a:rPr lang="en-US" b="true" sz="2600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Visualizing our growth trajectory over the next five years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571542"/>
              <a:ext cx="11179274" cy="20802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The stacked bar chart illustrates key objectives and milestones, showing </a:t>
              </a:r>
              <a:r>
                <a:rPr lang="en-US" b="true" sz="2400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projected growth</a:t>
              </a:r>
              <a:r>
                <a:rPr lang="en-US" sz="2400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 in various sectors and helping us track progress toward our long-term goals effectively.</a:t>
              </a:r>
            </a:p>
          </p:txBody>
        </p:sp>
      </p:grpSp>
      <p:pic>
        <p:nvPicPr>
          <p:cNvPr name="Picture 7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233269" y="4235107"/>
            <a:ext cx="9846580" cy="5736216"/>
          </a:xfrm>
          <a:prstGeom prst="rect">
            <a:avLst/>
          </a:prstGeom>
        </p:spPr>
      </p:pic>
      <p:sp>
        <p:nvSpPr>
          <p:cNvPr name="Freeform 8" id="8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H="true">
            <a:off x="1237583" y="7432615"/>
            <a:ext cx="0" cy="1825685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H="true">
            <a:off x="6951143" y="7432615"/>
            <a:ext cx="0" cy="1825685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2664704" y="7432615"/>
            <a:ext cx="0" cy="1825685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" id="5"/>
          <p:cNvGrpSpPr/>
          <p:nvPr/>
        </p:nvGrpSpPr>
        <p:grpSpPr>
          <a:xfrm rot="0">
            <a:off x="1237583" y="3633991"/>
            <a:ext cx="4390476" cy="3019018"/>
            <a:chOff x="0" y="0"/>
            <a:chExt cx="6159500" cy="42354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159500" cy="4235450"/>
            </a:xfrm>
            <a:custGeom>
              <a:avLst/>
              <a:gdLst/>
              <a:ahLst/>
              <a:cxnLst/>
              <a:rect r="r" b="b" t="t" l="l"/>
              <a:pathLst>
                <a:path h="4235450" w="6159500">
                  <a:moveTo>
                    <a:pt x="6159500" y="4235450"/>
                  </a:moveTo>
                  <a:lnTo>
                    <a:pt x="0" y="3696970"/>
                  </a:lnTo>
                  <a:lnTo>
                    <a:pt x="0" y="0"/>
                  </a:lnTo>
                  <a:lnTo>
                    <a:pt x="6159500" y="538480"/>
                  </a:lnTo>
                  <a:close/>
                </a:path>
              </a:pathLst>
            </a:custGeom>
            <a:blipFill>
              <a:blip r:embed="rId2"/>
              <a:stretch>
                <a:fillRect l="-1604" t="0" r="-1604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237583" y="1000125"/>
            <a:ext cx="15817597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216"/>
              </a:lnSpc>
              <a:spcBef>
                <a:spcPct val="0"/>
              </a:spcBef>
            </a:pPr>
            <a:r>
              <a:rPr lang="en-US" b="true" sz="5180" strike="noStrike" u="none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Client Testimonials for Our Services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053172" y="7639926"/>
            <a:ext cx="4002008" cy="1389468"/>
            <a:chOff x="0" y="0"/>
            <a:chExt cx="5336010" cy="185262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-47625"/>
              <a:ext cx="5336010" cy="4341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01"/>
                </a:lnSpc>
                <a:spcBef>
                  <a:spcPct val="0"/>
                </a:spcBef>
              </a:pPr>
              <a:r>
                <a:rPr lang="en-US" b="true" sz="1924" strike="noStrike" u="none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Outstanding Results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701601"/>
              <a:ext cx="5336010" cy="11510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309"/>
                </a:lnSpc>
                <a:spcBef>
                  <a:spcPct val="0"/>
                </a:spcBef>
              </a:pPr>
              <a:r>
                <a:rPr lang="en-US" sz="1776" strike="noStrike" u="none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“The results exceeded our expectations and truly transformed our business.”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333496" y="7639926"/>
            <a:ext cx="4008123" cy="1103718"/>
            <a:chOff x="0" y="0"/>
            <a:chExt cx="5344164" cy="1471624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47625"/>
              <a:ext cx="5344164" cy="4341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01"/>
                </a:lnSpc>
                <a:spcBef>
                  <a:spcPct val="0"/>
                </a:spcBef>
              </a:pPr>
              <a:r>
                <a:rPr lang="en-US" b="true" sz="1924" strike="noStrike" u="none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Great Support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701601"/>
              <a:ext cx="5344164" cy="7700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309"/>
                </a:lnSpc>
                <a:spcBef>
                  <a:spcPct val="0"/>
                </a:spcBef>
              </a:pPr>
              <a:r>
                <a:rPr lang="en-US" sz="1776" strike="noStrike" u="none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“The team was incredibly supportive and guided us through every step.”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19326" y="7639926"/>
            <a:ext cx="4008733" cy="1103718"/>
            <a:chOff x="0" y="0"/>
            <a:chExt cx="5344977" cy="1471624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47625"/>
              <a:ext cx="5344977" cy="4341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01"/>
                </a:lnSpc>
                <a:spcBef>
                  <a:spcPct val="0"/>
                </a:spcBef>
              </a:pPr>
              <a:r>
                <a:rPr lang="en-US" b="true" sz="1924" strike="noStrike" u="none">
                  <a:solidFill>
                    <a:srgbClr val="0C1116"/>
                  </a:solidFill>
                  <a:latin typeface="Ubuntu Bold"/>
                  <a:ea typeface="Ubuntu Bold"/>
                  <a:cs typeface="Ubuntu Bold"/>
                  <a:sym typeface="Ubuntu Bold"/>
                </a:rPr>
                <a:t>Happy Client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701601"/>
              <a:ext cx="5344977" cy="7700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309"/>
                </a:lnSpc>
                <a:spcBef>
                  <a:spcPct val="0"/>
                </a:spcBef>
              </a:pPr>
              <a:r>
                <a:rPr lang="en-US" sz="1776" strike="noStrike" u="none">
                  <a:solidFill>
                    <a:srgbClr val="0C1116"/>
                  </a:solidFill>
                  <a:latin typeface="Ubuntu"/>
                  <a:ea typeface="Ubuntu"/>
                  <a:cs typeface="Ubuntu"/>
                  <a:sym typeface="Ubuntu"/>
                </a:rPr>
                <a:t>“Our experience was fantastic, and we couldn't be happier!”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948762" y="3633991"/>
            <a:ext cx="4390476" cy="3019018"/>
            <a:chOff x="0" y="0"/>
            <a:chExt cx="6159500" cy="42354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159500" cy="4235450"/>
            </a:xfrm>
            <a:custGeom>
              <a:avLst/>
              <a:gdLst/>
              <a:ahLst/>
              <a:cxnLst/>
              <a:rect r="r" b="b" t="t" l="l"/>
              <a:pathLst>
                <a:path h="4235450" w="6159500">
                  <a:moveTo>
                    <a:pt x="6159500" y="4235450"/>
                  </a:moveTo>
                  <a:lnTo>
                    <a:pt x="0" y="3696970"/>
                  </a:lnTo>
                  <a:lnTo>
                    <a:pt x="0" y="0"/>
                  </a:lnTo>
                  <a:lnTo>
                    <a:pt x="6159500" y="538480"/>
                  </a:lnTo>
                  <a:close/>
                </a:path>
              </a:pathLst>
            </a:custGeom>
            <a:blipFill>
              <a:blip r:embed="rId3"/>
              <a:stretch>
                <a:fillRect l="-1604" t="0" r="-1604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2659941" y="3633991"/>
            <a:ext cx="4390476" cy="3019018"/>
            <a:chOff x="0" y="0"/>
            <a:chExt cx="6159500" cy="42354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159500" cy="4235450"/>
            </a:xfrm>
            <a:custGeom>
              <a:avLst/>
              <a:gdLst/>
              <a:ahLst/>
              <a:cxnLst/>
              <a:rect r="r" b="b" t="t" l="l"/>
              <a:pathLst>
                <a:path h="4235450" w="6159500">
                  <a:moveTo>
                    <a:pt x="6159500" y="4235450"/>
                  </a:moveTo>
                  <a:lnTo>
                    <a:pt x="0" y="3696970"/>
                  </a:lnTo>
                  <a:lnTo>
                    <a:pt x="0" y="0"/>
                  </a:lnTo>
                  <a:lnTo>
                    <a:pt x="6159500" y="538480"/>
                  </a:lnTo>
                  <a:close/>
                </a:path>
              </a:pathLst>
            </a:custGeom>
            <a:blipFill>
              <a:blip r:embed="rId4"/>
              <a:stretch>
                <a:fillRect l="-2793" t="0" r="-2793" b="0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1F1EF">
                <a:alpha val="100000"/>
              </a:srgbClr>
            </a:gs>
            <a:gs pos="100000">
              <a:srgbClr val="D7DCD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H="true">
            <a:off x="9144000" y="4862011"/>
            <a:ext cx="8115300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true" flipV="false" rot="0">
            <a:off x="4479881" y="5866080"/>
            <a:ext cx="18715039" cy="7656152"/>
          </a:xfrm>
          <a:custGeom>
            <a:avLst/>
            <a:gdLst/>
            <a:ahLst/>
            <a:cxnLst/>
            <a:rect r="r" b="b" t="t" l="l"/>
            <a:pathLst>
              <a:path h="7656152" w="18715039">
                <a:moveTo>
                  <a:pt x="18715039" y="0"/>
                </a:moveTo>
                <a:lnTo>
                  <a:pt x="0" y="0"/>
                </a:lnTo>
                <a:lnTo>
                  <a:pt x="0" y="7656152"/>
                </a:lnTo>
                <a:lnTo>
                  <a:pt x="18715039" y="7656152"/>
                </a:lnTo>
                <a:lnTo>
                  <a:pt x="1871503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flipH="true">
            <a:off x="9144000" y="7151067"/>
            <a:ext cx="8115300" cy="0"/>
          </a:xfrm>
          <a:prstGeom prst="line">
            <a:avLst/>
          </a:prstGeom>
          <a:ln cap="rnd" w="9525">
            <a:solidFill>
              <a:srgbClr val="1B26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3086100"/>
            <a:ext cx="3890356" cy="4114800"/>
          </a:xfrm>
          <a:custGeom>
            <a:avLst/>
            <a:gdLst/>
            <a:ahLst/>
            <a:cxnLst/>
            <a:rect r="r" b="b" t="t" l="l"/>
            <a:pathLst>
              <a:path h="4114800" w="3890356">
                <a:moveTo>
                  <a:pt x="0" y="0"/>
                </a:moveTo>
                <a:lnTo>
                  <a:pt x="3890356" y="0"/>
                </a:lnTo>
                <a:lnTo>
                  <a:pt x="389035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73878" y="6731924"/>
            <a:ext cx="3890356" cy="4114800"/>
          </a:xfrm>
          <a:custGeom>
            <a:avLst/>
            <a:gdLst/>
            <a:ahLst/>
            <a:cxnLst/>
            <a:rect r="r" b="b" t="t" l="l"/>
            <a:pathLst>
              <a:path h="4114800" w="3890356">
                <a:moveTo>
                  <a:pt x="0" y="0"/>
                </a:moveTo>
                <a:lnTo>
                  <a:pt x="3890357" y="0"/>
                </a:lnTo>
                <a:lnTo>
                  <a:pt x="389035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207518"/>
            <a:ext cx="162306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755"/>
              </a:lnSpc>
              <a:spcBef>
                <a:spcPct val="0"/>
              </a:spcBef>
            </a:pPr>
            <a:r>
              <a:rPr lang="en-US" b="true" sz="6462" strike="noStrike" u="none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Get in touch with us for more information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144000" y="3172637"/>
            <a:ext cx="7522388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Email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144000" y="3709880"/>
            <a:ext cx="752238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00"/>
              </a:lnSpc>
              <a:spcBef>
                <a:spcPct val="0"/>
              </a:spcBef>
            </a:pPr>
            <a:r>
              <a:rPr lang="en-US" b="true" sz="3000" strike="noStrike" u="none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hello@reallygreatsite.com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144000" y="5461693"/>
            <a:ext cx="7522388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Social media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0" y="5998936"/>
            <a:ext cx="752238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00"/>
              </a:lnSpc>
              <a:spcBef>
                <a:spcPct val="0"/>
              </a:spcBef>
            </a:pPr>
            <a:r>
              <a:rPr lang="en-US" b="true" sz="3000" strike="noStrike" u="none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@reallygreatsite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0" y="7737731"/>
            <a:ext cx="7522388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0C1116"/>
                </a:solidFill>
                <a:latin typeface="Ubuntu"/>
                <a:ea typeface="Ubuntu"/>
                <a:cs typeface="Ubuntu"/>
                <a:sym typeface="Ubuntu"/>
              </a:rPr>
              <a:t>Phone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144000" y="8274974"/>
            <a:ext cx="752238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00"/>
              </a:lnSpc>
              <a:spcBef>
                <a:spcPct val="0"/>
              </a:spcBef>
            </a:pPr>
            <a:r>
              <a:rPr lang="en-US" b="true" sz="3000" strike="noStrike" u="none">
                <a:solidFill>
                  <a:srgbClr val="0C1116"/>
                </a:solidFill>
                <a:latin typeface="Ubuntu Bold"/>
                <a:ea typeface="Ubuntu Bold"/>
                <a:cs typeface="Ubuntu Bold"/>
                <a:sym typeface="Ubuntu Bold"/>
              </a:rPr>
              <a:t>123-456-7890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-1137181" y="6731924"/>
            <a:ext cx="3890356" cy="4114800"/>
          </a:xfrm>
          <a:custGeom>
            <a:avLst/>
            <a:gdLst/>
            <a:ahLst/>
            <a:cxnLst/>
            <a:rect r="r" b="b" t="t" l="l"/>
            <a:pathLst>
              <a:path h="4114800" w="3890356">
                <a:moveTo>
                  <a:pt x="0" y="0"/>
                </a:moveTo>
                <a:lnTo>
                  <a:pt x="3890356" y="0"/>
                </a:lnTo>
                <a:lnTo>
                  <a:pt x="389035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DAG54v8GDng</dc:identifier>
  <dcterms:modified xsi:type="dcterms:W3CDTF">2011-08-01T06:04:30Z</dcterms:modified>
  <cp:revision>1</cp:revision>
  <dc:title>Blue Grey Minimalist Elegant Business Proposal Presentation</dc:title>
</cp:coreProperties>
</file>