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.svg" ContentType="image/svg+xml"/>
  <Override PartName="/ppt/media/image20.svg" ContentType="image/svg+xml"/>
  <Override PartName="/ppt/media/image22.svg" ContentType="image/svg+xml"/>
  <Override PartName="/ppt/media/image24.svg" ContentType="image/svg+xml"/>
  <Override PartName="/ppt/media/image26.svg" ContentType="image/svg+xml"/>
  <Override PartName="/ppt/media/image29.svg" ContentType="image/svg+xml"/>
  <Override PartName="/ppt/media/image31.svg" ContentType="image/svg+xml"/>
  <Override PartName="/ppt/media/image34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5.svg" ContentType="image/svg+xml"/>
  <Override PartName="/ppt/media/image47.svg" ContentType="image/svg+xml"/>
  <Override PartName="/ppt/media/image49.svg" ContentType="image/svg+xml"/>
  <Override PartName="/ppt/media/image51.svg" ContentType="image/svg+xml"/>
  <Override PartName="/ppt/media/image53.svg" ContentType="image/svg+xml"/>
  <Override PartName="/ppt/media/image55.svg" ContentType="image/svg+xml"/>
  <Override PartName="/ppt/media/image57.svg" ContentType="image/svg+xml"/>
  <Override PartName="/ppt/media/image59.svg" ContentType="image/svg+xml"/>
  <Override PartName="/ppt/media/image6.svg" ContentType="image/svg+xml"/>
  <Override PartName="/ppt/media/image61.svg" ContentType="image/svg+xml"/>
  <Override PartName="/ppt/media/image63.svg" ContentType="image/svg+xml"/>
  <Override PartName="/ppt/media/image65.svg" ContentType="image/svg+xml"/>
  <Override PartName="/ppt/media/image67.svg" ContentType="image/svg+xml"/>
  <Override PartName="/ppt/media/image69.svg" ContentType="image/svg+xml"/>
  <Override PartName="/ppt/media/image71.svg" ContentType="image/svg+xml"/>
  <Override PartName="/ppt/media/image73.svg" ContentType="image/svg+xml"/>
  <Override PartName="/ppt/media/image75.svg" ContentType="image/svg+xml"/>
  <Override PartName="/ppt/media/image77.svg" ContentType="image/svg+xml"/>
  <Override PartName="/ppt/media/image79.svg" ContentType="image/svg+xml"/>
  <Override PartName="/ppt/media/image8.svg" ContentType="image/svg+xml"/>
  <Override PartName="/ppt/media/image81.svg" ContentType="image/svg+xml"/>
  <Override PartName="/ppt/media/image83.svg" ContentType="image/svg+xml"/>
  <Override PartName="/ppt/media/image85.svg" ContentType="image/svg+xml"/>
  <Override PartName="/ppt/media/image87.svg" ContentType="image/svg+xml"/>
  <Override PartName="/ppt/media/image89.svg" ContentType="image/svg+xml"/>
  <Override PartName="/ppt/media/image91.svg" ContentType="image/svg+xml"/>
  <Override PartName="/ppt/media/image93.svg" ContentType="image/svg+xml"/>
  <Override PartName="/ppt/media/image95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Cormorant Garamond Bold" charset="1" panose="00000800000000000000"/>
      <p:regular r:id="rId27"/>
    </p:embeddedFont>
    <p:embeddedFont>
      <p:font typeface="HK Grotesk Light" charset="1" panose="00000400000000000000"/>
      <p:regular r:id="rId28"/>
    </p:embeddedFont>
    <p:embeddedFont>
      <p:font typeface="HK Grotesk" charset="1" panose="00000500000000000000"/>
      <p:regular r:id="rId29"/>
    </p:embeddedFont>
    <p:embeddedFont>
      <p:font typeface="Cormorant Garamond Medium" charset="1" panose="00000600000000000000"/>
      <p:regular r:id="rId30"/>
    </p:embeddedFont>
    <p:embeddedFont>
      <p:font typeface="Cormorant Garamond Semi-Bold" charset="1" panose="00000700000000000000"/>
      <p:regular r:id="rId31"/>
    </p:embeddedFont>
    <p:embeddedFont>
      <p:font typeface="HK Grotesk Semi-Bold" charset="1" panose="00000700000000000000"/>
      <p:regular r:id="rId32"/>
    </p:embeddedFont>
    <p:embeddedFont>
      <p:font typeface="HK Grotesk Bold" charset="1" panose="0000080000000000000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font" Target="fonts/font27.fntdata"/><Relationship Id="rId28" Type="http://schemas.openxmlformats.org/officeDocument/2006/relationships/font" Target="fonts/font28.fntdata"/><Relationship Id="rId29" Type="http://schemas.openxmlformats.org/officeDocument/2006/relationships/font" Target="fonts/font29.fntdata"/><Relationship Id="rId30" Type="http://schemas.openxmlformats.org/officeDocument/2006/relationships/font" Target="fonts/font30.fntdata"/><Relationship Id="rId31" Type="http://schemas.openxmlformats.org/officeDocument/2006/relationships/font" Target="fonts/font31.fntdata"/><Relationship Id="rId32" Type="http://schemas.openxmlformats.org/officeDocument/2006/relationships/font" Target="fonts/font32.fntdata"/><Relationship Id="rId33" Type="http://schemas.openxmlformats.org/officeDocument/2006/relationships/font" Target="fonts/font3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sv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image" Target="../media/image7.png"/><Relationship Id="rId7" Type="http://schemas.openxmlformats.org/officeDocument/2006/relationships/image" Target="../media/image8.svg"/><Relationship Id="rId8" Type="http://schemas.openxmlformats.org/officeDocument/2006/relationships/image" Target="../media/image9.png"/><Relationship Id="rId9" Type="http://schemas.openxmlformats.org/officeDocument/2006/relationships/image" Target="../media/image10.svg"/><Relationship Id="rId10" Type="http://schemas.openxmlformats.org/officeDocument/2006/relationships/image" Target="../media/image11.png"/><Relationship Id="rId11" Type="http://schemas.openxmlformats.org/officeDocument/2006/relationships/image" Target="../media/image12.svg"/><Relationship Id="rId12" Type="http://schemas.openxmlformats.org/officeDocument/2006/relationships/image" Target="../media/image13.png"/><Relationship Id="rId13" Type="http://schemas.openxmlformats.org/officeDocument/2006/relationships/image" Target="../media/image14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Relationship Id="rId4" Type="http://schemas.openxmlformats.org/officeDocument/2006/relationships/image" Target="../media/image28.png"/><Relationship Id="rId5" Type="http://schemas.openxmlformats.org/officeDocument/2006/relationships/image" Target="../media/image29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svg"/><Relationship Id="rId4" Type="http://schemas.openxmlformats.org/officeDocument/2006/relationships/image" Target="../media/image37.png"/><Relationship Id="rId5" Type="http://schemas.openxmlformats.org/officeDocument/2006/relationships/image" Target="../media/image38.svg"/><Relationship Id="rId6" Type="http://schemas.openxmlformats.org/officeDocument/2006/relationships/image" Target="../media/image39.png"/><Relationship Id="rId7" Type="http://schemas.openxmlformats.org/officeDocument/2006/relationships/image" Target="../media/image40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eg"/><Relationship Id="rId3" Type="http://schemas.openxmlformats.org/officeDocument/2006/relationships/image" Target="../media/image42.jpeg"/><Relationship Id="rId4" Type="http://schemas.openxmlformats.org/officeDocument/2006/relationships/image" Target="../media/image43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svg"/><Relationship Id="rId4" Type="http://schemas.openxmlformats.org/officeDocument/2006/relationships/image" Target="../media/image48.png"/><Relationship Id="rId5" Type="http://schemas.openxmlformats.org/officeDocument/2006/relationships/image" Target="../media/image49.svg"/><Relationship Id="rId6" Type="http://schemas.openxmlformats.org/officeDocument/2006/relationships/image" Target="../media/image50.png"/><Relationship Id="rId7" Type="http://schemas.openxmlformats.org/officeDocument/2006/relationships/image" Target="../media/image51.svg"/><Relationship Id="rId8" Type="http://schemas.openxmlformats.org/officeDocument/2006/relationships/image" Target="../media/image52.png"/><Relationship Id="rId9" Type="http://schemas.openxmlformats.org/officeDocument/2006/relationships/image" Target="../media/image53.svg"/><Relationship Id="rId10" Type="http://schemas.openxmlformats.org/officeDocument/2006/relationships/image" Target="../media/image54.png"/><Relationship Id="rId11" Type="http://schemas.openxmlformats.org/officeDocument/2006/relationships/image" Target="../media/image55.svg"/><Relationship Id="rId12" Type="http://schemas.openxmlformats.org/officeDocument/2006/relationships/image" Target="../media/image56.png"/><Relationship Id="rId13" Type="http://schemas.openxmlformats.org/officeDocument/2006/relationships/image" Target="../media/image57.svg"/><Relationship Id="rId14" Type="http://schemas.openxmlformats.org/officeDocument/2006/relationships/image" Target="../media/image58.png"/><Relationship Id="rId15" Type="http://schemas.openxmlformats.org/officeDocument/2006/relationships/image" Target="../media/image59.svg"/><Relationship Id="rId16" Type="http://schemas.openxmlformats.org/officeDocument/2006/relationships/image" Target="../media/image60.png"/><Relationship Id="rId17" Type="http://schemas.openxmlformats.org/officeDocument/2006/relationships/image" Target="../media/image61.svg"/><Relationship Id="rId18" Type="http://schemas.openxmlformats.org/officeDocument/2006/relationships/image" Target="../media/image62.png"/><Relationship Id="rId19" Type="http://schemas.openxmlformats.org/officeDocument/2006/relationships/image" Target="../media/image63.svg"/><Relationship Id="rId20" Type="http://schemas.openxmlformats.org/officeDocument/2006/relationships/image" Target="../media/image64.png"/><Relationship Id="rId21" Type="http://schemas.openxmlformats.org/officeDocument/2006/relationships/image" Target="../media/image65.svg"/><Relationship Id="rId22" Type="http://schemas.openxmlformats.org/officeDocument/2006/relationships/image" Target="../media/image66.png"/><Relationship Id="rId23" Type="http://schemas.openxmlformats.org/officeDocument/2006/relationships/image" Target="../media/image67.svg"/><Relationship Id="rId24" Type="http://schemas.openxmlformats.org/officeDocument/2006/relationships/image" Target="../media/image68.png"/><Relationship Id="rId25" Type="http://schemas.openxmlformats.org/officeDocument/2006/relationships/image" Target="../media/image69.svg"/><Relationship Id="rId26" Type="http://schemas.openxmlformats.org/officeDocument/2006/relationships/image" Target="../media/image70.png"/><Relationship Id="rId27" Type="http://schemas.openxmlformats.org/officeDocument/2006/relationships/image" Target="../media/image71.svg"/><Relationship Id="rId28" Type="http://schemas.openxmlformats.org/officeDocument/2006/relationships/image" Target="../media/image72.png"/><Relationship Id="rId29" Type="http://schemas.openxmlformats.org/officeDocument/2006/relationships/image" Target="../media/image73.svg"/><Relationship Id="rId30" Type="http://schemas.openxmlformats.org/officeDocument/2006/relationships/image" Target="../media/image74.png"/><Relationship Id="rId31" Type="http://schemas.openxmlformats.org/officeDocument/2006/relationships/image" Target="../media/image75.svg"/><Relationship Id="rId32" Type="http://schemas.openxmlformats.org/officeDocument/2006/relationships/image" Target="../media/image76.png"/><Relationship Id="rId33" Type="http://schemas.openxmlformats.org/officeDocument/2006/relationships/image" Target="../media/image77.svg"/><Relationship Id="rId34" Type="http://schemas.openxmlformats.org/officeDocument/2006/relationships/image" Target="../media/image78.png"/><Relationship Id="rId35" Type="http://schemas.openxmlformats.org/officeDocument/2006/relationships/image" Target="../media/image79.svg"/><Relationship Id="rId36" Type="http://schemas.openxmlformats.org/officeDocument/2006/relationships/image" Target="../media/image80.png"/><Relationship Id="rId37" Type="http://schemas.openxmlformats.org/officeDocument/2006/relationships/image" Target="../media/image81.svg"/><Relationship Id="rId38" Type="http://schemas.openxmlformats.org/officeDocument/2006/relationships/image" Target="../media/image82.png"/><Relationship Id="rId39" Type="http://schemas.openxmlformats.org/officeDocument/2006/relationships/image" Target="../media/image83.svg"/><Relationship Id="rId40" Type="http://schemas.openxmlformats.org/officeDocument/2006/relationships/image" Target="../media/image84.png"/><Relationship Id="rId41" Type="http://schemas.openxmlformats.org/officeDocument/2006/relationships/image" Target="../media/image85.svg"/><Relationship Id="rId42" Type="http://schemas.openxmlformats.org/officeDocument/2006/relationships/image" Target="../media/image86.png"/><Relationship Id="rId43" Type="http://schemas.openxmlformats.org/officeDocument/2006/relationships/image" Target="../media/image87.svg"/><Relationship Id="rId44" Type="http://schemas.openxmlformats.org/officeDocument/2006/relationships/image" Target="../media/image88.png"/><Relationship Id="rId45" Type="http://schemas.openxmlformats.org/officeDocument/2006/relationships/image" Target="../media/image89.svg"/><Relationship Id="rId46" Type="http://schemas.openxmlformats.org/officeDocument/2006/relationships/image" Target="../media/image90.png"/><Relationship Id="rId47" Type="http://schemas.openxmlformats.org/officeDocument/2006/relationships/image" Target="../media/image91.svg"/><Relationship Id="rId48" Type="http://schemas.openxmlformats.org/officeDocument/2006/relationships/image" Target="../media/image92.png"/><Relationship Id="rId49" Type="http://schemas.openxmlformats.org/officeDocument/2006/relationships/image" Target="../media/image93.svg"/><Relationship Id="rId50" Type="http://schemas.openxmlformats.org/officeDocument/2006/relationships/image" Target="../media/image94.png"/><Relationship Id="rId51" Type="http://schemas.openxmlformats.org/officeDocument/2006/relationships/image" Target="../media/image95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10478307" y="377186"/>
            <a:ext cx="6919032" cy="9909814"/>
            <a:chOff x="0" y="0"/>
            <a:chExt cx="443357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2217420" y="0"/>
                  </a:moveTo>
                  <a:lnTo>
                    <a:pt x="2217420" y="0"/>
                  </a:lnTo>
                  <a:cubicBezTo>
                    <a:pt x="3441700" y="0"/>
                    <a:pt x="4433570" y="993140"/>
                    <a:pt x="4433570" y="2217420"/>
                  </a:cubicBez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217420"/>
                  </a:lnTo>
                  <a:cubicBezTo>
                    <a:pt x="0" y="993140"/>
                    <a:pt x="993140" y="0"/>
                    <a:pt x="2217420" y="0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AutoShape 4" id="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0">
            <a:off x="-443075" y="8889740"/>
            <a:ext cx="18865925" cy="1971292"/>
          </a:xfrm>
          <a:prstGeom prst="rect">
            <a:avLst/>
          </a:prstGeom>
          <a:solidFill>
            <a:srgbClr val="304543"/>
          </a:solidFill>
        </p:spPr>
        <p:txBody>
          <a:bodyPr/>
          <a:p/>
        </p:txBody>
      </p:sp>
      <p:sp>
        <p:nvSpPr>
          <p:cNvPr name="Freeform 5" id="5" descr="illustration of a person sitting at a desk"/>
          <p:cNvSpPr/>
          <p:nvPr/>
        </p:nvSpPr>
        <p:spPr>
          <a:xfrm flipH="false" flipV="false" rot="0">
            <a:off x="10489393" y="1488040"/>
            <a:ext cx="6970949" cy="7430275"/>
          </a:xfrm>
          <a:custGeom>
            <a:avLst/>
            <a:gdLst/>
            <a:ahLst/>
            <a:cxnLst/>
            <a:rect r="r" b="b" t="t" l="l"/>
            <a:pathLst>
              <a:path h="7430275" w="6970949">
                <a:moveTo>
                  <a:pt x="0" y="0"/>
                </a:moveTo>
                <a:lnTo>
                  <a:pt x="6970949" y="0"/>
                </a:lnTo>
                <a:lnTo>
                  <a:pt x="6970949" y="7430275"/>
                </a:lnTo>
                <a:lnTo>
                  <a:pt x="0" y="743027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6" id="6"/>
          <p:cNvGrpSpPr/>
          <p:nvPr/>
        </p:nvGrpSpPr>
        <p:grpSpPr>
          <a:xfrm rot="0">
            <a:off x="1028700" y="2499137"/>
            <a:ext cx="8964532" cy="4525007"/>
            <a:chOff x="0" y="0"/>
            <a:chExt cx="11952709" cy="6033343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266700"/>
              <a:ext cx="11952709" cy="43104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2149"/>
                </a:lnSpc>
              </a:pPr>
              <a:r>
                <a:rPr lang="en-US" sz="12524" b="true">
                  <a:solidFill>
                    <a:srgbClr val="000000">
                      <a:alpha val="80000"/>
                    </a:srgbClr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Social Media Report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5228207"/>
              <a:ext cx="11791638" cy="80513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3600">
                  <a:solidFill>
                    <a:srgbClr val="000000">
                      <a:alpha val="80000"/>
                    </a:srgbClr>
                  </a:solidFill>
                  <a:latin typeface="HK Grotesk Light"/>
                  <a:ea typeface="HK Grotesk Light"/>
                  <a:cs typeface="HK Grotesk Light"/>
                  <a:sym typeface="HK Grotesk Light"/>
                </a:rPr>
                <a:t>Quarterly Performance and Assessment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09799" y="990600"/>
            <a:ext cx="2560468" cy="2737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Freeform 4" id="4" descr="a facebook logo on a black background"/>
          <p:cNvSpPr/>
          <p:nvPr/>
        </p:nvSpPr>
        <p:spPr>
          <a:xfrm flipH="false" flipV="false" rot="0">
            <a:off x="7152364" y="3809565"/>
            <a:ext cx="379477" cy="379477"/>
          </a:xfrm>
          <a:custGeom>
            <a:avLst/>
            <a:gdLst/>
            <a:ahLst/>
            <a:cxnLst/>
            <a:rect r="r" b="b" t="t" l="l"/>
            <a:pathLst>
              <a:path h="379477" w="379477">
                <a:moveTo>
                  <a:pt x="0" y="0"/>
                </a:moveTo>
                <a:lnTo>
                  <a:pt x="379477" y="0"/>
                </a:lnTo>
                <a:lnTo>
                  <a:pt x="379477" y="379476"/>
                </a:lnTo>
                <a:lnTo>
                  <a:pt x="0" y="3794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5" id="5" descr="instagram logo with a black background"/>
          <p:cNvSpPr/>
          <p:nvPr/>
        </p:nvSpPr>
        <p:spPr>
          <a:xfrm flipH="false" flipV="false" rot="0">
            <a:off x="7152364" y="4489014"/>
            <a:ext cx="365407" cy="365407"/>
          </a:xfrm>
          <a:custGeom>
            <a:avLst/>
            <a:gdLst/>
            <a:ahLst/>
            <a:cxnLst/>
            <a:rect r="r" b="b" t="t" l="l"/>
            <a:pathLst>
              <a:path h="365407" w="365407">
                <a:moveTo>
                  <a:pt x="0" y="0"/>
                </a:moveTo>
                <a:lnTo>
                  <a:pt x="365408" y="0"/>
                </a:lnTo>
                <a:lnTo>
                  <a:pt x="365408" y="365407"/>
                </a:lnTo>
                <a:lnTo>
                  <a:pt x="0" y="36540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6" id="6" descr="linkedin logo with a black background"/>
          <p:cNvSpPr/>
          <p:nvPr/>
        </p:nvSpPr>
        <p:spPr>
          <a:xfrm flipH="false" flipV="false" rot="0">
            <a:off x="7152364" y="5791740"/>
            <a:ext cx="351338" cy="358508"/>
          </a:xfrm>
          <a:custGeom>
            <a:avLst/>
            <a:gdLst/>
            <a:ahLst/>
            <a:cxnLst/>
            <a:rect r="r" b="b" t="t" l="l"/>
            <a:pathLst>
              <a:path h="358508" w="351338">
                <a:moveTo>
                  <a:pt x="0" y="0"/>
                </a:moveTo>
                <a:lnTo>
                  <a:pt x="351338" y="0"/>
                </a:lnTo>
                <a:lnTo>
                  <a:pt x="351338" y="358508"/>
                </a:lnTo>
                <a:lnTo>
                  <a:pt x="0" y="35850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7" id="7" descr="youtube logo on a black background"/>
          <p:cNvSpPr/>
          <p:nvPr/>
        </p:nvSpPr>
        <p:spPr>
          <a:xfrm flipH="false" flipV="false" rot="0">
            <a:off x="7152364" y="6466173"/>
            <a:ext cx="365407" cy="257324"/>
          </a:xfrm>
          <a:custGeom>
            <a:avLst/>
            <a:gdLst/>
            <a:ahLst/>
            <a:cxnLst/>
            <a:rect r="r" b="b" t="t" l="l"/>
            <a:pathLst>
              <a:path h="257324" w="365407">
                <a:moveTo>
                  <a:pt x="0" y="0"/>
                </a:moveTo>
                <a:lnTo>
                  <a:pt x="365408" y="0"/>
                </a:lnTo>
                <a:lnTo>
                  <a:pt x="365408" y="257324"/>
                </a:lnTo>
                <a:lnTo>
                  <a:pt x="0" y="25732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2701153" y="694594"/>
            <a:ext cx="4413669" cy="7588840"/>
            <a:chOff x="0" y="0"/>
            <a:chExt cx="3693160" cy="6350000"/>
          </a:xfrm>
        </p:grpSpPr>
        <p:sp>
          <p:nvSpPr>
            <p:cNvPr name="Freeform 9" id="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-283" y="-453"/>
              <a:ext cx="3693897" cy="6350907"/>
            </a:xfrm>
            <a:custGeom>
              <a:avLst/>
              <a:gdLst/>
              <a:ahLst/>
              <a:cxnLst/>
              <a:rect r="r" b="b" t="t" l="l"/>
              <a:pathLst>
                <a:path h="6350907" w="3693897">
                  <a:moveTo>
                    <a:pt x="3128293" y="3175453"/>
                  </a:moveTo>
                  <a:cubicBezTo>
                    <a:pt x="3862353" y="2468063"/>
                    <a:pt x="3882673" y="1298393"/>
                    <a:pt x="3175283" y="564333"/>
                  </a:cubicBezTo>
                  <a:cubicBezTo>
                    <a:pt x="2467893" y="-169727"/>
                    <a:pt x="1298223" y="-190047"/>
                    <a:pt x="564163" y="517343"/>
                  </a:cubicBezTo>
                  <a:cubicBezTo>
                    <a:pt x="-169897" y="1224733"/>
                    <a:pt x="-190217" y="2394403"/>
                    <a:pt x="518443" y="3128463"/>
                  </a:cubicBezTo>
                  <a:cubicBezTo>
                    <a:pt x="533683" y="3144973"/>
                    <a:pt x="548923" y="3160213"/>
                    <a:pt x="565433" y="3175453"/>
                  </a:cubicBezTo>
                  <a:cubicBezTo>
                    <a:pt x="-168627" y="3882843"/>
                    <a:pt x="-188947" y="5052513"/>
                    <a:pt x="518443" y="5786573"/>
                  </a:cubicBezTo>
                  <a:cubicBezTo>
                    <a:pt x="1225833" y="6520633"/>
                    <a:pt x="2395503" y="6540953"/>
                    <a:pt x="3129563" y="5833563"/>
                  </a:cubicBezTo>
                  <a:cubicBezTo>
                    <a:pt x="3863623" y="5126173"/>
                    <a:pt x="3883943" y="3956503"/>
                    <a:pt x="3176553" y="3222443"/>
                  </a:cubicBezTo>
                  <a:cubicBezTo>
                    <a:pt x="3160043" y="3205933"/>
                    <a:pt x="3144803" y="3190693"/>
                    <a:pt x="3128293" y="3175453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10" id="10" descr="an illustration of a person in a green dress holding a megaphone."/>
          <p:cNvSpPr/>
          <p:nvPr/>
        </p:nvSpPr>
        <p:spPr>
          <a:xfrm flipH="true" flipV="false" rot="0">
            <a:off x="12701153" y="564805"/>
            <a:ext cx="5008592" cy="8424238"/>
          </a:xfrm>
          <a:custGeom>
            <a:avLst/>
            <a:gdLst/>
            <a:ahLst/>
            <a:cxnLst/>
            <a:rect r="r" b="b" t="t" l="l"/>
            <a:pathLst>
              <a:path h="8424238" w="5008592">
                <a:moveTo>
                  <a:pt x="5008592" y="0"/>
                </a:moveTo>
                <a:lnTo>
                  <a:pt x="0" y="0"/>
                </a:lnTo>
                <a:lnTo>
                  <a:pt x="0" y="8424238"/>
                </a:lnTo>
                <a:lnTo>
                  <a:pt x="5008592" y="8424238"/>
                </a:lnTo>
                <a:lnTo>
                  <a:pt x="5008592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1" id="11" descr="twitter logo with a black background "/>
          <p:cNvSpPr/>
          <p:nvPr/>
        </p:nvSpPr>
        <p:spPr>
          <a:xfrm flipH="false" flipV="false" rot="0">
            <a:off x="7152364" y="5143500"/>
            <a:ext cx="365407" cy="365407"/>
          </a:xfrm>
          <a:custGeom>
            <a:avLst/>
            <a:gdLst/>
            <a:ahLst/>
            <a:cxnLst/>
            <a:rect r="r" b="b" t="t" l="l"/>
            <a:pathLst>
              <a:path h="365407" w="365407">
                <a:moveTo>
                  <a:pt x="0" y="0"/>
                </a:moveTo>
                <a:lnTo>
                  <a:pt x="365408" y="0"/>
                </a:lnTo>
                <a:lnTo>
                  <a:pt x="365408" y="365407"/>
                </a:lnTo>
                <a:lnTo>
                  <a:pt x="0" y="365407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12" id="12"/>
          <p:cNvSpPr txBox="true"/>
          <p:nvPr/>
        </p:nvSpPr>
        <p:spPr>
          <a:xfrm rot="0">
            <a:off x="7980817" y="3638115"/>
            <a:ext cx="3246822" cy="31860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7152364" y="2523269"/>
            <a:ext cx="4816574" cy="61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4" id="14"/>
          <p:cNvSpPr txBox="true"/>
          <p:nvPr/>
        </p:nvSpPr>
        <p:spPr>
          <a:xfrm rot="0">
            <a:off x="1028700" y="4107224"/>
            <a:ext cx="5237828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5" id="15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6" id="16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  <p:sp>
        <p:nvSpPr>
          <p:cNvPr name="TextBox 17" id="17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7737" y="924959"/>
            <a:ext cx="6604427" cy="6604427"/>
            <a:chOff x="0" y="0"/>
            <a:chExt cx="635000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6472785" y="914400"/>
            <a:ext cx="9316242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9920872" y="2910426"/>
            <a:ext cx="5868154" cy="51868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6" id="6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7" id="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Freeform 8" id="8" descr="an illustration of a person in a green dress and black boots"/>
          <p:cNvSpPr/>
          <p:nvPr/>
        </p:nvSpPr>
        <p:spPr>
          <a:xfrm flipH="true" flipV="false" rot="0">
            <a:off x="2674950" y="562872"/>
            <a:ext cx="4212902" cy="8364968"/>
          </a:xfrm>
          <a:custGeom>
            <a:avLst/>
            <a:gdLst/>
            <a:ahLst/>
            <a:cxnLst/>
            <a:rect r="r" b="b" t="t" l="l"/>
            <a:pathLst>
              <a:path h="8364968" w="4212902">
                <a:moveTo>
                  <a:pt x="4212902" y="0"/>
                </a:moveTo>
                <a:lnTo>
                  <a:pt x="0" y="0"/>
                </a:lnTo>
                <a:lnTo>
                  <a:pt x="0" y="8364968"/>
                </a:lnTo>
                <a:lnTo>
                  <a:pt x="4212902" y="8364968"/>
                </a:lnTo>
                <a:lnTo>
                  <a:pt x="421290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9" id="9"/>
          <p:cNvSpPr txBox="true"/>
          <p:nvPr/>
        </p:nvSpPr>
        <p:spPr>
          <a:xfrm rot="0">
            <a:off x="5829869" y="2910426"/>
            <a:ext cx="3604589" cy="61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2" id="12"/>
          <p:cNvSpPr txBox="true"/>
          <p:nvPr/>
        </p:nvSpPr>
        <p:spPr>
          <a:xfrm rot="0">
            <a:off x="17705483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647979" y="2277396"/>
            <a:ext cx="5488578" cy="7861040"/>
            <a:chOff x="0" y="0"/>
            <a:chExt cx="443357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2217420" y="0"/>
                  </a:moveTo>
                  <a:lnTo>
                    <a:pt x="2217420" y="0"/>
                  </a:lnTo>
                  <a:cubicBezTo>
                    <a:pt x="3441700" y="0"/>
                    <a:pt x="4433570" y="993140"/>
                    <a:pt x="4433570" y="2217420"/>
                  </a:cubicBez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217420"/>
                  </a:lnTo>
                  <a:cubicBezTo>
                    <a:pt x="0" y="993140"/>
                    <a:pt x="993140" y="0"/>
                    <a:pt x="2217420" y="0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6399711" y="2277396"/>
            <a:ext cx="5488578" cy="7861040"/>
            <a:chOff x="0" y="0"/>
            <a:chExt cx="4433570" cy="6350000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2217420" y="0"/>
                  </a:moveTo>
                  <a:lnTo>
                    <a:pt x="2217420" y="0"/>
                  </a:lnTo>
                  <a:cubicBezTo>
                    <a:pt x="3441700" y="0"/>
                    <a:pt x="4433570" y="993140"/>
                    <a:pt x="4433570" y="2217420"/>
                  </a:cubicBez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217420"/>
                  </a:lnTo>
                  <a:cubicBezTo>
                    <a:pt x="0" y="993140"/>
                    <a:pt x="993140" y="0"/>
                    <a:pt x="2217420" y="0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12151443" y="2277396"/>
            <a:ext cx="5488578" cy="7861040"/>
            <a:chOff x="0" y="0"/>
            <a:chExt cx="4433570" cy="6350000"/>
          </a:xfrm>
        </p:grpSpPr>
        <p:sp>
          <p:nvSpPr>
            <p:cNvPr name="Freeform 7" id="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2217420" y="0"/>
                  </a:moveTo>
                  <a:lnTo>
                    <a:pt x="2217420" y="0"/>
                  </a:lnTo>
                  <a:cubicBezTo>
                    <a:pt x="3441700" y="0"/>
                    <a:pt x="4433570" y="993140"/>
                    <a:pt x="4433570" y="2217420"/>
                  </a:cubicBez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217420"/>
                  </a:lnTo>
                  <a:cubicBezTo>
                    <a:pt x="0" y="993140"/>
                    <a:pt x="993140" y="0"/>
                    <a:pt x="2217420" y="0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9" id="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469582" y="3198887"/>
            <a:ext cx="2023376" cy="2019728"/>
            <a:chOff x="0" y="0"/>
            <a:chExt cx="2697835" cy="2692970"/>
          </a:xfrm>
        </p:grpSpPr>
        <p:grpSp>
          <p:nvGrpSpPr>
            <p:cNvPr name="Group 11" id="11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643318" y="511745"/>
              <a:ext cx="1411200" cy="1336791"/>
            </a:xfrm>
            <a:custGeom>
              <a:avLst/>
              <a:gdLst/>
              <a:ahLst/>
              <a:cxnLst/>
              <a:rect r="r" b="b" t="t" l="l"/>
              <a:pathLst>
                <a:path h="1336791" w="1411200">
                  <a:moveTo>
                    <a:pt x="0" y="0"/>
                  </a:moveTo>
                  <a:lnTo>
                    <a:pt x="1411200" y="0"/>
                  </a:lnTo>
                  <a:lnTo>
                    <a:pt x="1411200" y="1336791"/>
                  </a:lnTo>
                  <a:lnTo>
                    <a:pt x="0" y="13367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081832" y="5557907"/>
            <a:ext cx="4798877" cy="2465892"/>
            <a:chOff x="0" y="0"/>
            <a:chExt cx="6398503" cy="3287855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66675"/>
              <a:ext cx="6398503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000000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Likes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1330062"/>
              <a:ext cx="6398503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94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836233" y="5557907"/>
            <a:ext cx="4798877" cy="2465892"/>
            <a:chOff x="0" y="0"/>
            <a:chExt cx="6398503" cy="3287855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66675"/>
              <a:ext cx="6398503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000000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Engagements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1330062"/>
              <a:ext cx="6398503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2496293" y="5557907"/>
            <a:ext cx="4798877" cy="2465892"/>
            <a:chOff x="0" y="0"/>
            <a:chExt cx="6398503" cy="3287855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-66675"/>
              <a:ext cx="6398503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000000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Mentions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1330062"/>
              <a:ext cx="6398503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8132312" y="3198887"/>
            <a:ext cx="2023376" cy="2019728"/>
            <a:chOff x="0" y="0"/>
            <a:chExt cx="2697835" cy="2692970"/>
          </a:xfrm>
        </p:grpSpPr>
        <p:grpSp>
          <p:nvGrpSpPr>
            <p:cNvPr name="Group 24" id="24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26" id="26"/>
            <p:cNvSpPr/>
            <p:nvPr/>
          </p:nvSpPr>
          <p:spPr>
            <a:xfrm flipH="false" flipV="false" rot="0">
              <a:off x="865629" y="511745"/>
              <a:ext cx="1068177" cy="1518082"/>
            </a:xfrm>
            <a:custGeom>
              <a:avLst/>
              <a:gdLst/>
              <a:ahLst/>
              <a:cxnLst/>
              <a:rect r="r" b="b" t="t" l="l"/>
              <a:pathLst>
                <a:path h="1518082" w="1068177">
                  <a:moveTo>
                    <a:pt x="0" y="0"/>
                  </a:moveTo>
                  <a:lnTo>
                    <a:pt x="1068177" y="0"/>
                  </a:lnTo>
                  <a:lnTo>
                    <a:pt x="1068177" y="1518081"/>
                  </a:lnTo>
                  <a:lnTo>
                    <a:pt x="0" y="15180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3884044" y="3198887"/>
            <a:ext cx="2023376" cy="2019728"/>
            <a:chOff x="0" y="0"/>
            <a:chExt cx="2697835" cy="2692970"/>
          </a:xfrm>
        </p:grpSpPr>
        <p:grpSp>
          <p:nvGrpSpPr>
            <p:cNvPr name="Group 28" id="28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30" id="30"/>
            <p:cNvSpPr/>
            <p:nvPr/>
          </p:nvSpPr>
          <p:spPr>
            <a:xfrm flipH="false" flipV="false" rot="0">
              <a:off x="802481" y="700023"/>
              <a:ext cx="1321762" cy="1292924"/>
            </a:xfrm>
            <a:custGeom>
              <a:avLst/>
              <a:gdLst/>
              <a:ahLst/>
              <a:cxnLst/>
              <a:rect r="r" b="b" t="t" l="l"/>
              <a:pathLst>
                <a:path h="1292924" w="1321762">
                  <a:moveTo>
                    <a:pt x="0" y="0"/>
                  </a:moveTo>
                  <a:lnTo>
                    <a:pt x="1321762" y="0"/>
                  </a:lnTo>
                  <a:lnTo>
                    <a:pt x="1321762" y="1292924"/>
                  </a:lnTo>
                  <a:lnTo>
                    <a:pt x="0" y="12929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1" id="31"/>
          <p:cNvSpPr txBox="true"/>
          <p:nvPr/>
        </p:nvSpPr>
        <p:spPr>
          <a:xfrm rot="0">
            <a:off x="1028700" y="914400"/>
            <a:ext cx="9316242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32" id="32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33" id="33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34" id="34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327220" y="3302450"/>
            <a:ext cx="5214172" cy="4080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3" id="3"/>
          <p:cNvSpPr txBox="true"/>
          <p:nvPr/>
        </p:nvSpPr>
        <p:spPr>
          <a:xfrm rot="0">
            <a:off x="3094070" y="3302450"/>
            <a:ext cx="5214172" cy="40806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4" id="4"/>
          <p:cNvGrpSpPr/>
          <p:nvPr/>
        </p:nvGrpSpPr>
        <p:grpSpPr>
          <a:xfrm rot="-5400000">
            <a:off x="6154250" y="4742236"/>
            <a:ext cx="6117395" cy="137895"/>
            <a:chOff x="0" y="0"/>
            <a:chExt cx="25353205" cy="571500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255270"/>
              <a:ext cx="25353204" cy="69850"/>
            </a:xfrm>
            <a:custGeom>
              <a:avLst/>
              <a:gdLst/>
              <a:ahLst/>
              <a:cxnLst/>
              <a:rect r="r" b="b" t="t" l="l"/>
              <a:pathLst>
                <a:path h="69850" w="25353204">
                  <a:moveTo>
                    <a:pt x="25062374" y="0"/>
                  </a:moveTo>
                  <a:lnTo>
                    <a:pt x="0" y="0"/>
                  </a:lnTo>
                  <a:lnTo>
                    <a:pt x="0" y="69850"/>
                  </a:lnTo>
                  <a:lnTo>
                    <a:pt x="25353204" y="69850"/>
                  </a:lnTo>
                  <a:lnTo>
                    <a:pt x="25353204" y="0"/>
                  </a:lnTo>
                  <a:close/>
                </a:path>
              </a:pathLst>
            </a:custGeom>
            <a:solidFill>
              <a:srgbClr val="F5F5EF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3094070" y="1622933"/>
            <a:ext cx="5214172" cy="8210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0327220" y="1622933"/>
            <a:ext cx="5214172" cy="8210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1028700" y="423033"/>
            <a:ext cx="8008958" cy="8008958"/>
            <a:chOff x="0" y="0"/>
            <a:chExt cx="6350000" cy="6350000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1567180"/>
                  </a:moveTo>
                  <a:lnTo>
                    <a:pt x="3677920" y="0"/>
                  </a:lnTo>
                  <a:lnTo>
                    <a:pt x="3671570" y="1645920"/>
                  </a:lnTo>
                  <a:lnTo>
                    <a:pt x="4634230" y="309880"/>
                  </a:lnTo>
                  <a:lnTo>
                    <a:pt x="4119880" y="1873250"/>
                  </a:lnTo>
                  <a:lnTo>
                    <a:pt x="5448300" y="901700"/>
                  </a:lnTo>
                  <a:lnTo>
                    <a:pt x="4475480" y="2230120"/>
                  </a:lnTo>
                  <a:lnTo>
                    <a:pt x="6038850" y="1715770"/>
                  </a:lnTo>
                  <a:lnTo>
                    <a:pt x="4702810" y="2678430"/>
                  </a:lnTo>
                  <a:lnTo>
                    <a:pt x="6348730" y="2672080"/>
                  </a:lnTo>
                  <a:lnTo>
                    <a:pt x="4782820" y="3175000"/>
                  </a:lnTo>
                  <a:lnTo>
                    <a:pt x="6350000" y="3677920"/>
                  </a:lnTo>
                  <a:lnTo>
                    <a:pt x="4704080" y="3671570"/>
                  </a:lnTo>
                  <a:lnTo>
                    <a:pt x="6040120" y="4634230"/>
                  </a:lnTo>
                  <a:lnTo>
                    <a:pt x="4476750" y="4119880"/>
                  </a:lnTo>
                  <a:lnTo>
                    <a:pt x="5448300" y="5448300"/>
                  </a:lnTo>
                  <a:lnTo>
                    <a:pt x="4119880" y="4475480"/>
                  </a:lnTo>
                  <a:lnTo>
                    <a:pt x="4634230" y="6038850"/>
                  </a:lnTo>
                  <a:lnTo>
                    <a:pt x="3671570" y="4702810"/>
                  </a:lnTo>
                  <a:lnTo>
                    <a:pt x="3677920" y="6348730"/>
                  </a:lnTo>
                  <a:lnTo>
                    <a:pt x="3175000" y="4782820"/>
                  </a:lnTo>
                  <a:lnTo>
                    <a:pt x="2672080" y="6350000"/>
                  </a:lnTo>
                  <a:lnTo>
                    <a:pt x="2678430" y="4704080"/>
                  </a:lnTo>
                  <a:lnTo>
                    <a:pt x="1715770" y="6040120"/>
                  </a:lnTo>
                  <a:lnTo>
                    <a:pt x="2230120" y="4476750"/>
                  </a:lnTo>
                  <a:lnTo>
                    <a:pt x="901700" y="5448300"/>
                  </a:lnTo>
                  <a:lnTo>
                    <a:pt x="1874520" y="4119880"/>
                  </a:lnTo>
                  <a:lnTo>
                    <a:pt x="311150" y="4634230"/>
                  </a:lnTo>
                  <a:lnTo>
                    <a:pt x="1647190" y="3671570"/>
                  </a:lnTo>
                  <a:lnTo>
                    <a:pt x="0" y="3677920"/>
                  </a:lnTo>
                  <a:lnTo>
                    <a:pt x="1567180" y="3175000"/>
                  </a:lnTo>
                  <a:lnTo>
                    <a:pt x="0" y="2672080"/>
                  </a:lnTo>
                  <a:lnTo>
                    <a:pt x="1645920" y="2678430"/>
                  </a:lnTo>
                  <a:lnTo>
                    <a:pt x="311150" y="1715770"/>
                  </a:lnTo>
                  <a:lnTo>
                    <a:pt x="1874520" y="2230120"/>
                  </a:lnTo>
                  <a:lnTo>
                    <a:pt x="901700" y="901700"/>
                  </a:lnTo>
                  <a:lnTo>
                    <a:pt x="2230120" y="1874520"/>
                  </a:lnTo>
                  <a:lnTo>
                    <a:pt x="1715770" y="311150"/>
                  </a:lnTo>
                  <a:lnTo>
                    <a:pt x="2678430" y="1647190"/>
                  </a:lnTo>
                  <a:lnTo>
                    <a:pt x="2672080" y="0"/>
                  </a:lnTo>
                  <a:lnTo>
                    <a:pt x="3175000" y="1567180"/>
                  </a:ln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6" id="6" descr="an illustration of a person holding a board with a graph on it"/>
          <p:cNvSpPr/>
          <p:nvPr/>
        </p:nvSpPr>
        <p:spPr>
          <a:xfrm flipH="false" flipV="false" rot="0">
            <a:off x="470858" y="1508666"/>
            <a:ext cx="7607709" cy="7400226"/>
          </a:xfrm>
          <a:custGeom>
            <a:avLst/>
            <a:gdLst/>
            <a:ahLst/>
            <a:cxnLst/>
            <a:rect r="r" b="b" t="t" l="l"/>
            <a:pathLst>
              <a:path h="7400226" w="7607709">
                <a:moveTo>
                  <a:pt x="0" y="0"/>
                </a:moveTo>
                <a:lnTo>
                  <a:pt x="7607709" y="0"/>
                </a:lnTo>
                <a:lnTo>
                  <a:pt x="7607709" y="7400226"/>
                </a:lnTo>
                <a:lnTo>
                  <a:pt x="0" y="740022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10103037" y="1236262"/>
            <a:ext cx="6113723" cy="4503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0103037" y="1156346"/>
            <a:ext cx="6057416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9" id="9"/>
          <p:cNvGrpSpPr/>
          <p:nvPr/>
        </p:nvGrpSpPr>
        <p:grpSpPr>
          <a:xfrm rot="0">
            <a:off x="10187497" y="5703562"/>
            <a:ext cx="6001109" cy="2281281"/>
            <a:chOff x="0" y="0"/>
            <a:chExt cx="8001479" cy="304170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-66675"/>
              <a:ext cx="8001479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3600" b="tru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Overall increase in engagement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83915"/>
              <a:ext cx="6665135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4" id="14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2366940"/>
            <a:ext cx="18288000" cy="8476870"/>
            <a:chOff x="0" y="0"/>
            <a:chExt cx="1369949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3699489" cy="6350000"/>
            </a:xfrm>
            <a:custGeom>
              <a:avLst/>
              <a:gdLst/>
              <a:ahLst/>
              <a:cxnLst/>
              <a:rect r="r" b="b" t="t" l="l"/>
              <a:pathLst>
                <a:path h="6350000" w="13699489">
                  <a:moveTo>
                    <a:pt x="13699489" y="6350000"/>
                  </a:moveTo>
                  <a:lnTo>
                    <a:pt x="0" y="6350000"/>
                  </a:lnTo>
                  <a:lnTo>
                    <a:pt x="0" y="1899920"/>
                  </a:lnTo>
                  <a:cubicBezTo>
                    <a:pt x="0" y="1899920"/>
                    <a:pt x="2849880" y="0"/>
                    <a:pt x="6899910" y="0"/>
                  </a:cubicBezTo>
                  <a:cubicBezTo>
                    <a:pt x="11300460" y="0"/>
                    <a:pt x="13699489" y="1899920"/>
                    <a:pt x="13699489" y="1899920"/>
                  </a:cubicBezTo>
                  <a:lnTo>
                    <a:pt x="13699489" y="635000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5808562" y="914400"/>
            <a:ext cx="6670876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2498099" y="2465011"/>
            <a:ext cx="3604589" cy="61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7341706" y="2465011"/>
            <a:ext cx="3604589" cy="61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7" id="7"/>
          <p:cNvSpPr txBox="true"/>
          <p:nvPr/>
        </p:nvSpPr>
        <p:spPr>
          <a:xfrm rot="0">
            <a:off x="12410247" y="2465011"/>
            <a:ext cx="3604589" cy="6133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8" id="8"/>
          <p:cNvGrpSpPr/>
          <p:nvPr/>
        </p:nvGrpSpPr>
        <p:grpSpPr>
          <a:xfrm rot="0">
            <a:off x="1952090" y="3356398"/>
            <a:ext cx="4696607" cy="5436000"/>
            <a:chOff x="0" y="0"/>
            <a:chExt cx="6262143" cy="7248000"/>
          </a:xfrm>
        </p:grpSpPr>
        <p:grpSp>
          <p:nvGrpSpPr>
            <p:cNvPr name="Group 9" id="9"/>
            <p:cNvGrpSpPr/>
            <p:nvPr/>
          </p:nvGrpSpPr>
          <p:grpSpPr>
            <a:xfrm rot="0">
              <a:off x="0" y="0"/>
              <a:ext cx="6262143" cy="7248000"/>
              <a:chOff x="0" y="0"/>
              <a:chExt cx="967129" cy="1119385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967129" cy="1119385"/>
              </a:xfrm>
              <a:custGeom>
                <a:avLst/>
                <a:gdLst/>
                <a:ahLst/>
                <a:cxnLst/>
                <a:rect r="r" b="b" t="t" l="l"/>
                <a:pathLst>
                  <a:path h="1119385" w="967129">
                    <a:moveTo>
                      <a:pt x="842669" y="1119385"/>
                    </a:moveTo>
                    <a:lnTo>
                      <a:pt x="124460" y="1119385"/>
                    </a:lnTo>
                    <a:cubicBezTo>
                      <a:pt x="55880" y="1119385"/>
                      <a:pt x="0" y="1063505"/>
                      <a:pt x="0" y="99492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842669" y="0"/>
                    </a:lnTo>
                    <a:cubicBezTo>
                      <a:pt x="911249" y="0"/>
                      <a:pt x="967129" y="55880"/>
                      <a:pt x="967129" y="124460"/>
                    </a:cubicBezTo>
                    <a:lnTo>
                      <a:pt x="967129" y="994925"/>
                    </a:lnTo>
                    <a:cubicBezTo>
                      <a:pt x="967129" y="1063505"/>
                      <a:pt x="911249" y="1119385"/>
                      <a:pt x="842669" y="111938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Freeform 11" id="11"/>
            <p:cNvSpPr/>
            <p:nvPr/>
          </p:nvSpPr>
          <p:spPr>
            <a:xfrm flipH="false" flipV="false" rot="0">
              <a:off x="2920625" y="2231858"/>
              <a:ext cx="420893" cy="332123"/>
            </a:xfrm>
            <a:custGeom>
              <a:avLst/>
              <a:gdLst/>
              <a:ahLst/>
              <a:cxnLst/>
              <a:rect r="r" b="b" t="t" l="l"/>
              <a:pathLst>
                <a:path h="332123" w="420893">
                  <a:moveTo>
                    <a:pt x="0" y="0"/>
                  </a:moveTo>
                  <a:lnTo>
                    <a:pt x="420893" y="0"/>
                  </a:lnTo>
                  <a:lnTo>
                    <a:pt x="420893" y="332123"/>
                  </a:lnTo>
                  <a:lnTo>
                    <a:pt x="0" y="332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549499" y="946471"/>
              <a:ext cx="5163145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Informational Tweet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581432" y="2931205"/>
              <a:ext cx="5099280" cy="316013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95837" y="3356398"/>
            <a:ext cx="4696607" cy="5436000"/>
            <a:chOff x="0" y="0"/>
            <a:chExt cx="6262143" cy="7248000"/>
          </a:xfrm>
        </p:grpSpPr>
        <p:grpSp>
          <p:nvGrpSpPr>
            <p:cNvPr name="Group 15" id="15"/>
            <p:cNvGrpSpPr/>
            <p:nvPr/>
          </p:nvGrpSpPr>
          <p:grpSpPr>
            <a:xfrm rot="0">
              <a:off x="0" y="0"/>
              <a:ext cx="6262143" cy="7248000"/>
              <a:chOff x="0" y="0"/>
              <a:chExt cx="967129" cy="1119385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967129" cy="1119385"/>
              </a:xfrm>
              <a:custGeom>
                <a:avLst/>
                <a:gdLst/>
                <a:ahLst/>
                <a:cxnLst/>
                <a:rect r="r" b="b" t="t" l="l"/>
                <a:pathLst>
                  <a:path h="1119385" w="967129">
                    <a:moveTo>
                      <a:pt x="842669" y="1119385"/>
                    </a:moveTo>
                    <a:lnTo>
                      <a:pt x="124460" y="1119385"/>
                    </a:lnTo>
                    <a:cubicBezTo>
                      <a:pt x="55880" y="1119385"/>
                      <a:pt x="0" y="1063505"/>
                      <a:pt x="0" y="99492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842669" y="0"/>
                    </a:lnTo>
                    <a:cubicBezTo>
                      <a:pt x="911249" y="0"/>
                      <a:pt x="967129" y="55880"/>
                      <a:pt x="967129" y="124460"/>
                    </a:cubicBezTo>
                    <a:lnTo>
                      <a:pt x="967129" y="994925"/>
                    </a:lnTo>
                    <a:cubicBezTo>
                      <a:pt x="967129" y="1063505"/>
                      <a:pt x="911249" y="1119385"/>
                      <a:pt x="842669" y="111938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2920625" y="2231858"/>
              <a:ext cx="420893" cy="332123"/>
            </a:xfrm>
            <a:custGeom>
              <a:avLst/>
              <a:gdLst/>
              <a:ahLst/>
              <a:cxnLst/>
              <a:rect r="r" b="b" t="t" l="l"/>
              <a:pathLst>
                <a:path h="332123" w="420893">
                  <a:moveTo>
                    <a:pt x="0" y="0"/>
                  </a:moveTo>
                  <a:lnTo>
                    <a:pt x="420893" y="0"/>
                  </a:lnTo>
                  <a:lnTo>
                    <a:pt x="420893" y="332123"/>
                  </a:lnTo>
                  <a:lnTo>
                    <a:pt x="0" y="332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581432" y="946471"/>
              <a:ext cx="5099280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Campaign Tweet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581432" y="2931205"/>
              <a:ext cx="5099280" cy="316013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1864238" y="3356398"/>
            <a:ext cx="4696607" cy="5436000"/>
            <a:chOff x="0" y="0"/>
            <a:chExt cx="6262143" cy="7248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6262143" cy="7248000"/>
              <a:chOff x="0" y="0"/>
              <a:chExt cx="967129" cy="1119385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967129" cy="1119385"/>
              </a:xfrm>
              <a:custGeom>
                <a:avLst/>
                <a:gdLst/>
                <a:ahLst/>
                <a:cxnLst/>
                <a:rect r="r" b="b" t="t" l="l"/>
                <a:pathLst>
                  <a:path h="1119385" w="967129">
                    <a:moveTo>
                      <a:pt x="842669" y="1119385"/>
                    </a:moveTo>
                    <a:lnTo>
                      <a:pt x="124460" y="1119385"/>
                    </a:lnTo>
                    <a:cubicBezTo>
                      <a:pt x="55880" y="1119385"/>
                      <a:pt x="0" y="1063505"/>
                      <a:pt x="0" y="99492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842669" y="0"/>
                    </a:lnTo>
                    <a:cubicBezTo>
                      <a:pt x="911249" y="0"/>
                      <a:pt x="967129" y="55880"/>
                      <a:pt x="967129" y="124460"/>
                    </a:cubicBezTo>
                    <a:lnTo>
                      <a:pt x="967129" y="994925"/>
                    </a:lnTo>
                    <a:cubicBezTo>
                      <a:pt x="967129" y="1063505"/>
                      <a:pt x="911249" y="1119385"/>
                      <a:pt x="842669" y="111938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Freeform 23" id="23"/>
            <p:cNvSpPr/>
            <p:nvPr/>
          </p:nvSpPr>
          <p:spPr>
            <a:xfrm flipH="false" flipV="false" rot="0">
              <a:off x="2920625" y="2231858"/>
              <a:ext cx="420893" cy="332123"/>
            </a:xfrm>
            <a:custGeom>
              <a:avLst/>
              <a:gdLst/>
              <a:ahLst/>
              <a:cxnLst/>
              <a:rect r="r" b="b" t="t" l="l"/>
              <a:pathLst>
                <a:path h="332123" w="420893">
                  <a:moveTo>
                    <a:pt x="0" y="0"/>
                  </a:moveTo>
                  <a:lnTo>
                    <a:pt x="420893" y="0"/>
                  </a:lnTo>
                  <a:lnTo>
                    <a:pt x="420893" y="332123"/>
                  </a:lnTo>
                  <a:lnTo>
                    <a:pt x="0" y="3321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581432" y="946471"/>
              <a:ext cx="5099280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Engagement Tweet</a:t>
              </a:r>
            </a:p>
          </p:txBody>
        </p:sp>
        <p:sp>
          <p:nvSpPr>
            <p:cNvPr name="TextBox 25" id="25"/>
            <p:cNvSpPr txBox="true"/>
            <p:nvPr/>
          </p:nvSpPr>
          <p:spPr>
            <a:xfrm rot="0">
              <a:off x="581432" y="2931205"/>
              <a:ext cx="5099280" cy="316013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15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7" id="27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8" id="28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914400"/>
            <a:ext cx="8017911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5" id="5"/>
          <p:cNvGrpSpPr/>
          <p:nvPr/>
        </p:nvGrpSpPr>
        <p:grpSpPr>
          <a:xfrm rot="0">
            <a:off x="1028700" y="3876027"/>
            <a:ext cx="6001109" cy="2949796"/>
            <a:chOff x="0" y="0"/>
            <a:chExt cx="8001479" cy="3933061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0"/>
              <a:ext cx="8001479" cy="144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Distribution per</a:t>
              </a:r>
            </a:p>
            <a:p>
              <a:pPr algn="l">
                <a:lnSpc>
                  <a:spcPts val="4320"/>
                </a:lnSpc>
              </a:pPr>
              <a:r>
                <a:rPr lang="en-US" sz="3600" b="tru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social media channel</a:t>
              </a: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975268"/>
              <a:ext cx="6497476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Paragraph that explains the data sources, outlines what the chart illustrates, and provides guidance on interpreting the visualizations to inform decision-making.</a:t>
              </a:r>
            </a:p>
          </p:txBody>
        </p:sp>
      </p:grpSp>
      <p:sp>
        <p:nvSpPr>
          <p:cNvPr name="TextBox 9" id="9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1" id="11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2239597"/>
            <a:ext cx="8115300" cy="442741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Freeform 3" id="3" descr="two green quotation marks"/>
          <p:cNvSpPr/>
          <p:nvPr/>
        </p:nvSpPr>
        <p:spPr>
          <a:xfrm flipH="false" flipV="false" rot="0">
            <a:off x="1028700" y="1362663"/>
            <a:ext cx="489665" cy="386390"/>
          </a:xfrm>
          <a:custGeom>
            <a:avLst/>
            <a:gdLst/>
            <a:ahLst/>
            <a:cxnLst/>
            <a:rect r="r" b="b" t="t" l="l"/>
            <a:pathLst>
              <a:path h="386390" w="489665">
                <a:moveTo>
                  <a:pt x="0" y="0"/>
                </a:moveTo>
                <a:lnTo>
                  <a:pt x="489665" y="0"/>
                </a:lnTo>
                <a:lnTo>
                  <a:pt x="489665" y="386390"/>
                </a:lnTo>
                <a:lnTo>
                  <a:pt x="0" y="3863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4" id="4" descr="two green speech marks"/>
          <p:cNvSpPr/>
          <p:nvPr/>
        </p:nvSpPr>
        <p:spPr>
          <a:xfrm flipH="false" flipV="false" rot="0">
            <a:off x="1028700" y="1362663"/>
            <a:ext cx="489665" cy="386390"/>
          </a:xfrm>
          <a:custGeom>
            <a:avLst/>
            <a:gdLst/>
            <a:ahLst/>
            <a:cxnLst/>
            <a:rect r="r" b="b" t="t" l="l"/>
            <a:pathLst>
              <a:path h="386390" w="489665">
                <a:moveTo>
                  <a:pt x="0" y="0"/>
                </a:moveTo>
                <a:lnTo>
                  <a:pt x="489665" y="0"/>
                </a:lnTo>
                <a:lnTo>
                  <a:pt x="489665" y="386390"/>
                </a:lnTo>
                <a:lnTo>
                  <a:pt x="0" y="38639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5" id="5"/>
          <p:cNvGrpSpPr>
            <a:grpSpLocks noChangeAspect="true"/>
          </p:cNvGrpSpPr>
          <p:nvPr/>
        </p:nvGrpSpPr>
        <p:grpSpPr>
          <a:xfrm rot="0">
            <a:off x="9152564" y="480249"/>
            <a:ext cx="8746732" cy="8746732"/>
            <a:chOff x="0" y="0"/>
            <a:chExt cx="5407660" cy="5407660"/>
          </a:xfrm>
        </p:grpSpPr>
        <p:sp>
          <p:nvSpPr>
            <p:cNvPr name="Freeform 6" id="6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5406390" cy="5406391"/>
            </a:xfrm>
            <a:custGeom>
              <a:avLst/>
              <a:gdLst/>
              <a:ahLst/>
              <a:cxnLst/>
              <a:rect r="r" b="b" t="t" l="l"/>
              <a:pathLst>
                <a:path h="5406391" w="5406390">
                  <a:moveTo>
                    <a:pt x="2703830" y="0"/>
                  </a:moveTo>
                  <a:lnTo>
                    <a:pt x="2815590" y="2001520"/>
                  </a:lnTo>
                  <a:lnTo>
                    <a:pt x="3539490" y="132080"/>
                  </a:lnTo>
                  <a:lnTo>
                    <a:pt x="3026410" y="2070100"/>
                  </a:lnTo>
                  <a:lnTo>
                    <a:pt x="4292600" y="516890"/>
                  </a:lnTo>
                  <a:lnTo>
                    <a:pt x="3205480" y="2202180"/>
                  </a:lnTo>
                  <a:lnTo>
                    <a:pt x="4890770" y="1115060"/>
                  </a:lnTo>
                  <a:lnTo>
                    <a:pt x="3336290" y="2381250"/>
                  </a:lnTo>
                  <a:lnTo>
                    <a:pt x="5274310" y="1868170"/>
                  </a:lnTo>
                  <a:lnTo>
                    <a:pt x="3404870" y="2592070"/>
                  </a:lnTo>
                  <a:lnTo>
                    <a:pt x="5406390" y="2703830"/>
                  </a:lnTo>
                  <a:lnTo>
                    <a:pt x="3404870" y="2815590"/>
                  </a:lnTo>
                  <a:lnTo>
                    <a:pt x="5274310" y="3539490"/>
                  </a:lnTo>
                  <a:lnTo>
                    <a:pt x="3336290" y="3026410"/>
                  </a:lnTo>
                  <a:lnTo>
                    <a:pt x="4890770" y="4292600"/>
                  </a:lnTo>
                  <a:lnTo>
                    <a:pt x="3205480" y="3205480"/>
                  </a:lnTo>
                  <a:lnTo>
                    <a:pt x="4292600" y="4890770"/>
                  </a:lnTo>
                  <a:lnTo>
                    <a:pt x="3026410" y="3336290"/>
                  </a:lnTo>
                  <a:lnTo>
                    <a:pt x="3539490" y="5274310"/>
                  </a:lnTo>
                  <a:lnTo>
                    <a:pt x="2815590" y="3404870"/>
                  </a:lnTo>
                  <a:lnTo>
                    <a:pt x="2703830" y="5406391"/>
                  </a:lnTo>
                  <a:lnTo>
                    <a:pt x="2592070" y="3404870"/>
                  </a:lnTo>
                  <a:lnTo>
                    <a:pt x="1868170" y="5274311"/>
                  </a:lnTo>
                  <a:lnTo>
                    <a:pt x="2381250" y="3336291"/>
                  </a:lnTo>
                  <a:lnTo>
                    <a:pt x="1115060" y="4890770"/>
                  </a:lnTo>
                  <a:lnTo>
                    <a:pt x="2202180" y="3205480"/>
                  </a:lnTo>
                  <a:lnTo>
                    <a:pt x="516890" y="4292600"/>
                  </a:lnTo>
                  <a:lnTo>
                    <a:pt x="2070100" y="3026410"/>
                  </a:lnTo>
                  <a:lnTo>
                    <a:pt x="132080" y="3539490"/>
                  </a:lnTo>
                  <a:lnTo>
                    <a:pt x="2001520" y="2815590"/>
                  </a:lnTo>
                  <a:lnTo>
                    <a:pt x="0" y="2703830"/>
                  </a:lnTo>
                  <a:lnTo>
                    <a:pt x="2001520" y="2592070"/>
                  </a:lnTo>
                  <a:lnTo>
                    <a:pt x="132080" y="1868170"/>
                  </a:lnTo>
                  <a:lnTo>
                    <a:pt x="2070100" y="2381250"/>
                  </a:lnTo>
                  <a:lnTo>
                    <a:pt x="516890" y="1115060"/>
                  </a:lnTo>
                  <a:lnTo>
                    <a:pt x="2202180" y="2202180"/>
                  </a:lnTo>
                  <a:lnTo>
                    <a:pt x="1115060" y="516890"/>
                  </a:lnTo>
                  <a:lnTo>
                    <a:pt x="2381250" y="2070100"/>
                  </a:lnTo>
                  <a:lnTo>
                    <a:pt x="1868170" y="132080"/>
                  </a:lnTo>
                  <a:lnTo>
                    <a:pt x="2592070" y="2001520"/>
                  </a:lnTo>
                  <a:lnTo>
                    <a:pt x="2703830" y="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7" id="7" descr="illustration of people talking to each other"/>
          <p:cNvSpPr/>
          <p:nvPr/>
        </p:nvSpPr>
        <p:spPr>
          <a:xfrm flipH="false" flipV="false" rot="0">
            <a:off x="10497372" y="1148867"/>
            <a:ext cx="6282730" cy="7817877"/>
          </a:xfrm>
          <a:custGeom>
            <a:avLst/>
            <a:gdLst/>
            <a:ahLst/>
            <a:cxnLst/>
            <a:rect r="r" b="b" t="t" l="l"/>
            <a:pathLst>
              <a:path h="7817877" w="6282730">
                <a:moveTo>
                  <a:pt x="0" y="0"/>
                </a:moveTo>
                <a:lnTo>
                  <a:pt x="6282730" y="0"/>
                </a:lnTo>
                <a:lnTo>
                  <a:pt x="6282730" y="7817877"/>
                </a:lnTo>
                <a:lnTo>
                  <a:pt x="0" y="781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8" id="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7709745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898876" y="2531124"/>
            <a:ext cx="9853448" cy="9895007"/>
            <a:chOff x="0" y="0"/>
            <a:chExt cx="632333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2333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23330">
                  <a:moveTo>
                    <a:pt x="6320790" y="2887980"/>
                  </a:moveTo>
                  <a:lnTo>
                    <a:pt x="6320790" y="1596390"/>
                  </a:lnTo>
                  <a:cubicBezTo>
                    <a:pt x="6320790" y="715010"/>
                    <a:pt x="5605780" y="0"/>
                    <a:pt x="4724400" y="0"/>
                  </a:cubicBezTo>
                  <a:lnTo>
                    <a:pt x="4724400" y="0"/>
                  </a:lnTo>
                  <a:cubicBezTo>
                    <a:pt x="3967480" y="0"/>
                    <a:pt x="3314700" y="530860"/>
                    <a:pt x="3161030" y="1271270"/>
                  </a:cubicBezTo>
                  <a:cubicBezTo>
                    <a:pt x="3006090" y="530860"/>
                    <a:pt x="2353310" y="0"/>
                    <a:pt x="1596390" y="0"/>
                  </a:cubicBezTo>
                  <a:lnTo>
                    <a:pt x="1596390" y="0"/>
                  </a:lnTo>
                  <a:cubicBezTo>
                    <a:pt x="715010" y="0"/>
                    <a:pt x="0" y="715010"/>
                    <a:pt x="0" y="1596390"/>
                  </a:cubicBezTo>
                  <a:lnTo>
                    <a:pt x="0" y="3462020"/>
                  </a:lnTo>
                  <a:lnTo>
                    <a:pt x="2540" y="3462020"/>
                  </a:lnTo>
                  <a:lnTo>
                    <a:pt x="2540" y="4752340"/>
                  </a:lnTo>
                  <a:cubicBezTo>
                    <a:pt x="2540" y="5634990"/>
                    <a:pt x="717550" y="6350000"/>
                    <a:pt x="1598930" y="6350000"/>
                  </a:cubicBezTo>
                  <a:lnTo>
                    <a:pt x="1598930" y="6350000"/>
                  </a:lnTo>
                  <a:cubicBezTo>
                    <a:pt x="2354580" y="6350000"/>
                    <a:pt x="3007360" y="5819140"/>
                    <a:pt x="3162300" y="5078730"/>
                  </a:cubicBezTo>
                  <a:cubicBezTo>
                    <a:pt x="3317240" y="5819140"/>
                    <a:pt x="3970020" y="6350000"/>
                    <a:pt x="4726940" y="6350000"/>
                  </a:cubicBezTo>
                  <a:lnTo>
                    <a:pt x="4726940" y="6350000"/>
                  </a:lnTo>
                  <a:cubicBezTo>
                    <a:pt x="5608320" y="6350000"/>
                    <a:pt x="6323330" y="5634990"/>
                    <a:pt x="6323330" y="4753610"/>
                  </a:cubicBezTo>
                  <a:lnTo>
                    <a:pt x="6323330" y="2887980"/>
                  </a:lnTo>
                  <a:lnTo>
                    <a:pt x="6320790" y="2887980"/>
                  </a:ln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Freeform 6" id="6" descr="an illustration of a person sitting on the floor with a laptop in front of them"/>
          <p:cNvSpPr/>
          <p:nvPr/>
        </p:nvSpPr>
        <p:spPr>
          <a:xfrm flipH="false" flipV="false" rot="0">
            <a:off x="2284743" y="2344458"/>
            <a:ext cx="11888848" cy="6592907"/>
          </a:xfrm>
          <a:custGeom>
            <a:avLst/>
            <a:gdLst/>
            <a:ahLst/>
            <a:cxnLst/>
            <a:rect r="r" b="b" t="t" l="l"/>
            <a:pathLst>
              <a:path h="6592907" w="11888848">
                <a:moveTo>
                  <a:pt x="0" y="0"/>
                </a:moveTo>
                <a:lnTo>
                  <a:pt x="11888848" y="0"/>
                </a:lnTo>
                <a:lnTo>
                  <a:pt x="11888848" y="6592907"/>
                </a:lnTo>
                <a:lnTo>
                  <a:pt x="0" y="659290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TextBox 7" id="7"/>
          <p:cNvSpPr txBox="true"/>
          <p:nvPr/>
        </p:nvSpPr>
        <p:spPr>
          <a:xfrm rot="0">
            <a:off x="5204790" y="914400"/>
            <a:ext cx="7878419" cy="108523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8" id="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2478302"/>
            <a:ext cx="18288000" cy="8476870"/>
            <a:chOff x="0" y="0"/>
            <a:chExt cx="1369949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3699489" cy="6350000"/>
            </a:xfrm>
            <a:custGeom>
              <a:avLst/>
              <a:gdLst/>
              <a:ahLst/>
              <a:cxnLst/>
              <a:rect r="r" b="b" t="t" l="l"/>
              <a:pathLst>
                <a:path h="6350000" w="13699489">
                  <a:moveTo>
                    <a:pt x="13699489" y="6350000"/>
                  </a:moveTo>
                  <a:lnTo>
                    <a:pt x="0" y="6350000"/>
                  </a:lnTo>
                  <a:lnTo>
                    <a:pt x="0" y="1899920"/>
                  </a:lnTo>
                  <a:cubicBezTo>
                    <a:pt x="0" y="1899920"/>
                    <a:pt x="2849880" y="0"/>
                    <a:pt x="6899910" y="0"/>
                  </a:cubicBezTo>
                  <a:cubicBezTo>
                    <a:pt x="11300460" y="0"/>
                    <a:pt x="13699489" y="1899920"/>
                    <a:pt x="13699489" y="1899920"/>
                  </a:cubicBezTo>
                  <a:lnTo>
                    <a:pt x="13699489" y="635000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TextBox 4" id="4"/>
          <p:cNvSpPr txBox="true"/>
          <p:nvPr/>
        </p:nvSpPr>
        <p:spPr>
          <a:xfrm rot="0">
            <a:off x="1028700" y="1028700"/>
            <a:ext cx="10317313" cy="972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5" id="5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6" id="6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7" id="7"/>
          <p:cNvGrpSpPr/>
          <p:nvPr/>
        </p:nvGrpSpPr>
        <p:grpSpPr>
          <a:xfrm rot="0">
            <a:off x="1028700" y="3057417"/>
            <a:ext cx="3657592" cy="5654237"/>
            <a:chOff x="0" y="0"/>
            <a:chExt cx="4876789" cy="7538982"/>
          </a:xfrm>
        </p:grpSpPr>
        <p:grpSp>
          <p:nvGrpSpPr>
            <p:cNvPr name="Group 8" id="8"/>
            <p:cNvGrpSpPr/>
            <p:nvPr/>
          </p:nvGrpSpPr>
          <p:grpSpPr>
            <a:xfrm rot="0">
              <a:off x="0" y="0"/>
              <a:ext cx="4876789" cy="7538982"/>
              <a:chOff x="0" y="0"/>
              <a:chExt cx="753174" cy="1164325"/>
            </a:xfrm>
          </p:grpSpPr>
          <p:sp>
            <p:nvSpPr>
              <p:cNvPr name="Freeform 9" id="9"/>
              <p:cNvSpPr/>
              <p:nvPr/>
            </p:nvSpPr>
            <p:spPr>
              <a:xfrm flipH="false" flipV="false" rot="0">
                <a:off x="0" y="0"/>
                <a:ext cx="753174" cy="1164325"/>
              </a:xfrm>
              <a:custGeom>
                <a:avLst/>
                <a:gdLst/>
                <a:ahLst/>
                <a:cxnLst/>
                <a:rect r="r" b="b" t="t" l="l"/>
                <a:pathLst>
                  <a:path h="1164325" w="753174">
                    <a:moveTo>
                      <a:pt x="628714" y="1164325"/>
                    </a:moveTo>
                    <a:lnTo>
                      <a:pt x="124460" y="1164325"/>
                    </a:lnTo>
                    <a:cubicBezTo>
                      <a:pt x="55880" y="1164325"/>
                      <a:pt x="0" y="1108445"/>
                      <a:pt x="0" y="103986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628714" y="0"/>
                    </a:lnTo>
                    <a:cubicBezTo>
                      <a:pt x="697294" y="0"/>
                      <a:pt x="753174" y="55880"/>
                      <a:pt x="753174" y="124460"/>
                    </a:cubicBezTo>
                    <a:lnTo>
                      <a:pt x="753174" y="1039865"/>
                    </a:lnTo>
                    <a:cubicBezTo>
                      <a:pt x="753174" y="1108445"/>
                      <a:pt x="697294" y="1164325"/>
                      <a:pt x="628714" y="116432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0" id="10"/>
            <p:cNvSpPr txBox="true"/>
            <p:nvPr/>
          </p:nvSpPr>
          <p:spPr>
            <a:xfrm rot="0">
              <a:off x="488854" y="512815"/>
              <a:ext cx="3899081" cy="144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Brand Awareness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488846" y="2300009"/>
              <a:ext cx="3899097" cy="441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5219703" y="3057417"/>
            <a:ext cx="3657592" cy="5654237"/>
            <a:chOff x="0" y="0"/>
            <a:chExt cx="4876789" cy="7538982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4876789" cy="7538982"/>
              <a:chOff x="0" y="0"/>
              <a:chExt cx="753174" cy="1164325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753174" cy="1164325"/>
              </a:xfrm>
              <a:custGeom>
                <a:avLst/>
                <a:gdLst/>
                <a:ahLst/>
                <a:cxnLst/>
                <a:rect r="r" b="b" t="t" l="l"/>
                <a:pathLst>
                  <a:path h="1164325" w="753174">
                    <a:moveTo>
                      <a:pt x="628714" y="1164325"/>
                    </a:moveTo>
                    <a:lnTo>
                      <a:pt x="124460" y="1164325"/>
                    </a:lnTo>
                    <a:cubicBezTo>
                      <a:pt x="55880" y="1164325"/>
                      <a:pt x="0" y="1108445"/>
                      <a:pt x="0" y="103986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628714" y="0"/>
                    </a:lnTo>
                    <a:cubicBezTo>
                      <a:pt x="697294" y="0"/>
                      <a:pt x="753174" y="55880"/>
                      <a:pt x="753174" y="124460"/>
                    </a:cubicBezTo>
                    <a:lnTo>
                      <a:pt x="753174" y="1039865"/>
                    </a:lnTo>
                    <a:cubicBezTo>
                      <a:pt x="753174" y="1108445"/>
                      <a:pt x="697294" y="1164325"/>
                      <a:pt x="628714" y="116432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15" id="15"/>
            <p:cNvSpPr txBox="true"/>
            <p:nvPr/>
          </p:nvSpPr>
          <p:spPr>
            <a:xfrm rot="0">
              <a:off x="488854" y="512815"/>
              <a:ext cx="3899081" cy="144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HR R</a:t>
              </a: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ecruitment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488846" y="2300009"/>
              <a:ext cx="3899097" cy="441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410705" y="3057417"/>
            <a:ext cx="3657592" cy="5654237"/>
            <a:chOff x="0" y="0"/>
            <a:chExt cx="4876789" cy="7538982"/>
          </a:xfrm>
        </p:grpSpPr>
        <p:grpSp>
          <p:nvGrpSpPr>
            <p:cNvPr name="Group 18" id="18"/>
            <p:cNvGrpSpPr/>
            <p:nvPr/>
          </p:nvGrpSpPr>
          <p:grpSpPr>
            <a:xfrm rot="0">
              <a:off x="0" y="0"/>
              <a:ext cx="4876789" cy="7538982"/>
              <a:chOff x="0" y="0"/>
              <a:chExt cx="753174" cy="11643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753174" cy="1164325"/>
              </a:xfrm>
              <a:custGeom>
                <a:avLst/>
                <a:gdLst/>
                <a:ahLst/>
                <a:cxnLst/>
                <a:rect r="r" b="b" t="t" l="l"/>
                <a:pathLst>
                  <a:path h="1164325" w="753174">
                    <a:moveTo>
                      <a:pt x="628714" y="1164325"/>
                    </a:moveTo>
                    <a:lnTo>
                      <a:pt x="124460" y="1164325"/>
                    </a:lnTo>
                    <a:cubicBezTo>
                      <a:pt x="55880" y="1164325"/>
                      <a:pt x="0" y="1108445"/>
                      <a:pt x="0" y="103986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628714" y="0"/>
                    </a:lnTo>
                    <a:cubicBezTo>
                      <a:pt x="697294" y="0"/>
                      <a:pt x="753174" y="55880"/>
                      <a:pt x="753174" y="124460"/>
                    </a:cubicBezTo>
                    <a:lnTo>
                      <a:pt x="753174" y="1039865"/>
                    </a:lnTo>
                    <a:cubicBezTo>
                      <a:pt x="753174" y="1108445"/>
                      <a:pt x="697294" y="1164325"/>
                      <a:pt x="628714" y="116432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20" id="20"/>
            <p:cNvSpPr txBox="true"/>
            <p:nvPr/>
          </p:nvSpPr>
          <p:spPr>
            <a:xfrm rot="0">
              <a:off x="488854" y="512815"/>
              <a:ext cx="3899081" cy="144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Brand</a:t>
              </a:r>
            </a:p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Engagement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488846" y="2300009"/>
              <a:ext cx="3899097" cy="441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3601708" y="3057417"/>
            <a:ext cx="3657592" cy="5654237"/>
            <a:chOff x="0" y="0"/>
            <a:chExt cx="4876789" cy="7538982"/>
          </a:xfrm>
        </p:grpSpPr>
        <p:grpSp>
          <p:nvGrpSpPr>
            <p:cNvPr name="Group 23" id="23"/>
            <p:cNvGrpSpPr/>
            <p:nvPr/>
          </p:nvGrpSpPr>
          <p:grpSpPr>
            <a:xfrm rot="0">
              <a:off x="0" y="0"/>
              <a:ext cx="4876789" cy="7538982"/>
              <a:chOff x="0" y="0"/>
              <a:chExt cx="753174" cy="1164325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753174" cy="1164325"/>
              </a:xfrm>
              <a:custGeom>
                <a:avLst/>
                <a:gdLst/>
                <a:ahLst/>
                <a:cxnLst/>
                <a:rect r="r" b="b" t="t" l="l"/>
                <a:pathLst>
                  <a:path h="1164325" w="753174">
                    <a:moveTo>
                      <a:pt x="628714" y="1164325"/>
                    </a:moveTo>
                    <a:lnTo>
                      <a:pt x="124460" y="1164325"/>
                    </a:lnTo>
                    <a:cubicBezTo>
                      <a:pt x="55880" y="1164325"/>
                      <a:pt x="0" y="1108445"/>
                      <a:pt x="0" y="1039865"/>
                    </a:cubicBezTo>
                    <a:lnTo>
                      <a:pt x="0" y="124460"/>
                    </a:lnTo>
                    <a:cubicBezTo>
                      <a:pt x="0" y="55880"/>
                      <a:pt x="55880" y="0"/>
                      <a:pt x="124460" y="0"/>
                    </a:cubicBezTo>
                    <a:lnTo>
                      <a:pt x="628714" y="0"/>
                    </a:lnTo>
                    <a:cubicBezTo>
                      <a:pt x="697294" y="0"/>
                      <a:pt x="753174" y="55880"/>
                      <a:pt x="753174" y="124460"/>
                    </a:cubicBezTo>
                    <a:lnTo>
                      <a:pt x="753174" y="1039865"/>
                    </a:lnTo>
                    <a:cubicBezTo>
                      <a:pt x="753174" y="1108445"/>
                      <a:pt x="697294" y="1164325"/>
                      <a:pt x="628714" y="1164325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</p:grpSp>
        <p:sp>
          <p:nvSpPr>
            <p:cNvPr name="TextBox 25" id="25"/>
            <p:cNvSpPr txBox="true"/>
            <p:nvPr/>
          </p:nvSpPr>
          <p:spPr>
            <a:xfrm rot="0">
              <a:off x="488854" y="512815"/>
              <a:ext cx="3899081" cy="144771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P</a:t>
              </a: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rofessional</a:t>
              </a:r>
            </a:p>
            <a:p>
              <a:pPr algn="ctr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Network</a:t>
              </a:r>
            </a:p>
          </p:txBody>
        </p:sp>
        <p:sp>
          <p:nvSpPr>
            <p:cNvPr name="TextBox 26" id="26"/>
            <p:cNvSpPr txBox="true"/>
            <p:nvPr/>
          </p:nvSpPr>
          <p:spPr>
            <a:xfrm rot="0">
              <a:off x="488846" y="2300009"/>
              <a:ext cx="3899097" cy="441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sp>
        <p:nvSpPr>
          <p:cNvPr name="TextBox 27" id="27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53668" y="672637"/>
            <a:ext cx="16430709" cy="1479534"/>
            <a:chOff x="0" y="0"/>
            <a:chExt cx="21907612" cy="1972711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-114300"/>
              <a:ext cx="21907612" cy="14088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959"/>
                </a:lnSpc>
                <a:spcBef>
                  <a:spcPct val="0"/>
                </a:spcBef>
              </a:pPr>
              <a:r>
                <a:rPr lang="en-US" b="true" sz="6399" strike="noStrike" u="non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Goal Percentage Comparison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479361"/>
              <a:ext cx="21907612" cy="4933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150"/>
                </a:lnSpc>
              </a:pPr>
              <a:r>
                <a:rPr lang="en-US" sz="2100" spc="-21">
                  <a:solidFill>
                    <a:srgbClr val="00000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S</a:t>
              </a:r>
              <a:r>
                <a:rPr lang="en-US" sz="2100" spc="-21">
                  <a:solidFill>
                    <a:srgbClr val="000000"/>
                  </a:solidFill>
                  <a:latin typeface="HK Grotesk"/>
                  <a:ea typeface="HK Grotesk"/>
                  <a:cs typeface="HK Grotesk"/>
                  <a:sym typeface="HK Grotesk"/>
                </a:rPr>
                <a:t>ubheading that highlights the focus of the charts and sets context for the data presented. </a:t>
              </a: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7" id="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508957" y="28270"/>
            <a:ext cx="8544888" cy="8544888"/>
            <a:chOff x="0" y="0"/>
            <a:chExt cx="6350000" cy="6350000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51270" cy="6351270"/>
            </a:xfrm>
            <a:custGeom>
              <a:avLst/>
              <a:gdLst/>
              <a:ahLst/>
              <a:cxnLst/>
              <a:rect r="r" b="b" t="t" l="l"/>
              <a:pathLst>
                <a:path h="6351270" w="6351270">
                  <a:moveTo>
                    <a:pt x="3175000" y="1963420"/>
                  </a:moveTo>
                  <a:lnTo>
                    <a:pt x="3425190" y="0"/>
                  </a:lnTo>
                  <a:lnTo>
                    <a:pt x="3364230" y="1978660"/>
                  </a:lnTo>
                  <a:lnTo>
                    <a:pt x="3917950" y="78740"/>
                  </a:lnTo>
                  <a:lnTo>
                    <a:pt x="3548380" y="2023110"/>
                  </a:lnTo>
                  <a:lnTo>
                    <a:pt x="4392930" y="232410"/>
                  </a:lnTo>
                  <a:lnTo>
                    <a:pt x="3724910" y="2095500"/>
                  </a:lnTo>
                  <a:lnTo>
                    <a:pt x="4838700" y="459740"/>
                  </a:lnTo>
                  <a:lnTo>
                    <a:pt x="3886200" y="2194560"/>
                  </a:lnTo>
                  <a:lnTo>
                    <a:pt x="5243830" y="753110"/>
                  </a:lnTo>
                  <a:lnTo>
                    <a:pt x="4032250" y="2317750"/>
                  </a:lnTo>
                  <a:lnTo>
                    <a:pt x="5596890" y="1106170"/>
                  </a:lnTo>
                  <a:lnTo>
                    <a:pt x="4155440" y="2462530"/>
                  </a:lnTo>
                  <a:lnTo>
                    <a:pt x="5890260" y="1511300"/>
                  </a:lnTo>
                  <a:lnTo>
                    <a:pt x="4254500" y="2625090"/>
                  </a:lnTo>
                  <a:lnTo>
                    <a:pt x="6117590" y="1955800"/>
                  </a:lnTo>
                  <a:lnTo>
                    <a:pt x="4328160" y="2800350"/>
                  </a:lnTo>
                  <a:lnTo>
                    <a:pt x="6272530" y="2430780"/>
                  </a:lnTo>
                  <a:lnTo>
                    <a:pt x="4372610" y="2984500"/>
                  </a:lnTo>
                  <a:lnTo>
                    <a:pt x="6351270" y="2923540"/>
                  </a:lnTo>
                  <a:lnTo>
                    <a:pt x="4386580" y="3175000"/>
                  </a:lnTo>
                  <a:lnTo>
                    <a:pt x="6350000" y="3425190"/>
                  </a:lnTo>
                  <a:lnTo>
                    <a:pt x="4371340" y="3364230"/>
                  </a:lnTo>
                  <a:lnTo>
                    <a:pt x="6271260" y="3917950"/>
                  </a:lnTo>
                  <a:lnTo>
                    <a:pt x="4326890" y="3548380"/>
                  </a:lnTo>
                  <a:lnTo>
                    <a:pt x="6117590" y="4394200"/>
                  </a:lnTo>
                  <a:lnTo>
                    <a:pt x="4254500" y="3724910"/>
                  </a:lnTo>
                  <a:lnTo>
                    <a:pt x="5890260" y="4838700"/>
                  </a:lnTo>
                  <a:lnTo>
                    <a:pt x="4155440" y="3886200"/>
                  </a:lnTo>
                  <a:lnTo>
                    <a:pt x="5596890" y="5242560"/>
                  </a:lnTo>
                  <a:lnTo>
                    <a:pt x="4032250" y="4030980"/>
                  </a:lnTo>
                  <a:lnTo>
                    <a:pt x="5243830" y="5595620"/>
                  </a:lnTo>
                  <a:lnTo>
                    <a:pt x="3887470" y="4155440"/>
                  </a:lnTo>
                  <a:lnTo>
                    <a:pt x="4839970" y="5890260"/>
                  </a:lnTo>
                  <a:lnTo>
                    <a:pt x="3724910" y="4254500"/>
                  </a:lnTo>
                  <a:lnTo>
                    <a:pt x="4394200" y="6117590"/>
                  </a:lnTo>
                  <a:lnTo>
                    <a:pt x="3549650" y="4328160"/>
                  </a:lnTo>
                  <a:lnTo>
                    <a:pt x="3919220" y="6272530"/>
                  </a:lnTo>
                  <a:lnTo>
                    <a:pt x="3365500" y="4372610"/>
                  </a:lnTo>
                  <a:lnTo>
                    <a:pt x="3426460" y="6351270"/>
                  </a:lnTo>
                  <a:lnTo>
                    <a:pt x="3175000" y="4386580"/>
                  </a:lnTo>
                  <a:lnTo>
                    <a:pt x="2924810" y="6350000"/>
                  </a:lnTo>
                  <a:lnTo>
                    <a:pt x="2985770" y="4371340"/>
                  </a:lnTo>
                  <a:lnTo>
                    <a:pt x="2432050" y="6271260"/>
                  </a:lnTo>
                  <a:lnTo>
                    <a:pt x="2801620" y="4326890"/>
                  </a:lnTo>
                  <a:lnTo>
                    <a:pt x="1955800" y="6117590"/>
                  </a:lnTo>
                  <a:lnTo>
                    <a:pt x="2625090" y="4254500"/>
                  </a:lnTo>
                  <a:lnTo>
                    <a:pt x="1511300" y="5890260"/>
                  </a:lnTo>
                  <a:lnTo>
                    <a:pt x="2462530" y="4155440"/>
                  </a:lnTo>
                  <a:lnTo>
                    <a:pt x="1106170" y="5596890"/>
                  </a:lnTo>
                  <a:lnTo>
                    <a:pt x="2317750" y="4032250"/>
                  </a:lnTo>
                  <a:lnTo>
                    <a:pt x="753110" y="5243830"/>
                  </a:lnTo>
                  <a:lnTo>
                    <a:pt x="2194560" y="3887470"/>
                  </a:lnTo>
                  <a:lnTo>
                    <a:pt x="459740" y="4838700"/>
                  </a:lnTo>
                  <a:lnTo>
                    <a:pt x="2095500" y="3724910"/>
                  </a:lnTo>
                  <a:lnTo>
                    <a:pt x="232410" y="4394200"/>
                  </a:lnTo>
                  <a:lnTo>
                    <a:pt x="2023110" y="3549650"/>
                  </a:lnTo>
                  <a:lnTo>
                    <a:pt x="78740" y="3917950"/>
                  </a:lnTo>
                  <a:lnTo>
                    <a:pt x="1978660" y="3364230"/>
                  </a:lnTo>
                  <a:lnTo>
                    <a:pt x="0" y="3425190"/>
                  </a:lnTo>
                  <a:lnTo>
                    <a:pt x="1963420" y="3175000"/>
                  </a:lnTo>
                  <a:lnTo>
                    <a:pt x="0" y="2924810"/>
                  </a:lnTo>
                  <a:lnTo>
                    <a:pt x="1978660" y="2985770"/>
                  </a:lnTo>
                  <a:lnTo>
                    <a:pt x="78740" y="2432050"/>
                  </a:lnTo>
                  <a:lnTo>
                    <a:pt x="2023110" y="2801620"/>
                  </a:lnTo>
                  <a:lnTo>
                    <a:pt x="232410" y="1955800"/>
                  </a:lnTo>
                  <a:lnTo>
                    <a:pt x="2095500" y="2625090"/>
                  </a:lnTo>
                  <a:lnTo>
                    <a:pt x="459740" y="1511300"/>
                  </a:lnTo>
                  <a:lnTo>
                    <a:pt x="2194560" y="2462530"/>
                  </a:lnTo>
                  <a:lnTo>
                    <a:pt x="753110" y="1106170"/>
                  </a:lnTo>
                  <a:lnTo>
                    <a:pt x="2317750" y="2317750"/>
                  </a:lnTo>
                  <a:lnTo>
                    <a:pt x="1106170" y="753110"/>
                  </a:lnTo>
                  <a:lnTo>
                    <a:pt x="2462530" y="2194560"/>
                  </a:lnTo>
                  <a:lnTo>
                    <a:pt x="1511300" y="459740"/>
                  </a:lnTo>
                  <a:lnTo>
                    <a:pt x="2625090" y="2095500"/>
                  </a:lnTo>
                  <a:lnTo>
                    <a:pt x="1955800" y="232410"/>
                  </a:lnTo>
                  <a:lnTo>
                    <a:pt x="2800350" y="2023110"/>
                  </a:lnTo>
                  <a:lnTo>
                    <a:pt x="2432050" y="78740"/>
                  </a:lnTo>
                  <a:lnTo>
                    <a:pt x="2985770" y="1978660"/>
                  </a:lnTo>
                  <a:lnTo>
                    <a:pt x="2924810" y="0"/>
                  </a:lnTo>
                  <a:lnTo>
                    <a:pt x="3175000" y="1963420"/>
                  </a:ln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sp>
        <p:nvSpPr>
          <p:cNvPr name="Freeform 6" id="6" descr="two people in green are dancing together"/>
          <p:cNvSpPr/>
          <p:nvPr/>
        </p:nvSpPr>
        <p:spPr>
          <a:xfrm flipH="false" flipV="false" rot="0">
            <a:off x="1167713" y="1043574"/>
            <a:ext cx="8824360" cy="7893791"/>
          </a:xfrm>
          <a:custGeom>
            <a:avLst/>
            <a:gdLst/>
            <a:ahLst/>
            <a:cxnLst/>
            <a:rect r="r" b="b" t="t" l="l"/>
            <a:pathLst>
              <a:path h="7893791" w="8824360">
                <a:moveTo>
                  <a:pt x="0" y="0"/>
                </a:moveTo>
                <a:lnTo>
                  <a:pt x="8824360" y="0"/>
                </a:lnTo>
                <a:lnTo>
                  <a:pt x="8824360" y="7893791"/>
                </a:lnTo>
                <a:lnTo>
                  <a:pt x="0" y="789379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" id="7"/>
          <p:cNvGrpSpPr/>
          <p:nvPr/>
        </p:nvGrpSpPr>
        <p:grpSpPr>
          <a:xfrm rot="0">
            <a:off x="10800510" y="1764478"/>
            <a:ext cx="6001109" cy="5619868"/>
            <a:chOff x="0" y="0"/>
            <a:chExt cx="8001479" cy="7493158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114300"/>
              <a:ext cx="8001479" cy="292019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959"/>
                </a:lnSpc>
              </a:pPr>
              <a:r>
                <a:rPr lang="en-US" sz="6399" b="tru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Overall </a:t>
              </a:r>
            </a:p>
            <a:p>
              <a:pPr algn="l">
                <a:lnSpc>
                  <a:spcPts val="8959"/>
                </a:lnSpc>
                <a:spcBef>
                  <a:spcPct val="0"/>
                </a:spcBef>
              </a:pPr>
              <a:r>
                <a:rPr lang="en-US" sz="6399" b="tru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Performance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4755562"/>
              <a:ext cx="8001479" cy="273759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Audience Growth</a:t>
              </a:r>
            </a:p>
            <a:p>
              <a:pPr algn="l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Content Plan</a:t>
              </a:r>
            </a:p>
            <a:p>
              <a:pPr algn="l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New Campaigns</a:t>
              </a:r>
            </a:p>
            <a:p>
              <a:pPr algn="l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New Channels</a:t>
              </a:r>
            </a:p>
            <a:p>
              <a:pPr algn="l" marL="0" indent="0" lvl="0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Interaction &amp; Feedback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3646369"/>
              <a:ext cx="8001479" cy="723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What we did right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2" id="12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3" id="13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7698311" y="0"/>
            <a:ext cx="10785179" cy="15447120"/>
            <a:chOff x="0" y="0"/>
            <a:chExt cx="443357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4433570" cy="6350000"/>
            </a:xfrm>
            <a:custGeom>
              <a:avLst/>
              <a:gdLst/>
              <a:ahLst/>
              <a:cxnLst/>
              <a:rect r="r" b="b" t="t" l="l"/>
              <a:pathLst>
                <a:path h="6350000" w="4433570">
                  <a:moveTo>
                    <a:pt x="4433570" y="0"/>
                  </a:moveTo>
                  <a:lnTo>
                    <a:pt x="4433570" y="0"/>
                  </a:lnTo>
                  <a:lnTo>
                    <a:pt x="4433570" y="0"/>
                  </a:lnTo>
                  <a:lnTo>
                    <a:pt x="4433570" y="6350000"/>
                  </a:lnTo>
                  <a:lnTo>
                    <a:pt x="443357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4433570"/>
                  </a:lnTo>
                  <a:cubicBezTo>
                    <a:pt x="0" y="1985010"/>
                    <a:pt x="1985010" y="0"/>
                    <a:pt x="4433570" y="0"/>
                  </a:cubicBez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7966580" y="757327"/>
            <a:ext cx="9292720" cy="2424174"/>
            <a:chOff x="0" y="0"/>
            <a:chExt cx="2531548" cy="660400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2531548" cy="660400"/>
            </a:xfrm>
            <a:custGeom>
              <a:avLst/>
              <a:gdLst/>
              <a:ahLst/>
              <a:cxnLst/>
              <a:rect r="r" b="b" t="t" l="l"/>
              <a:pathLst>
                <a:path h="660400" w="2531548">
                  <a:moveTo>
                    <a:pt x="2407088" y="660400"/>
                  </a:moveTo>
                  <a:lnTo>
                    <a:pt x="124460" y="660400"/>
                  </a:lnTo>
                  <a:cubicBezTo>
                    <a:pt x="55880" y="660400"/>
                    <a:pt x="0" y="604520"/>
                    <a:pt x="0" y="53594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2407088" y="0"/>
                  </a:lnTo>
                  <a:cubicBezTo>
                    <a:pt x="2475668" y="0"/>
                    <a:pt x="2531548" y="55880"/>
                    <a:pt x="2531548" y="124460"/>
                  </a:cubicBezTo>
                  <a:lnTo>
                    <a:pt x="2531548" y="535940"/>
                  </a:lnTo>
                  <a:cubicBezTo>
                    <a:pt x="2531548" y="604520"/>
                    <a:pt x="2475668" y="660400"/>
                    <a:pt x="2407088" y="66040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4497640" y="3537211"/>
            <a:ext cx="9292720" cy="2424174"/>
            <a:chOff x="0" y="0"/>
            <a:chExt cx="2531548" cy="660400"/>
          </a:xfrm>
        </p:grpSpPr>
        <p:sp>
          <p:nvSpPr>
            <p:cNvPr name="Freeform 7" id="7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2531548" cy="660400"/>
            </a:xfrm>
            <a:custGeom>
              <a:avLst/>
              <a:gdLst/>
              <a:ahLst/>
              <a:cxnLst/>
              <a:rect r="r" b="b" t="t" l="l"/>
              <a:pathLst>
                <a:path h="660400" w="2531548">
                  <a:moveTo>
                    <a:pt x="2407088" y="660400"/>
                  </a:moveTo>
                  <a:lnTo>
                    <a:pt x="124460" y="660400"/>
                  </a:lnTo>
                  <a:cubicBezTo>
                    <a:pt x="55880" y="660400"/>
                    <a:pt x="0" y="604520"/>
                    <a:pt x="0" y="53594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2407088" y="0"/>
                  </a:lnTo>
                  <a:cubicBezTo>
                    <a:pt x="2475668" y="0"/>
                    <a:pt x="2531548" y="55880"/>
                    <a:pt x="2531548" y="124460"/>
                  </a:cubicBezTo>
                  <a:lnTo>
                    <a:pt x="2531548" y="535940"/>
                  </a:lnTo>
                  <a:cubicBezTo>
                    <a:pt x="2531548" y="604520"/>
                    <a:pt x="2475668" y="660400"/>
                    <a:pt x="2407088" y="66040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028700" y="6318782"/>
            <a:ext cx="9209198" cy="2424174"/>
            <a:chOff x="0" y="0"/>
            <a:chExt cx="2508794" cy="660400"/>
          </a:xfrm>
        </p:grpSpPr>
        <p:sp>
          <p:nvSpPr>
            <p:cNvPr name="Freeform 9" id="9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2508795" cy="660400"/>
            </a:xfrm>
            <a:custGeom>
              <a:avLst/>
              <a:gdLst/>
              <a:ahLst/>
              <a:cxnLst/>
              <a:rect r="r" b="b" t="t" l="l"/>
              <a:pathLst>
                <a:path h="660400" w="2508795">
                  <a:moveTo>
                    <a:pt x="2384334" y="660400"/>
                  </a:moveTo>
                  <a:lnTo>
                    <a:pt x="124460" y="660400"/>
                  </a:lnTo>
                  <a:cubicBezTo>
                    <a:pt x="55880" y="660400"/>
                    <a:pt x="0" y="604520"/>
                    <a:pt x="0" y="535940"/>
                  </a:cubicBezTo>
                  <a:lnTo>
                    <a:pt x="0" y="124460"/>
                  </a:lnTo>
                  <a:cubicBezTo>
                    <a:pt x="0" y="55880"/>
                    <a:pt x="55880" y="0"/>
                    <a:pt x="124460" y="0"/>
                  </a:cubicBezTo>
                  <a:lnTo>
                    <a:pt x="2384335" y="0"/>
                  </a:lnTo>
                  <a:cubicBezTo>
                    <a:pt x="2452914" y="0"/>
                    <a:pt x="2508795" y="55880"/>
                    <a:pt x="2508795" y="124460"/>
                  </a:cubicBezTo>
                  <a:lnTo>
                    <a:pt x="2508795" y="535940"/>
                  </a:lnTo>
                  <a:cubicBezTo>
                    <a:pt x="2508795" y="604520"/>
                    <a:pt x="2452914" y="660400"/>
                    <a:pt x="2384335" y="66040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317831" y="6521005"/>
            <a:ext cx="2023376" cy="2019728"/>
            <a:chOff x="0" y="0"/>
            <a:chExt cx="2697835" cy="2692970"/>
          </a:xfrm>
        </p:grpSpPr>
        <p:grpSp>
          <p:nvGrpSpPr>
            <p:cNvPr name="Group 11" id="11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13" id="13"/>
            <p:cNvSpPr/>
            <p:nvPr/>
          </p:nvSpPr>
          <p:spPr>
            <a:xfrm flipH="false" flipV="false" rot="0">
              <a:off x="744134" y="773526"/>
              <a:ext cx="1336567" cy="1171319"/>
            </a:xfrm>
            <a:custGeom>
              <a:avLst/>
              <a:gdLst/>
              <a:ahLst/>
              <a:cxnLst/>
              <a:rect r="r" b="b" t="t" l="l"/>
              <a:pathLst>
                <a:path h="1171319" w="1336567">
                  <a:moveTo>
                    <a:pt x="0" y="0"/>
                  </a:moveTo>
                  <a:lnTo>
                    <a:pt x="1336567" y="0"/>
                  </a:lnTo>
                  <a:lnTo>
                    <a:pt x="1336567" y="1171319"/>
                  </a:lnTo>
                  <a:lnTo>
                    <a:pt x="0" y="11713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4786772" y="3739434"/>
            <a:ext cx="2023376" cy="2019728"/>
            <a:chOff x="0" y="0"/>
            <a:chExt cx="2697835" cy="2692970"/>
          </a:xfrm>
        </p:grpSpPr>
        <p:grpSp>
          <p:nvGrpSpPr>
            <p:cNvPr name="Group 15" id="15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680634" y="798493"/>
              <a:ext cx="1336567" cy="1095985"/>
            </a:xfrm>
            <a:custGeom>
              <a:avLst/>
              <a:gdLst/>
              <a:ahLst/>
              <a:cxnLst/>
              <a:rect r="r" b="b" t="t" l="l"/>
              <a:pathLst>
                <a:path h="1095985" w="1336567">
                  <a:moveTo>
                    <a:pt x="0" y="0"/>
                  </a:moveTo>
                  <a:lnTo>
                    <a:pt x="1336567" y="0"/>
                  </a:lnTo>
                  <a:lnTo>
                    <a:pt x="1336567" y="1095985"/>
                  </a:lnTo>
                  <a:lnTo>
                    <a:pt x="0" y="10959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18" id="18"/>
          <p:cNvSpPr txBox="true"/>
          <p:nvPr/>
        </p:nvSpPr>
        <p:spPr>
          <a:xfrm rot="0">
            <a:off x="1028700" y="1028700"/>
            <a:ext cx="4769760" cy="9729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19" id="19"/>
          <p:cNvGrpSpPr/>
          <p:nvPr/>
        </p:nvGrpSpPr>
        <p:grpSpPr>
          <a:xfrm rot="0">
            <a:off x="10550356" y="1118259"/>
            <a:ext cx="6320813" cy="1702281"/>
            <a:chOff x="0" y="0"/>
            <a:chExt cx="8427751" cy="2269708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0"/>
              <a:ext cx="8001479" cy="6476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3200" u="non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Maximize Platforms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812383"/>
              <a:ext cx="8427751" cy="1457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60"/>
                </a:lnSpc>
                <a:spcBef>
                  <a:spcPct val="0"/>
                </a:spcBef>
              </a:pPr>
              <a:r>
                <a:rPr lang="en-US" sz="18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7082545" y="3967017"/>
            <a:ext cx="6320813" cy="1702281"/>
            <a:chOff x="0" y="0"/>
            <a:chExt cx="8427751" cy="2269708"/>
          </a:xfrm>
        </p:grpSpPr>
        <p:sp>
          <p:nvSpPr>
            <p:cNvPr name="TextBox 23" id="23"/>
            <p:cNvSpPr txBox="true"/>
            <p:nvPr/>
          </p:nvSpPr>
          <p:spPr>
            <a:xfrm rot="0">
              <a:off x="0" y="0"/>
              <a:ext cx="8001479" cy="6476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3200" u="non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Incentivize Engagement</a:t>
              </a:r>
            </a:p>
          </p:txBody>
        </p:sp>
        <p:sp>
          <p:nvSpPr>
            <p:cNvPr name="TextBox 24" id="24"/>
            <p:cNvSpPr txBox="true"/>
            <p:nvPr/>
          </p:nvSpPr>
          <p:spPr>
            <a:xfrm rot="0">
              <a:off x="0" y="812383"/>
              <a:ext cx="8427751" cy="1457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60"/>
                </a:lnSpc>
                <a:spcBef>
                  <a:spcPct val="0"/>
                </a:spcBef>
              </a:pPr>
              <a:r>
                <a:rPr lang="en-US" sz="18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3642727" y="6688450"/>
            <a:ext cx="5982861" cy="1684809"/>
            <a:chOff x="0" y="0"/>
            <a:chExt cx="7977148" cy="2246412"/>
          </a:xfrm>
        </p:grpSpPr>
        <p:sp>
          <p:nvSpPr>
            <p:cNvPr name="TextBox 26" id="26"/>
            <p:cNvSpPr txBox="true"/>
            <p:nvPr/>
          </p:nvSpPr>
          <p:spPr>
            <a:xfrm rot="0">
              <a:off x="0" y="0"/>
              <a:ext cx="7573668" cy="6476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3200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Encour</a:t>
              </a:r>
              <a:r>
                <a:rPr lang="en-US" b="true" sz="3200" u="non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age Feedback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0" y="789087"/>
              <a:ext cx="7977148" cy="145732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60"/>
                </a:lnSpc>
              </a:pPr>
              <a:r>
                <a:rPr lang="en-US" sz="18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It is mostly presented before an audience.</a:t>
              </a: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9" id="2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grpSp>
        <p:nvGrpSpPr>
          <p:cNvPr name="Group 30" id="30"/>
          <p:cNvGrpSpPr/>
          <p:nvPr/>
        </p:nvGrpSpPr>
        <p:grpSpPr>
          <a:xfrm rot="0">
            <a:off x="8255712" y="959551"/>
            <a:ext cx="2023376" cy="2019728"/>
            <a:chOff x="0" y="0"/>
            <a:chExt cx="2697835" cy="2692970"/>
          </a:xfrm>
        </p:grpSpPr>
        <p:grpSp>
          <p:nvGrpSpPr>
            <p:cNvPr name="Group 31" id="31"/>
            <p:cNvGrpSpPr>
              <a:grpSpLocks noChangeAspect="true"/>
            </p:cNvGrpSpPr>
            <p:nvPr/>
          </p:nvGrpSpPr>
          <p:grpSpPr>
            <a:xfrm rot="0">
              <a:off x="0" y="0"/>
              <a:ext cx="2697835" cy="2692970"/>
              <a:chOff x="0" y="0"/>
              <a:chExt cx="6338570" cy="632714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6339840" cy="6325870"/>
              </a:xfrm>
              <a:custGeom>
                <a:avLst/>
                <a:gdLst/>
                <a:ahLst/>
                <a:cxnLst/>
                <a:rect r="r" b="b" t="t" l="l"/>
                <a:pathLst>
                  <a:path h="6325870" w="6339840">
                    <a:moveTo>
                      <a:pt x="3169920" y="734060"/>
                    </a:moveTo>
                    <a:lnTo>
                      <a:pt x="3567430" y="0"/>
                    </a:lnTo>
                    <a:lnTo>
                      <a:pt x="3770630" y="810260"/>
                    </a:lnTo>
                    <a:lnTo>
                      <a:pt x="4338320" y="198120"/>
                    </a:lnTo>
                    <a:lnTo>
                      <a:pt x="4333240" y="1033780"/>
                    </a:lnTo>
                    <a:lnTo>
                      <a:pt x="5035550" y="581660"/>
                    </a:lnTo>
                    <a:lnTo>
                      <a:pt x="4823460" y="1389380"/>
                    </a:lnTo>
                    <a:lnTo>
                      <a:pt x="5615940" y="1126490"/>
                    </a:lnTo>
                    <a:lnTo>
                      <a:pt x="5209540" y="1855470"/>
                    </a:lnTo>
                    <a:lnTo>
                      <a:pt x="6042660" y="1798320"/>
                    </a:lnTo>
                    <a:lnTo>
                      <a:pt x="5467350" y="2404110"/>
                    </a:lnTo>
                    <a:lnTo>
                      <a:pt x="6289040" y="2555240"/>
                    </a:lnTo>
                    <a:lnTo>
                      <a:pt x="5581650" y="2998470"/>
                    </a:lnTo>
                    <a:lnTo>
                      <a:pt x="6339840" y="3348990"/>
                    </a:lnTo>
                    <a:lnTo>
                      <a:pt x="5543550" y="3602990"/>
                    </a:lnTo>
                    <a:lnTo>
                      <a:pt x="6189980" y="4131310"/>
                    </a:lnTo>
                    <a:lnTo>
                      <a:pt x="5355590" y="4178300"/>
                    </a:lnTo>
                    <a:lnTo>
                      <a:pt x="5850890" y="4851400"/>
                    </a:lnTo>
                    <a:lnTo>
                      <a:pt x="5031740" y="4690110"/>
                    </a:lnTo>
                    <a:lnTo>
                      <a:pt x="5344160" y="5464810"/>
                    </a:lnTo>
                    <a:lnTo>
                      <a:pt x="4589780" y="5105400"/>
                    </a:lnTo>
                    <a:lnTo>
                      <a:pt x="4699000" y="5933440"/>
                    </a:lnTo>
                    <a:lnTo>
                      <a:pt x="4058920" y="5397500"/>
                    </a:lnTo>
                    <a:lnTo>
                      <a:pt x="3958590" y="6226810"/>
                    </a:lnTo>
                    <a:lnTo>
                      <a:pt x="3472180" y="5547360"/>
                    </a:lnTo>
                    <a:lnTo>
                      <a:pt x="3168650" y="6325870"/>
                    </a:lnTo>
                    <a:lnTo>
                      <a:pt x="2866390" y="5547360"/>
                    </a:lnTo>
                    <a:lnTo>
                      <a:pt x="2379980" y="6226810"/>
                    </a:lnTo>
                    <a:lnTo>
                      <a:pt x="2279650" y="5397500"/>
                    </a:lnTo>
                    <a:lnTo>
                      <a:pt x="1639570" y="5933440"/>
                    </a:lnTo>
                    <a:lnTo>
                      <a:pt x="1748791" y="5105400"/>
                    </a:lnTo>
                    <a:lnTo>
                      <a:pt x="994411" y="5466080"/>
                    </a:lnTo>
                    <a:lnTo>
                      <a:pt x="1306831" y="4691380"/>
                    </a:lnTo>
                    <a:lnTo>
                      <a:pt x="487681" y="4852670"/>
                    </a:lnTo>
                    <a:lnTo>
                      <a:pt x="982981" y="4179570"/>
                    </a:lnTo>
                    <a:lnTo>
                      <a:pt x="148591" y="4132580"/>
                    </a:lnTo>
                    <a:lnTo>
                      <a:pt x="795021" y="3604260"/>
                    </a:lnTo>
                    <a:lnTo>
                      <a:pt x="0" y="3350260"/>
                    </a:lnTo>
                    <a:lnTo>
                      <a:pt x="758190" y="2999740"/>
                    </a:lnTo>
                    <a:lnTo>
                      <a:pt x="49530" y="2555240"/>
                    </a:lnTo>
                    <a:lnTo>
                      <a:pt x="871220" y="2404110"/>
                    </a:lnTo>
                    <a:lnTo>
                      <a:pt x="295910" y="1798320"/>
                    </a:lnTo>
                    <a:lnTo>
                      <a:pt x="1129030" y="1855470"/>
                    </a:lnTo>
                    <a:lnTo>
                      <a:pt x="722630" y="1126490"/>
                    </a:lnTo>
                    <a:lnTo>
                      <a:pt x="1515110" y="1389380"/>
                    </a:lnTo>
                    <a:lnTo>
                      <a:pt x="1303020" y="581660"/>
                    </a:lnTo>
                    <a:lnTo>
                      <a:pt x="2005330" y="1033780"/>
                    </a:lnTo>
                    <a:lnTo>
                      <a:pt x="2000250" y="198120"/>
                    </a:lnTo>
                    <a:lnTo>
                      <a:pt x="2567940" y="810260"/>
                    </a:lnTo>
                    <a:lnTo>
                      <a:pt x="2771140" y="0"/>
                    </a:lnTo>
                    <a:lnTo>
                      <a:pt x="3169920" y="734060"/>
                    </a:lnTo>
                    <a:close/>
                  </a:path>
                </a:pathLst>
              </a:custGeom>
              <a:solidFill>
                <a:srgbClr val="548C55"/>
              </a:solidFill>
              <a:ln w="12700">
                <a:solidFill>
                  <a:srgbClr val="000000"/>
                </a:solidFill>
              </a:ln>
            </p:spPr>
          </p:sp>
        </p:grpSp>
        <p:sp>
          <p:nvSpPr>
            <p:cNvPr name="Freeform 33" id="33"/>
            <p:cNvSpPr/>
            <p:nvPr/>
          </p:nvSpPr>
          <p:spPr>
            <a:xfrm flipH="false" flipV="false" rot="0">
              <a:off x="706818" y="737491"/>
              <a:ext cx="1411200" cy="1141789"/>
            </a:xfrm>
            <a:custGeom>
              <a:avLst/>
              <a:gdLst/>
              <a:ahLst/>
              <a:cxnLst/>
              <a:rect r="r" b="b" t="t" l="l"/>
              <a:pathLst>
                <a:path h="1141789" w="1411200">
                  <a:moveTo>
                    <a:pt x="0" y="0"/>
                  </a:moveTo>
                  <a:lnTo>
                    <a:pt x="1411200" y="0"/>
                  </a:lnTo>
                  <a:lnTo>
                    <a:pt x="1411200" y="1141789"/>
                  </a:lnTo>
                  <a:lnTo>
                    <a:pt x="0" y="11417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17559361" y="40110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776922" y="1205402"/>
            <a:ext cx="8008958" cy="8008958"/>
            <a:chOff x="0" y="0"/>
            <a:chExt cx="635000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51270" cy="6351270"/>
            </a:xfrm>
            <a:custGeom>
              <a:avLst/>
              <a:gdLst/>
              <a:ahLst/>
              <a:cxnLst/>
              <a:rect r="r" b="b" t="t" l="l"/>
              <a:pathLst>
                <a:path h="6351270" w="6351270">
                  <a:moveTo>
                    <a:pt x="3175000" y="1963420"/>
                  </a:moveTo>
                  <a:lnTo>
                    <a:pt x="3425190" y="0"/>
                  </a:lnTo>
                  <a:lnTo>
                    <a:pt x="3364230" y="1978660"/>
                  </a:lnTo>
                  <a:lnTo>
                    <a:pt x="3917950" y="78740"/>
                  </a:lnTo>
                  <a:lnTo>
                    <a:pt x="3548380" y="2023110"/>
                  </a:lnTo>
                  <a:lnTo>
                    <a:pt x="4392930" y="232410"/>
                  </a:lnTo>
                  <a:lnTo>
                    <a:pt x="3724910" y="2095500"/>
                  </a:lnTo>
                  <a:lnTo>
                    <a:pt x="4838700" y="459740"/>
                  </a:lnTo>
                  <a:lnTo>
                    <a:pt x="3886200" y="2194560"/>
                  </a:lnTo>
                  <a:lnTo>
                    <a:pt x="5243830" y="753110"/>
                  </a:lnTo>
                  <a:lnTo>
                    <a:pt x="4032250" y="2317750"/>
                  </a:lnTo>
                  <a:lnTo>
                    <a:pt x="5596890" y="1106170"/>
                  </a:lnTo>
                  <a:lnTo>
                    <a:pt x="4155440" y="2462530"/>
                  </a:lnTo>
                  <a:lnTo>
                    <a:pt x="5890260" y="1511300"/>
                  </a:lnTo>
                  <a:lnTo>
                    <a:pt x="4254500" y="2625090"/>
                  </a:lnTo>
                  <a:lnTo>
                    <a:pt x="6117590" y="1955800"/>
                  </a:lnTo>
                  <a:lnTo>
                    <a:pt x="4328160" y="2800350"/>
                  </a:lnTo>
                  <a:lnTo>
                    <a:pt x="6272530" y="2430780"/>
                  </a:lnTo>
                  <a:lnTo>
                    <a:pt x="4372610" y="2984500"/>
                  </a:lnTo>
                  <a:lnTo>
                    <a:pt x="6351270" y="2923540"/>
                  </a:lnTo>
                  <a:lnTo>
                    <a:pt x="4386580" y="3175000"/>
                  </a:lnTo>
                  <a:lnTo>
                    <a:pt x="6350000" y="3425190"/>
                  </a:lnTo>
                  <a:lnTo>
                    <a:pt x="4371340" y="3364230"/>
                  </a:lnTo>
                  <a:lnTo>
                    <a:pt x="6271260" y="3917950"/>
                  </a:lnTo>
                  <a:lnTo>
                    <a:pt x="4326890" y="3548380"/>
                  </a:lnTo>
                  <a:lnTo>
                    <a:pt x="6117590" y="4394200"/>
                  </a:lnTo>
                  <a:lnTo>
                    <a:pt x="4254500" y="3724910"/>
                  </a:lnTo>
                  <a:lnTo>
                    <a:pt x="5890260" y="4838700"/>
                  </a:lnTo>
                  <a:lnTo>
                    <a:pt x="4155440" y="3886200"/>
                  </a:lnTo>
                  <a:lnTo>
                    <a:pt x="5596890" y="5242560"/>
                  </a:lnTo>
                  <a:lnTo>
                    <a:pt x="4032250" y="4030980"/>
                  </a:lnTo>
                  <a:lnTo>
                    <a:pt x="5243830" y="5595620"/>
                  </a:lnTo>
                  <a:lnTo>
                    <a:pt x="3887470" y="4155440"/>
                  </a:lnTo>
                  <a:lnTo>
                    <a:pt x="4839970" y="5890260"/>
                  </a:lnTo>
                  <a:lnTo>
                    <a:pt x="3724910" y="4254500"/>
                  </a:lnTo>
                  <a:lnTo>
                    <a:pt x="4394200" y="6117590"/>
                  </a:lnTo>
                  <a:lnTo>
                    <a:pt x="3549650" y="4328160"/>
                  </a:lnTo>
                  <a:lnTo>
                    <a:pt x="3919220" y="6272530"/>
                  </a:lnTo>
                  <a:lnTo>
                    <a:pt x="3365500" y="4372610"/>
                  </a:lnTo>
                  <a:lnTo>
                    <a:pt x="3426460" y="6351270"/>
                  </a:lnTo>
                  <a:lnTo>
                    <a:pt x="3175000" y="4386580"/>
                  </a:lnTo>
                  <a:lnTo>
                    <a:pt x="2924810" y="6350000"/>
                  </a:lnTo>
                  <a:lnTo>
                    <a:pt x="2985770" y="4371340"/>
                  </a:lnTo>
                  <a:lnTo>
                    <a:pt x="2432050" y="6271260"/>
                  </a:lnTo>
                  <a:lnTo>
                    <a:pt x="2801620" y="4326890"/>
                  </a:lnTo>
                  <a:lnTo>
                    <a:pt x="1955800" y="6117590"/>
                  </a:lnTo>
                  <a:lnTo>
                    <a:pt x="2625090" y="4254500"/>
                  </a:lnTo>
                  <a:lnTo>
                    <a:pt x="1511300" y="5890260"/>
                  </a:lnTo>
                  <a:lnTo>
                    <a:pt x="2462530" y="4155440"/>
                  </a:lnTo>
                  <a:lnTo>
                    <a:pt x="1106170" y="5596890"/>
                  </a:lnTo>
                  <a:lnTo>
                    <a:pt x="2317750" y="4032250"/>
                  </a:lnTo>
                  <a:lnTo>
                    <a:pt x="753110" y="5243830"/>
                  </a:lnTo>
                  <a:lnTo>
                    <a:pt x="2194560" y="3887470"/>
                  </a:lnTo>
                  <a:lnTo>
                    <a:pt x="459740" y="4838700"/>
                  </a:lnTo>
                  <a:lnTo>
                    <a:pt x="2095500" y="3724910"/>
                  </a:lnTo>
                  <a:lnTo>
                    <a:pt x="232410" y="4394200"/>
                  </a:lnTo>
                  <a:lnTo>
                    <a:pt x="2023110" y="3549650"/>
                  </a:lnTo>
                  <a:lnTo>
                    <a:pt x="78740" y="3917950"/>
                  </a:lnTo>
                  <a:lnTo>
                    <a:pt x="1978660" y="3364230"/>
                  </a:lnTo>
                  <a:lnTo>
                    <a:pt x="0" y="3425190"/>
                  </a:lnTo>
                  <a:lnTo>
                    <a:pt x="1963420" y="3175000"/>
                  </a:lnTo>
                  <a:lnTo>
                    <a:pt x="0" y="2924810"/>
                  </a:lnTo>
                  <a:lnTo>
                    <a:pt x="1978660" y="2985770"/>
                  </a:lnTo>
                  <a:lnTo>
                    <a:pt x="78740" y="2432050"/>
                  </a:lnTo>
                  <a:lnTo>
                    <a:pt x="2023110" y="2801620"/>
                  </a:lnTo>
                  <a:lnTo>
                    <a:pt x="232410" y="1955800"/>
                  </a:lnTo>
                  <a:lnTo>
                    <a:pt x="2095500" y="2625090"/>
                  </a:lnTo>
                  <a:lnTo>
                    <a:pt x="459740" y="1511300"/>
                  </a:lnTo>
                  <a:lnTo>
                    <a:pt x="2194560" y="2462530"/>
                  </a:lnTo>
                  <a:lnTo>
                    <a:pt x="753110" y="1106170"/>
                  </a:lnTo>
                  <a:lnTo>
                    <a:pt x="2317750" y="2317750"/>
                  </a:lnTo>
                  <a:lnTo>
                    <a:pt x="1106170" y="753110"/>
                  </a:lnTo>
                  <a:lnTo>
                    <a:pt x="2462530" y="2194560"/>
                  </a:lnTo>
                  <a:lnTo>
                    <a:pt x="1511300" y="459740"/>
                  </a:lnTo>
                  <a:lnTo>
                    <a:pt x="2625090" y="2095500"/>
                  </a:lnTo>
                  <a:lnTo>
                    <a:pt x="1955800" y="232410"/>
                  </a:lnTo>
                  <a:lnTo>
                    <a:pt x="2800350" y="2023110"/>
                  </a:lnTo>
                  <a:lnTo>
                    <a:pt x="2432050" y="78740"/>
                  </a:lnTo>
                  <a:lnTo>
                    <a:pt x="2985770" y="1978660"/>
                  </a:lnTo>
                  <a:lnTo>
                    <a:pt x="2924810" y="0"/>
                  </a:lnTo>
                  <a:lnTo>
                    <a:pt x="3175000" y="196342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1962653" y="3873317"/>
            <a:ext cx="5637496" cy="2816808"/>
            <a:chOff x="0" y="0"/>
            <a:chExt cx="7516661" cy="3755744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0"/>
              <a:ext cx="7516661" cy="260545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7743"/>
                </a:lnSpc>
                <a:spcBef>
                  <a:spcPct val="0"/>
                </a:spcBef>
              </a:pPr>
              <a:r>
                <a:rPr lang="en-US" b="true" sz="6399" u="non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Next Quarter Timeline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0" y="2960133"/>
              <a:ext cx="7516661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Strategic Plan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9554528" y="1166484"/>
            <a:ext cx="7589635" cy="1395965"/>
            <a:chOff x="0" y="0"/>
            <a:chExt cx="10119513" cy="1861287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66675"/>
              <a:ext cx="6048632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Optimize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894138"/>
              <a:ext cx="10119513" cy="96714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9554528" y="4656156"/>
            <a:ext cx="7185948" cy="1303429"/>
            <a:chOff x="0" y="0"/>
            <a:chExt cx="9581263" cy="1737905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66675"/>
              <a:ext cx="5726910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Run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894138"/>
              <a:ext cx="9581263" cy="8437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554528" y="6334175"/>
            <a:ext cx="7185948" cy="1303429"/>
            <a:chOff x="0" y="0"/>
            <a:chExt cx="9581263" cy="1737905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66675"/>
              <a:ext cx="5726910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Refine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894138"/>
              <a:ext cx="9581263" cy="8437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554528" y="2844503"/>
            <a:ext cx="7185948" cy="1408831"/>
            <a:chOff x="0" y="0"/>
            <a:chExt cx="9581263" cy="1878442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-66675"/>
              <a:ext cx="5726910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Launch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1034675"/>
              <a:ext cx="9581263" cy="8437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554528" y="8012193"/>
            <a:ext cx="7185948" cy="1303429"/>
            <a:chOff x="0" y="0"/>
            <a:chExt cx="9581263" cy="1737905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-66675"/>
              <a:ext cx="5726910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Analyze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894138"/>
              <a:ext cx="9581263" cy="8437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Presentations are communication tools that can be used as demonstrations, lectures, speeches, reports, and more. 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3" id="23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0" y="4315775"/>
            <a:ext cx="18288000" cy="8476870"/>
            <a:chOff x="0" y="0"/>
            <a:chExt cx="1369949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13699489" cy="6350000"/>
            </a:xfrm>
            <a:custGeom>
              <a:avLst/>
              <a:gdLst/>
              <a:ahLst/>
              <a:cxnLst/>
              <a:rect r="r" b="b" t="t" l="l"/>
              <a:pathLst>
                <a:path h="6350000" w="13699489">
                  <a:moveTo>
                    <a:pt x="13699489" y="6350000"/>
                  </a:moveTo>
                  <a:lnTo>
                    <a:pt x="0" y="6350000"/>
                  </a:lnTo>
                  <a:lnTo>
                    <a:pt x="0" y="1899920"/>
                  </a:lnTo>
                  <a:cubicBezTo>
                    <a:pt x="0" y="1899920"/>
                    <a:pt x="2849880" y="0"/>
                    <a:pt x="6899910" y="0"/>
                  </a:cubicBezTo>
                  <a:cubicBezTo>
                    <a:pt x="11300460" y="0"/>
                    <a:pt x="13699489" y="1899920"/>
                    <a:pt x="13699489" y="1899920"/>
                  </a:cubicBezTo>
                  <a:lnTo>
                    <a:pt x="13699489" y="635000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>
            <a:grpSpLocks noChangeAspect="true"/>
          </p:cNvGrpSpPr>
          <p:nvPr/>
        </p:nvGrpSpPr>
        <p:grpSpPr>
          <a:xfrm rot="0">
            <a:off x="2746990" y="3146042"/>
            <a:ext cx="3582169" cy="3883531"/>
            <a:chOff x="0" y="0"/>
            <a:chExt cx="5857240" cy="6350000"/>
          </a:xfrm>
        </p:grpSpPr>
        <p:sp>
          <p:nvSpPr>
            <p:cNvPr name="Freeform 5" id="5" descr="a person in a red blazer"/>
            <p:cNvSpPr/>
            <p:nvPr/>
          </p:nvSpPr>
          <p:spPr>
            <a:xfrm flipH="false" flipV="false" rot="0">
              <a:off x="0" y="0"/>
              <a:ext cx="5857240" cy="6350000"/>
            </a:xfrm>
            <a:custGeom>
              <a:avLst/>
              <a:gdLst/>
              <a:ahLst/>
              <a:cxnLst/>
              <a:rect r="r" b="b" t="t" l="l"/>
              <a:pathLst>
                <a:path h="6350000" w="5857240">
                  <a:moveTo>
                    <a:pt x="2928620" y="0"/>
                  </a:moveTo>
                  <a:lnTo>
                    <a:pt x="2928620" y="0"/>
                  </a:lnTo>
                  <a:cubicBezTo>
                    <a:pt x="4546600" y="0"/>
                    <a:pt x="5857240" y="1310640"/>
                    <a:pt x="5857240" y="2928620"/>
                  </a:cubicBezTo>
                  <a:lnTo>
                    <a:pt x="5857240" y="6350000"/>
                  </a:lnTo>
                  <a:lnTo>
                    <a:pt x="585724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928620"/>
                  </a:lnTo>
                  <a:cubicBezTo>
                    <a:pt x="0" y="1310640"/>
                    <a:pt x="1310640" y="0"/>
                    <a:pt x="2928620" y="0"/>
                  </a:cubicBezTo>
                  <a:close/>
                </a:path>
              </a:pathLst>
            </a:custGeom>
            <a:blipFill>
              <a:blip r:embed="rId2"/>
              <a:stretch>
                <a:fillRect l="-20839" t="-1075" r="0" b="-65805"/>
              </a:stretch>
            </a:blipFill>
          </p:spPr>
        </p:sp>
      </p:grpSp>
      <p:grpSp>
        <p:nvGrpSpPr>
          <p:cNvPr name="Group 6" id="6"/>
          <p:cNvGrpSpPr>
            <a:grpSpLocks noChangeAspect="true"/>
          </p:cNvGrpSpPr>
          <p:nvPr/>
        </p:nvGrpSpPr>
        <p:grpSpPr>
          <a:xfrm rot="0">
            <a:off x="7297067" y="3146042"/>
            <a:ext cx="3582169" cy="3883531"/>
            <a:chOff x="0" y="0"/>
            <a:chExt cx="5857240" cy="6350000"/>
          </a:xfrm>
        </p:grpSpPr>
        <p:sp>
          <p:nvSpPr>
            <p:cNvPr name="Freeform 7" id="7" descr="a person with glasses"/>
            <p:cNvSpPr/>
            <p:nvPr/>
          </p:nvSpPr>
          <p:spPr>
            <a:xfrm flipH="false" flipV="false" rot="0">
              <a:off x="0" y="0"/>
              <a:ext cx="5857240" cy="6350000"/>
            </a:xfrm>
            <a:custGeom>
              <a:avLst/>
              <a:gdLst/>
              <a:ahLst/>
              <a:cxnLst/>
              <a:rect r="r" b="b" t="t" l="l"/>
              <a:pathLst>
                <a:path h="6350000" w="5857240">
                  <a:moveTo>
                    <a:pt x="2928620" y="0"/>
                  </a:moveTo>
                  <a:lnTo>
                    <a:pt x="2928620" y="0"/>
                  </a:lnTo>
                  <a:cubicBezTo>
                    <a:pt x="4546600" y="0"/>
                    <a:pt x="5857240" y="1310640"/>
                    <a:pt x="5857240" y="2928620"/>
                  </a:cubicBezTo>
                  <a:lnTo>
                    <a:pt x="5857240" y="6350000"/>
                  </a:lnTo>
                  <a:lnTo>
                    <a:pt x="585724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928620"/>
                  </a:lnTo>
                  <a:cubicBezTo>
                    <a:pt x="0" y="1310640"/>
                    <a:pt x="1310640" y="0"/>
                    <a:pt x="2928620" y="0"/>
                  </a:cubicBezTo>
                  <a:close/>
                </a:path>
              </a:pathLst>
            </a:custGeom>
            <a:blipFill>
              <a:blip r:embed="rId3"/>
              <a:stretch>
                <a:fillRect l="-158381" t="-7361" r="-206627" b="-178587"/>
              </a:stretch>
            </a:blipFill>
          </p:spPr>
        </p:sp>
      </p:grpSp>
      <p:grpSp>
        <p:nvGrpSpPr>
          <p:cNvPr name="Group 8" id="8"/>
          <p:cNvGrpSpPr>
            <a:grpSpLocks noChangeAspect="true"/>
          </p:cNvGrpSpPr>
          <p:nvPr/>
        </p:nvGrpSpPr>
        <p:grpSpPr>
          <a:xfrm rot="0">
            <a:off x="11847143" y="3146042"/>
            <a:ext cx="3582169" cy="3883531"/>
            <a:chOff x="0" y="0"/>
            <a:chExt cx="5857240" cy="6350000"/>
          </a:xfrm>
        </p:grpSpPr>
        <p:sp>
          <p:nvSpPr>
            <p:cNvPr name="Freeform 9" id="9" descr="a person in a hat and bow tie"/>
            <p:cNvSpPr/>
            <p:nvPr/>
          </p:nvSpPr>
          <p:spPr>
            <a:xfrm flipH="false" flipV="false" rot="0">
              <a:off x="0" y="0"/>
              <a:ext cx="5857240" cy="6350000"/>
            </a:xfrm>
            <a:custGeom>
              <a:avLst/>
              <a:gdLst/>
              <a:ahLst/>
              <a:cxnLst/>
              <a:rect r="r" b="b" t="t" l="l"/>
              <a:pathLst>
                <a:path h="6350000" w="5857240">
                  <a:moveTo>
                    <a:pt x="2928620" y="0"/>
                  </a:moveTo>
                  <a:lnTo>
                    <a:pt x="2928620" y="0"/>
                  </a:lnTo>
                  <a:cubicBezTo>
                    <a:pt x="4546600" y="0"/>
                    <a:pt x="5857240" y="1310640"/>
                    <a:pt x="5857240" y="2928620"/>
                  </a:cubicBezTo>
                  <a:lnTo>
                    <a:pt x="5857240" y="6350000"/>
                  </a:lnTo>
                  <a:lnTo>
                    <a:pt x="5857240" y="6350000"/>
                  </a:lnTo>
                  <a:lnTo>
                    <a:pt x="0" y="6350000"/>
                  </a:lnTo>
                  <a:lnTo>
                    <a:pt x="0" y="6350000"/>
                  </a:lnTo>
                  <a:lnTo>
                    <a:pt x="0" y="2928620"/>
                  </a:lnTo>
                  <a:cubicBezTo>
                    <a:pt x="0" y="1310640"/>
                    <a:pt x="1310640" y="0"/>
                    <a:pt x="2928620" y="0"/>
                  </a:cubicBezTo>
                  <a:close/>
                </a:path>
              </a:pathLst>
            </a:custGeom>
            <a:blipFill>
              <a:blip r:embed="rId4"/>
              <a:stretch>
                <a:fillRect l="-92819" t="-39917" r="-43108" b="-27241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2471363" y="7377533"/>
            <a:ext cx="4133422" cy="807071"/>
            <a:chOff x="0" y="0"/>
            <a:chExt cx="5511230" cy="1076095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95250"/>
              <a:ext cx="5511230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FFFFFF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Violla Bertson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1181580" y="573788"/>
              <a:ext cx="3148069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Lead analyst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021440" y="7377533"/>
            <a:ext cx="4133422" cy="807071"/>
            <a:chOff x="0" y="0"/>
            <a:chExt cx="5511230" cy="1076095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95250"/>
              <a:ext cx="5511230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FFFFFF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Nestore Intigua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1181580" y="573788"/>
              <a:ext cx="3148069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Campaign strategist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571517" y="7377533"/>
            <a:ext cx="4133422" cy="807071"/>
            <a:chOff x="0" y="0"/>
            <a:chExt cx="5511230" cy="1076095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-95250"/>
              <a:ext cx="5511230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FFFFFF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Olga Tronilsky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1181580" y="573788"/>
              <a:ext cx="3148069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FFFFF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Creative lead</a:t>
              </a: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028700" y="1028700"/>
            <a:ext cx="10317313" cy="1672905"/>
            <a:chOff x="0" y="0"/>
            <a:chExt cx="13756417" cy="2230541"/>
          </a:xfrm>
        </p:grpSpPr>
        <p:sp>
          <p:nvSpPr>
            <p:cNvPr name="TextBox 20" id="20"/>
            <p:cNvSpPr txBox="true"/>
            <p:nvPr/>
          </p:nvSpPr>
          <p:spPr>
            <a:xfrm rot="0">
              <a:off x="0" y="0"/>
              <a:ext cx="13756417" cy="1297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7743"/>
                </a:lnSpc>
                <a:spcBef>
                  <a:spcPct val="0"/>
                </a:spcBef>
              </a:pPr>
              <a:r>
                <a:rPr lang="en-US" b="true" sz="6399" u="non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Meet the Social Media Team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0" y="1434930"/>
              <a:ext cx="4806118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FFFFF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Report Authors</a:t>
              </a: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3" id="23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4" id="24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11848330" y="565810"/>
            <a:ext cx="5122282" cy="8092072"/>
            <a:chOff x="0" y="0"/>
            <a:chExt cx="401955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-1525" y="-733"/>
              <a:ext cx="4020060" cy="6350989"/>
            </a:xfrm>
            <a:custGeom>
              <a:avLst/>
              <a:gdLst/>
              <a:ahLst/>
              <a:cxnLst/>
              <a:rect r="r" b="b" t="t" l="l"/>
              <a:pathLst>
                <a:path h="6350989" w="4020060">
                  <a:moveTo>
                    <a:pt x="3087625" y="2643603"/>
                  </a:moveTo>
                  <a:cubicBezTo>
                    <a:pt x="3695955" y="2049243"/>
                    <a:pt x="3707385" y="1073883"/>
                    <a:pt x="3113025" y="464283"/>
                  </a:cubicBezTo>
                  <a:cubicBezTo>
                    <a:pt x="2518665" y="-145317"/>
                    <a:pt x="1543305" y="-155477"/>
                    <a:pt x="933705" y="438883"/>
                  </a:cubicBezTo>
                  <a:cubicBezTo>
                    <a:pt x="324105" y="1033243"/>
                    <a:pt x="313945" y="2008603"/>
                    <a:pt x="908305" y="2618203"/>
                  </a:cubicBezTo>
                  <a:cubicBezTo>
                    <a:pt x="917195" y="2627093"/>
                    <a:pt x="924815" y="2634713"/>
                    <a:pt x="933705" y="2643603"/>
                  </a:cubicBezTo>
                  <a:cubicBezTo>
                    <a:pt x="-3555" y="3237963"/>
                    <a:pt x="-281685" y="4480023"/>
                    <a:pt x="312675" y="5417283"/>
                  </a:cubicBezTo>
                  <a:cubicBezTo>
                    <a:pt x="907035" y="6354543"/>
                    <a:pt x="2149095" y="6632673"/>
                    <a:pt x="3086355" y="6038313"/>
                  </a:cubicBezTo>
                  <a:cubicBezTo>
                    <a:pt x="4023615" y="5443953"/>
                    <a:pt x="4301745" y="4201893"/>
                    <a:pt x="3707385" y="3264633"/>
                  </a:cubicBezTo>
                  <a:cubicBezTo>
                    <a:pt x="3549905" y="3014443"/>
                    <a:pt x="3337815" y="2802353"/>
                    <a:pt x="3087625" y="2643603"/>
                  </a:cubicBezTo>
                  <a:close/>
                </a:path>
              </a:pathLst>
            </a:custGeom>
            <a:solidFill>
              <a:srgbClr val="737373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8889740"/>
            <a:ext cx="18288000" cy="1411968"/>
            <a:chOff x="0" y="0"/>
            <a:chExt cx="6186311" cy="477629"/>
          </a:xfrm>
        </p:grpSpPr>
        <p:sp>
          <p:nvSpPr>
            <p:cNvPr name="Freeform 5" id="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186311" cy="477629"/>
            </a:xfrm>
            <a:custGeom>
              <a:avLst/>
              <a:gdLst/>
              <a:ahLst/>
              <a:cxnLst/>
              <a:rect r="r" b="b" t="t" l="l"/>
              <a:pathLst>
                <a:path h="477629" w="6186311">
                  <a:moveTo>
                    <a:pt x="0" y="0"/>
                  </a:moveTo>
                  <a:lnTo>
                    <a:pt x="6186311" y="0"/>
                  </a:lnTo>
                  <a:lnTo>
                    <a:pt x="6186311" y="477629"/>
                  </a:lnTo>
                  <a:lnTo>
                    <a:pt x="0" y="477629"/>
                  </a:lnTo>
                  <a:close/>
                </a:path>
              </a:pathLst>
            </a:custGeom>
            <a:solidFill>
              <a:srgbClr val="304543"/>
            </a:solidFill>
          </p:spPr>
        </p:sp>
      </p:grpSp>
      <p:sp>
        <p:nvSpPr>
          <p:cNvPr name="Freeform 6" id="6" descr="an illustration of a person holding a tablet"/>
          <p:cNvSpPr/>
          <p:nvPr/>
        </p:nvSpPr>
        <p:spPr>
          <a:xfrm flipH="false" flipV="false" rot="0">
            <a:off x="11673620" y="1721039"/>
            <a:ext cx="5443758" cy="7197276"/>
          </a:xfrm>
          <a:custGeom>
            <a:avLst/>
            <a:gdLst/>
            <a:ahLst/>
            <a:cxnLst/>
            <a:rect r="r" b="b" t="t" l="l"/>
            <a:pathLst>
              <a:path h="7197276" w="5443758">
                <a:moveTo>
                  <a:pt x="0" y="0"/>
                </a:moveTo>
                <a:lnTo>
                  <a:pt x="5443758" y="0"/>
                </a:lnTo>
                <a:lnTo>
                  <a:pt x="5443758" y="7197276"/>
                </a:lnTo>
                <a:lnTo>
                  <a:pt x="0" y="719727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grpSp>
        <p:nvGrpSpPr>
          <p:cNvPr name="Group 7" id="7"/>
          <p:cNvGrpSpPr/>
          <p:nvPr/>
        </p:nvGrpSpPr>
        <p:grpSpPr>
          <a:xfrm rot="0">
            <a:off x="1028700" y="3691795"/>
            <a:ext cx="4923828" cy="1732699"/>
            <a:chOff x="0" y="0"/>
            <a:chExt cx="6565104" cy="2310265"/>
          </a:xfrm>
        </p:grpSpPr>
        <p:sp>
          <p:nvSpPr>
            <p:cNvPr name="TextBox 8" id="8"/>
            <p:cNvSpPr txBox="true"/>
            <p:nvPr/>
          </p:nvSpPr>
          <p:spPr>
            <a:xfrm rot="0">
              <a:off x="0" y="-114300"/>
              <a:ext cx="6294721" cy="140887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959"/>
                </a:lnSpc>
                <a:spcBef>
                  <a:spcPct val="0"/>
                </a:spcBef>
              </a:pPr>
              <a:r>
                <a:rPr lang="en-US" b="true" sz="6399" u="none">
                  <a:solidFill>
                    <a:srgbClr val="000000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Contact us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1586409"/>
              <a:ext cx="6565104" cy="7238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320"/>
                </a:lnSpc>
                <a:spcBef>
                  <a:spcPct val="0"/>
                </a:spcBef>
              </a:pPr>
              <a:r>
                <a:rPr lang="en-US" b="true" sz="3600" u="none">
                  <a:solidFill>
                    <a:srgbClr val="000000"/>
                  </a:solidFill>
                  <a:latin typeface="Cormorant Garamond Semi-Bold"/>
                  <a:ea typeface="Cormorant Garamond Semi-Bold"/>
                  <a:cs typeface="Cormorant Garamond Semi-Bold"/>
                  <a:sym typeface="Cormorant Garamond Semi-Bold"/>
                </a:rPr>
                <a:t>For questions or comments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7012652" y="3089891"/>
            <a:ext cx="4262695" cy="815194"/>
            <a:chOff x="0" y="0"/>
            <a:chExt cx="5683593" cy="1086926"/>
          </a:xfrm>
        </p:grpSpPr>
        <p:sp>
          <p:nvSpPr>
            <p:cNvPr name="TextBox 11" id="11"/>
            <p:cNvSpPr txBox="true"/>
            <p:nvPr/>
          </p:nvSpPr>
          <p:spPr>
            <a:xfrm rot="0">
              <a:off x="0" y="-95250"/>
              <a:ext cx="5683593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Phone Number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0" y="584619"/>
              <a:ext cx="5683593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123-456-7890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012652" y="4452330"/>
            <a:ext cx="4262695" cy="815194"/>
            <a:chOff x="0" y="0"/>
            <a:chExt cx="5683593" cy="1086926"/>
          </a:xfrm>
        </p:grpSpPr>
        <p:sp>
          <p:nvSpPr>
            <p:cNvPr name="TextBox 14" id="14"/>
            <p:cNvSpPr txBox="true"/>
            <p:nvPr/>
          </p:nvSpPr>
          <p:spPr>
            <a:xfrm rot="0">
              <a:off x="0" y="-95250"/>
              <a:ext cx="5683593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Email Address</a:t>
              </a:r>
            </a:p>
          </p:txBody>
        </p:sp>
        <p:sp>
          <p:nvSpPr>
            <p:cNvPr name="TextBox 15" id="15"/>
            <p:cNvSpPr txBox="true"/>
            <p:nvPr/>
          </p:nvSpPr>
          <p:spPr>
            <a:xfrm rot="0">
              <a:off x="0" y="584619"/>
              <a:ext cx="5683593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hello@reallygreatsite.com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7012652" y="5871885"/>
            <a:ext cx="4262695" cy="815194"/>
            <a:chOff x="0" y="0"/>
            <a:chExt cx="5683593" cy="1086926"/>
          </a:xfrm>
        </p:grpSpPr>
        <p:sp>
          <p:nvSpPr>
            <p:cNvPr name="TextBox 17" id="17"/>
            <p:cNvSpPr txBox="true"/>
            <p:nvPr/>
          </p:nvSpPr>
          <p:spPr>
            <a:xfrm rot="0">
              <a:off x="0" y="-95250"/>
              <a:ext cx="5683593" cy="58036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840"/>
                </a:lnSpc>
                <a:spcBef>
                  <a:spcPct val="0"/>
                </a:spcBef>
              </a:pPr>
              <a:r>
                <a:rPr lang="en-US" b="true" sz="2400" u="none">
                  <a:solidFill>
                    <a:srgbClr val="000000">
                      <a:alpha val="80000"/>
                    </a:srgbClr>
                  </a:solidFill>
                  <a:latin typeface="HK Grotesk Semi-Bold"/>
                  <a:ea typeface="HK Grotesk Semi-Bold"/>
                  <a:cs typeface="HK Grotesk Semi-Bold"/>
                  <a:sym typeface="HK Grotesk Semi-Bold"/>
                </a:rPr>
                <a:t>Website</a:t>
              </a:r>
            </a:p>
          </p:txBody>
        </p:sp>
        <p:sp>
          <p:nvSpPr>
            <p:cNvPr name="TextBox 18" id="18"/>
            <p:cNvSpPr txBox="true"/>
            <p:nvPr/>
          </p:nvSpPr>
          <p:spPr>
            <a:xfrm rot="0">
              <a:off x="0" y="584619"/>
              <a:ext cx="5683593" cy="50230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1">
                <a:lnSpc>
                  <a:spcPts val="3360"/>
                </a:lnSpc>
                <a:spcBef>
                  <a:spcPct val="0"/>
                </a:spcBef>
              </a:pPr>
              <a:r>
                <a:rPr lang="en-US" sz="2100" u="none">
                  <a:solidFill>
                    <a:srgbClr val="000000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www.reallygreatsite.com</a:t>
              </a: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0" id="20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21" id="21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>
            <a:grpSpLocks noChangeAspect="true"/>
          </p:cNvGrpSpPr>
          <p:nvPr/>
        </p:nvGrpSpPr>
        <p:grpSpPr>
          <a:xfrm rot="0">
            <a:off x="4994768" y="1139021"/>
            <a:ext cx="8008958" cy="8008958"/>
            <a:chOff x="0" y="0"/>
            <a:chExt cx="6350000" cy="6350000"/>
          </a:xfrm>
        </p:grpSpPr>
        <p:sp>
          <p:nvSpPr>
            <p:cNvPr name="Freeform 3" id="3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false" flipV="false" rot="0">
              <a:off x="0" y="0"/>
              <a:ext cx="6351270" cy="6351270"/>
            </a:xfrm>
            <a:custGeom>
              <a:avLst/>
              <a:gdLst/>
              <a:ahLst/>
              <a:cxnLst/>
              <a:rect r="r" b="b" t="t" l="l"/>
              <a:pathLst>
                <a:path h="6351270" w="6351270">
                  <a:moveTo>
                    <a:pt x="3175000" y="1963420"/>
                  </a:moveTo>
                  <a:lnTo>
                    <a:pt x="3425190" y="0"/>
                  </a:lnTo>
                  <a:lnTo>
                    <a:pt x="3364230" y="1978660"/>
                  </a:lnTo>
                  <a:lnTo>
                    <a:pt x="3917950" y="78740"/>
                  </a:lnTo>
                  <a:lnTo>
                    <a:pt x="3548380" y="2023110"/>
                  </a:lnTo>
                  <a:lnTo>
                    <a:pt x="4392930" y="232410"/>
                  </a:lnTo>
                  <a:lnTo>
                    <a:pt x="3724910" y="2095500"/>
                  </a:lnTo>
                  <a:lnTo>
                    <a:pt x="4838700" y="459740"/>
                  </a:lnTo>
                  <a:lnTo>
                    <a:pt x="3886200" y="2194560"/>
                  </a:lnTo>
                  <a:lnTo>
                    <a:pt x="5243830" y="753110"/>
                  </a:lnTo>
                  <a:lnTo>
                    <a:pt x="4032250" y="2317750"/>
                  </a:lnTo>
                  <a:lnTo>
                    <a:pt x="5596890" y="1106170"/>
                  </a:lnTo>
                  <a:lnTo>
                    <a:pt x="4155440" y="2462530"/>
                  </a:lnTo>
                  <a:lnTo>
                    <a:pt x="5890260" y="1511300"/>
                  </a:lnTo>
                  <a:lnTo>
                    <a:pt x="4254500" y="2625090"/>
                  </a:lnTo>
                  <a:lnTo>
                    <a:pt x="6117590" y="1955800"/>
                  </a:lnTo>
                  <a:lnTo>
                    <a:pt x="4328160" y="2800350"/>
                  </a:lnTo>
                  <a:lnTo>
                    <a:pt x="6272530" y="2430780"/>
                  </a:lnTo>
                  <a:lnTo>
                    <a:pt x="4372610" y="2984500"/>
                  </a:lnTo>
                  <a:lnTo>
                    <a:pt x="6351270" y="2923540"/>
                  </a:lnTo>
                  <a:lnTo>
                    <a:pt x="4386580" y="3175000"/>
                  </a:lnTo>
                  <a:lnTo>
                    <a:pt x="6350000" y="3425190"/>
                  </a:lnTo>
                  <a:lnTo>
                    <a:pt x="4371340" y="3364230"/>
                  </a:lnTo>
                  <a:lnTo>
                    <a:pt x="6271260" y="3917950"/>
                  </a:lnTo>
                  <a:lnTo>
                    <a:pt x="4326890" y="3548380"/>
                  </a:lnTo>
                  <a:lnTo>
                    <a:pt x="6117590" y="4394200"/>
                  </a:lnTo>
                  <a:lnTo>
                    <a:pt x="4254500" y="3724910"/>
                  </a:lnTo>
                  <a:lnTo>
                    <a:pt x="5890260" y="4838700"/>
                  </a:lnTo>
                  <a:lnTo>
                    <a:pt x="4155440" y="3886200"/>
                  </a:lnTo>
                  <a:lnTo>
                    <a:pt x="5596890" y="5242560"/>
                  </a:lnTo>
                  <a:lnTo>
                    <a:pt x="4032250" y="4030980"/>
                  </a:lnTo>
                  <a:lnTo>
                    <a:pt x="5243830" y="5595620"/>
                  </a:lnTo>
                  <a:lnTo>
                    <a:pt x="3887470" y="4155440"/>
                  </a:lnTo>
                  <a:lnTo>
                    <a:pt x="4839970" y="5890260"/>
                  </a:lnTo>
                  <a:lnTo>
                    <a:pt x="3724910" y="4254500"/>
                  </a:lnTo>
                  <a:lnTo>
                    <a:pt x="4394200" y="6117590"/>
                  </a:lnTo>
                  <a:lnTo>
                    <a:pt x="3549650" y="4328160"/>
                  </a:lnTo>
                  <a:lnTo>
                    <a:pt x="3919220" y="6272530"/>
                  </a:lnTo>
                  <a:lnTo>
                    <a:pt x="3365500" y="4372610"/>
                  </a:lnTo>
                  <a:lnTo>
                    <a:pt x="3426460" y="6351270"/>
                  </a:lnTo>
                  <a:lnTo>
                    <a:pt x="3175000" y="4386580"/>
                  </a:lnTo>
                  <a:lnTo>
                    <a:pt x="2924810" y="6350000"/>
                  </a:lnTo>
                  <a:lnTo>
                    <a:pt x="2985770" y="4371340"/>
                  </a:lnTo>
                  <a:lnTo>
                    <a:pt x="2432050" y="6271260"/>
                  </a:lnTo>
                  <a:lnTo>
                    <a:pt x="2801620" y="4326890"/>
                  </a:lnTo>
                  <a:lnTo>
                    <a:pt x="1955800" y="6117590"/>
                  </a:lnTo>
                  <a:lnTo>
                    <a:pt x="2625090" y="4254500"/>
                  </a:lnTo>
                  <a:lnTo>
                    <a:pt x="1511300" y="5890260"/>
                  </a:lnTo>
                  <a:lnTo>
                    <a:pt x="2462530" y="4155440"/>
                  </a:lnTo>
                  <a:lnTo>
                    <a:pt x="1106170" y="5596890"/>
                  </a:lnTo>
                  <a:lnTo>
                    <a:pt x="2317750" y="4032250"/>
                  </a:lnTo>
                  <a:lnTo>
                    <a:pt x="753110" y="5243830"/>
                  </a:lnTo>
                  <a:lnTo>
                    <a:pt x="2194560" y="3887470"/>
                  </a:lnTo>
                  <a:lnTo>
                    <a:pt x="459740" y="4838700"/>
                  </a:lnTo>
                  <a:lnTo>
                    <a:pt x="2095500" y="3724910"/>
                  </a:lnTo>
                  <a:lnTo>
                    <a:pt x="232410" y="4394200"/>
                  </a:lnTo>
                  <a:lnTo>
                    <a:pt x="2023110" y="3549650"/>
                  </a:lnTo>
                  <a:lnTo>
                    <a:pt x="78740" y="3917950"/>
                  </a:lnTo>
                  <a:lnTo>
                    <a:pt x="1978660" y="3364230"/>
                  </a:lnTo>
                  <a:lnTo>
                    <a:pt x="0" y="3425190"/>
                  </a:lnTo>
                  <a:lnTo>
                    <a:pt x="1963420" y="3175000"/>
                  </a:lnTo>
                  <a:lnTo>
                    <a:pt x="0" y="2924810"/>
                  </a:lnTo>
                  <a:lnTo>
                    <a:pt x="1978660" y="2985770"/>
                  </a:lnTo>
                  <a:lnTo>
                    <a:pt x="78740" y="2432050"/>
                  </a:lnTo>
                  <a:lnTo>
                    <a:pt x="2023110" y="2801620"/>
                  </a:lnTo>
                  <a:lnTo>
                    <a:pt x="232410" y="1955800"/>
                  </a:lnTo>
                  <a:lnTo>
                    <a:pt x="2095500" y="2625090"/>
                  </a:lnTo>
                  <a:lnTo>
                    <a:pt x="459740" y="1511300"/>
                  </a:lnTo>
                  <a:lnTo>
                    <a:pt x="2194560" y="2462530"/>
                  </a:lnTo>
                  <a:lnTo>
                    <a:pt x="753110" y="1106170"/>
                  </a:lnTo>
                  <a:lnTo>
                    <a:pt x="2317750" y="2317750"/>
                  </a:lnTo>
                  <a:lnTo>
                    <a:pt x="1106170" y="753110"/>
                  </a:lnTo>
                  <a:lnTo>
                    <a:pt x="2462530" y="2194560"/>
                  </a:lnTo>
                  <a:lnTo>
                    <a:pt x="1511300" y="459740"/>
                  </a:lnTo>
                  <a:lnTo>
                    <a:pt x="2625090" y="2095500"/>
                  </a:lnTo>
                  <a:lnTo>
                    <a:pt x="1955800" y="232410"/>
                  </a:lnTo>
                  <a:lnTo>
                    <a:pt x="2800350" y="2023110"/>
                  </a:lnTo>
                  <a:lnTo>
                    <a:pt x="2432050" y="78740"/>
                  </a:lnTo>
                  <a:lnTo>
                    <a:pt x="2985770" y="1978660"/>
                  </a:lnTo>
                  <a:lnTo>
                    <a:pt x="2924810" y="0"/>
                  </a:lnTo>
                  <a:lnTo>
                    <a:pt x="3175000" y="1963420"/>
                  </a:lnTo>
                  <a:close/>
                </a:path>
              </a:pathLst>
            </a:custGeom>
            <a:solidFill>
              <a:srgbClr val="F5F5EF">
                <a:alpha val="9804"/>
              </a:srgbClr>
            </a:solidFill>
            <a:ln w="12700">
              <a:solidFill>
                <a:srgbClr val="000000"/>
              </a:solidFill>
            </a:ln>
          </p:spPr>
        </p:sp>
      </p:grpSp>
      <p:grpSp>
        <p:nvGrpSpPr>
          <p:cNvPr name="Group 4" id="4"/>
          <p:cNvGrpSpPr/>
          <p:nvPr/>
        </p:nvGrpSpPr>
        <p:grpSpPr>
          <a:xfrm rot="0">
            <a:off x="5079493" y="3075520"/>
            <a:ext cx="7839508" cy="3281684"/>
            <a:chOff x="0" y="0"/>
            <a:chExt cx="10452678" cy="4375579"/>
          </a:xfrm>
        </p:grpSpPr>
        <p:sp>
          <p:nvSpPr>
            <p:cNvPr name="TextBox 5" id="5"/>
            <p:cNvSpPr txBox="true"/>
            <p:nvPr/>
          </p:nvSpPr>
          <p:spPr>
            <a:xfrm rot="0">
              <a:off x="0" y="1062834"/>
              <a:ext cx="10452678" cy="191524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5880"/>
                </a:lnSpc>
                <a:spcBef>
                  <a:spcPct val="0"/>
                </a:spcBef>
              </a:pPr>
              <a:r>
                <a:rPr lang="en-US" b="true" sz="4200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“S</a:t>
              </a:r>
              <a:r>
                <a:rPr lang="en-US" b="true" sz="4200" u="non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uccess begins in the mind; envision it, and your path will follow.”</a:t>
              </a:r>
            </a:p>
          </p:txBody>
        </p:sp>
        <p:sp>
          <p:nvSpPr>
            <p:cNvPr name="TextBox 6" id="6"/>
            <p:cNvSpPr txBox="true"/>
            <p:nvPr/>
          </p:nvSpPr>
          <p:spPr>
            <a:xfrm rot="0">
              <a:off x="1044846" y="3579968"/>
              <a:ext cx="8362987" cy="795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3600">
                  <a:solidFill>
                    <a:srgbClr val="F5F5EF"/>
                  </a:solidFill>
                  <a:latin typeface="Cormorant Garamond Medium"/>
                  <a:ea typeface="Cormorant Garamond Medium"/>
                  <a:cs typeface="Cormorant Garamond Medium"/>
                  <a:sym typeface="Cormorant Garamond Medium"/>
                </a:rPr>
                <a:t>— Laurence Yáo</a:t>
              </a:r>
            </a:p>
          </p:txBody>
        </p:sp>
        <p:sp>
          <p:nvSpPr>
            <p:cNvPr name="Freeform 7" id="7"/>
            <p:cNvSpPr/>
            <p:nvPr/>
          </p:nvSpPr>
          <p:spPr>
            <a:xfrm flipH="false" flipV="false" rot="0">
              <a:off x="5092900" y="0"/>
              <a:ext cx="652887" cy="515187"/>
            </a:xfrm>
            <a:custGeom>
              <a:avLst/>
              <a:gdLst/>
              <a:ahLst/>
              <a:cxnLst/>
              <a:rect r="r" b="b" t="t" l="l"/>
              <a:pathLst>
                <a:path h="515187" w="652887">
                  <a:moveTo>
                    <a:pt x="0" y="0"/>
                  </a:moveTo>
                  <a:lnTo>
                    <a:pt x="652886" y="0"/>
                  </a:lnTo>
                  <a:lnTo>
                    <a:pt x="652886" y="515187"/>
                  </a:lnTo>
                  <a:lnTo>
                    <a:pt x="0" y="5151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TextBox 8" id="8"/>
          <p:cNvSpPr txBox="true"/>
          <p:nvPr/>
        </p:nvSpPr>
        <p:spPr>
          <a:xfrm rot="0">
            <a:off x="1088876" y="9447411"/>
            <a:ext cx="3685481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9" id="9"/>
          <p:cNvSpPr txBox="true"/>
          <p:nvPr/>
        </p:nvSpPr>
        <p:spPr>
          <a:xfrm rot="0">
            <a:off x="15205449" y="9452174"/>
            <a:ext cx="2078929" cy="2406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/>
        </p:txBody>
      </p:sp>
      <p:sp>
        <p:nvSpPr>
          <p:cNvPr name="TextBox 10" id="10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863856"/>
            <a:ext cx="5732932" cy="2559287"/>
            <a:chOff x="0" y="0"/>
            <a:chExt cx="7643909" cy="3412383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0"/>
              <a:ext cx="7643909" cy="14223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8400"/>
                </a:lnSpc>
              </a:pPr>
              <a:r>
                <a:rPr lang="en-US" sz="7000" b="tru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Resource Page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49912"/>
              <a:ext cx="7643909" cy="146247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</a:pPr>
              <a:r>
                <a:rPr lang="en-US" sz="2100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Use</a:t>
              </a:r>
              <a:r>
                <a:rPr lang="en-US" sz="2100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 these in your presentation. </a:t>
              </a:r>
            </a:p>
            <a:p>
              <a:pPr algn="l" marL="0" indent="0" lvl="0">
                <a:lnSpc>
                  <a:spcPts val="2940"/>
                </a:lnSpc>
              </a:pPr>
            </a:p>
            <a:p>
              <a:pPr algn="l" marL="0" indent="0" lvl="0">
                <a:lnSpc>
                  <a:spcPts val="2940"/>
                </a:lnSpc>
              </a:pPr>
              <a:r>
                <a:rPr lang="en-US" sz="2100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Delete or hide this page before presenting. </a:t>
              </a:r>
            </a:p>
          </p:txBody>
        </p:sp>
      </p:grpSp>
      <p:sp>
        <p:nvSpPr>
          <p:cNvPr name="Freeform 5" id="5" descr="monoline announcement icon"/>
          <p:cNvSpPr/>
          <p:nvPr/>
        </p:nvSpPr>
        <p:spPr>
          <a:xfrm flipH="false" flipV="false" rot="0">
            <a:off x="13753693" y="4791893"/>
            <a:ext cx="718749" cy="700453"/>
          </a:xfrm>
          <a:custGeom>
            <a:avLst/>
            <a:gdLst/>
            <a:ahLst/>
            <a:cxnLst/>
            <a:rect r="r" b="b" t="t" l="l"/>
            <a:pathLst>
              <a:path h="700453" w="718749">
                <a:moveTo>
                  <a:pt x="0" y="0"/>
                </a:moveTo>
                <a:lnTo>
                  <a:pt x="718749" y="0"/>
                </a:lnTo>
                <a:lnTo>
                  <a:pt x="718749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6" id="6" descr="monoline brainstorm icon"/>
          <p:cNvSpPr/>
          <p:nvPr/>
        </p:nvSpPr>
        <p:spPr>
          <a:xfrm flipH="false" flipV="false" rot="0">
            <a:off x="12021694" y="4791893"/>
            <a:ext cx="709483" cy="700453"/>
          </a:xfrm>
          <a:custGeom>
            <a:avLst/>
            <a:gdLst/>
            <a:ahLst/>
            <a:cxnLst/>
            <a:rect r="r" b="b" t="t" l="l"/>
            <a:pathLst>
              <a:path h="700453" w="709483">
                <a:moveTo>
                  <a:pt x="0" y="0"/>
                </a:moveTo>
                <a:lnTo>
                  <a:pt x="709483" y="0"/>
                </a:lnTo>
                <a:lnTo>
                  <a:pt x="709483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7" id="7" descr="monoline care icon"/>
          <p:cNvSpPr/>
          <p:nvPr/>
        </p:nvSpPr>
        <p:spPr>
          <a:xfrm flipH="false" flipV="false" rot="0">
            <a:off x="15422891" y="4791893"/>
            <a:ext cx="718749" cy="700453"/>
          </a:xfrm>
          <a:custGeom>
            <a:avLst/>
            <a:gdLst/>
            <a:ahLst/>
            <a:cxnLst/>
            <a:rect r="r" b="b" t="t" l="l"/>
            <a:pathLst>
              <a:path h="700453" w="718749">
                <a:moveTo>
                  <a:pt x="0" y="0"/>
                </a:moveTo>
                <a:lnTo>
                  <a:pt x="718748" y="0"/>
                </a:lnTo>
                <a:lnTo>
                  <a:pt x="718748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8" id="8" descr="monoline visibility icon"/>
          <p:cNvSpPr/>
          <p:nvPr/>
        </p:nvSpPr>
        <p:spPr>
          <a:xfrm flipH="false" flipV="false" rot="0">
            <a:off x="8752183" y="4791893"/>
            <a:ext cx="700453" cy="700453"/>
          </a:xfrm>
          <a:custGeom>
            <a:avLst/>
            <a:gdLst/>
            <a:ahLst/>
            <a:cxnLst/>
            <a:rect r="r" b="b" t="t" l="l"/>
            <a:pathLst>
              <a:path h="700453" w="700453">
                <a:moveTo>
                  <a:pt x="0" y="0"/>
                </a:moveTo>
                <a:lnTo>
                  <a:pt x="700454" y="0"/>
                </a:lnTo>
                <a:lnTo>
                  <a:pt x="700454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9" id="9" descr="monoline gear icon"/>
          <p:cNvSpPr/>
          <p:nvPr/>
        </p:nvSpPr>
        <p:spPr>
          <a:xfrm flipH="false" flipV="false" rot="0">
            <a:off x="10386113" y="4791893"/>
            <a:ext cx="700453" cy="700453"/>
          </a:xfrm>
          <a:custGeom>
            <a:avLst/>
            <a:gdLst/>
            <a:ahLst/>
            <a:cxnLst/>
            <a:rect r="r" b="b" t="t" l="l"/>
            <a:pathLst>
              <a:path h="700453" w="700453">
                <a:moveTo>
                  <a:pt x="0" y="0"/>
                </a:moveTo>
                <a:lnTo>
                  <a:pt x="700453" y="0"/>
                </a:lnTo>
                <a:lnTo>
                  <a:pt x="700453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0" id="10" descr="monoline teamwork icon"/>
          <p:cNvSpPr/>
          <p:nvPr/>
        </p:nvSpPr>
        <p:spPr>
          <a:xfrm flipH="false" flipV="false" rot="0">
            <a:off x="10426867" y="1509400"/>
            <a:ext cx="618946" cy="700453"/>
          </a:xfrm>
          <a:custGeom>
            <a:avLst/>
            <a:gdLst/>
            <a:ahLst/>
            <a:cxnLst/>
            <a:rect r="r" b="b" t="t" l="l"/>
            <a:pathLst>
              <a:path h="700453" w="618946">
                <a:moveTo>
                  <a:pt x="0" y="0"/>
                </a:moveTo>
                <a:lnTo>
                  <a:pt x="618946" y="0"/>
                </a:lnTo>
                <a:lnTo>
                  <a:pt x="618946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1" id="11" descr="monoline talking icon"/>
          <p:cNvSpPr/>
          <p:nvPr/>
        </p:nvSpPr>
        <p:spPr>
          <a:xfrm flipH="false" flipV="false" rot="0">
            <a:off x="15445411" y="1509400"/>
            <a:ext cx="673709" cy="700453"/>
          </a:xfrm>
          <a:custGeom>
            <a:avLst/>
            <a:gdLst/>
            <a:ahLst/>
            <a:cxnLst/>
            <a:rect r="r" b="b" t="t" l="l"/>
            <a:pathLst>
              <a:path h="700453" w="673709">
                <a:moveTo>
                  <a:pt x="0" y="0"/>
                </a:moveTo>
                <a:lnTo>
                  <a:pt x="673708" y="0"/>
                </a:lnTo>
                <a:lnTo>
                  <a:pt x="673708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2" id="12" descr="monoline goal icon"/>
          <p:cNvSpPr/>
          <p:nvPr/>
        </p:nvSpPr>
        <p:spPr>
          <a:xfrm flipH="false" flipV="false" rot="0">
            <a:off x="12065052" y="1509400"/>
            <a:ext cx="622767" cy="700453"/>
          </a:xfrm>
          <a:custGeom>
            <a:avLst/>
            <a:gdLst/>
            <a:ahLst/>
            <a:cxnLst/>
            <a:rect r="r" b="b" t="t" l="l"/>
            <a:pathLst>
              <a:path h="700453" w="622767">
                <a:moveTo>
                  <a:pt x="0" y="0"/>
                </a:moveTo>
                <a:lnTo>
                  <a:pt x="622767" y="0"/>
                </a:lnTo>
                <a:lnTo>
                  <a:pt x="622767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3" id="13" descr="monoline partnership icon"/>
          <p:cNvSpPr/>
          <p:nvPr/>
        </p:nvSpPr>
        <p:spPr>
          <a:xfrm flipH="false" flipV="false" rot="0">
            <a:off x="8673402" y="1509400"/>
            <a:ext cx="858016" cy="700453"/>
          </a:xfrm>
          <a:custGeom>
            <a:avLst/>
            <a:gdLst/>
            <a:ahLst/>
            <a:cxnLst/>
            <a:rect r="r" b="b" t="t" l="l"/>
            <a:pathLst>
              <a:path h="700453" w="858016">
                <a:moveTo>
                  <a:pt x="0" y="0"/>
                </a:moveTo>
                <a:lnTo>
                  <a:pt x="858016" y="0"/>
                </a:lnTo>
                <a:lnTo>
                  <a:pt x="858016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  <p:txBody>
          <a:bodyPr/>
          <a:p/>
        </p:txBody>
      </p:sp>
      <p:sp>
        <p:nvSpPr>
          <p:cNvPr name="Freeform 14" id="14" descr="monoline positive avatar icon"/>
          <p:cNvSpPr/>
          <p:nvPr/>
        </p:nvSpPr>
        <p:spPr>
          <a:xfrm flipH="false" flipV="false" rot="0">
            <a:off x="13801684" y="1509400"/>
            <a:ext cx="622767" cy="700453"/>
          </a:xfrm>
          <a:custGeom>
            <a:avLst/>
            <a:gdLst/>
            <a:ahLst/>
            <a:cxnLst/>
            <a:rect r="r" b="b" t="t" l="l"/>
            <a:pathLst>
              <a:path h="700453" w="622767">
                <a:moveTo>
                  <a:pt x="0" y="0"/>
                </a:moveTo>
                <a:lnTo>
                  <a:pt x="622767" y="0"/>
                </a:lnTo>
                <a:lnTo>
                  <a:pt x="622767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5" id="15" descr="monoline thinking icon"/>
          <p:cNvSpPr/>
          <p:nvPr/>
        </p:nvSpPr>
        <p:spPr>
          <a:xfrm flipH="false" flipV="false" rot="0">
            <a:off x="13790222" y="3150647"/>
            <a:ext cx="645691" cy="700453"/>
          </a:xfrm>
          <a:custGeom>
            <a:avLst/>
            <a:gdLst/>
            <a:ahLst/>
            <a:cxnLst/>
            <a:rect r="r" b="b" t="t" l="l"/>
            <a:pathLst>
              <a:path h="700453" w="645691">
                <a:moveTo>
                  <a:pt x="0" y="0"/>
                </a:moveTo>
                <a:lnTo>
                  <a:pt x="645691" y="0"/>
                </a:lnTo>
                <a:lnTo>
                  <a:pt x="645691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6" id="16" descr="monoline fist icon"/>
          <p:cNvSpPr/>
          <p:nvPr/>
        </p:nvSpPr>
        <p:spPr>
          <a:xfrm flipH="false" flipV="false" rot="0">
            <a:off x="8847700" y="3150647"/>
            <a:ext cx="509421" cy="700453"/>
          </a:xfrm>
          <a:custGeom>
            <a:avLst/>
            <a:gdLst/>
            <a:ahLst/>
            <a:cxnLst/>
            <a:rect r="r" b="b" t="t" l="l"/>
            <a:pathLst>
              <a:path h="700453" w="509421">
                <a:moveTo>
                  <a:pt x="0" y="0"/>
                </a:moveTo>
                <a:lnTo>
                  <a:pt x="509420" y="0"/>
                </a:lnTo>
                <a:lnTo>
                  <a:pt x="509420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7" id="17" descr="monoline question icon"/>
          <p:cNvSpPr/>
          <p:nvPr/>
        </p:nvSpPr>
        <p:spPr>
          <a:xfrm flipH="false" flipV="false" rot="0">
            <a:off x="15459420" y="3150647"/>
            <a:ext cx="645691" cy="700453"/>
          </a:xfrm>
          <a:custGeom>
            <a:avLst/>
            <a:gdLst/>
            <a:ahLst/>
            <a:cxnLst/>
            <a:rect r="r" b="b" t="t" l="l"/>
            <a:pathLst>
              <a:path h="700453" w="645691">
                <a:moveTo>
                  <a:pt x="0" y="0"/>
                </a:moveTo>
                <a:lnTo>
                  <a:pt x="645690" y="0"/>
                </a:lnTo>
                <a:lnTo>
                  <a:pt x="645690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8" id="18" descr="monoline passion icon"/>
          <p:cNvSpPr/>
          <p:nvPr/>
        </p:nvSpPr>
        <p:spPr>
          <a:xfrm flipH="false" flipV="false" rot="0">
            <a:off x="12086703" y="3150647"/>
            <a:ext cx="579466" cy="700453"/>
          </a:xfrm>
          <a:custGeom>
            <a:avLst/>
            <a:gdLst/>
            <a:ahLst/>
            <a:cxnLst/>
            <a:rect r="r" b="b" t="t" l="l"/>
            <a:pathLst>
              <a:path h="700453" w="579466">
                <a:moveTo>
                  <a:pt x="0" y="0"/>
                </a:moveTo>
                <a:lnTo>
                  <a:pt x="579466" y="0"/>
                </a:lnTo>
                <a:lnTo>
                  <a:pt x="579466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19" id="19" descr="monoline security protection icon"/>
          <p:cNvSpPr/>
          <p:nvPr/>
        </p:nvSpPr>
        <p:spPr>
          <a:xfrm flipH="false" flipV="false" rot="0">
            <a:off x="10450427" y="3150647"/>
            <a:ext cx="571825" cy="700453"/>
          </a:xfrm>
          <a:custGeom>
            <a:avLst/>
            <a:gdLst/>
            <a:ahLst/>
            <a:cxnLst/>
            <a:rect r="r" b="b" t="t" l="l"/>
            <a:pathLst>
              <a:path h="700453" w="571825">
                <a:moveTo>
                  <a:pt x="0" y="0"/>
                </a:moveTo>
                <a:lnTo>
                  <a:pt x="571825" y="0"/>
                </a:lnTo>
                <a:lnTo>
                  <a:pt x="571825" y="700453"/>
                </a:lnTo>
                <a:lnTo>
                  <a:pt x="0" y="700453"/>
                </a:lnTo>
                <a:lnTo>
                  <a:pt x="0" y="0"/>
                </a:lnTo>
                <a:close/>
              </a:path>
            </a:pathLst>
          </a:custGeom>
          <a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0" id="20" descr="monoline like and dislike icon"/>
          <p:cNvSpPr/>
          <p:nvPr/>
        </p:nvSpPr>
        <p:spPr>
          <a:xfrm flipH="false" flipV="false" rot="0">
            <a:off x="12017061" y="6439228"/>
            <a:ext cx="718749" cy="700453"/>
          </a:xfrm>
          <a:custGeom>
            <a:avLst/>
            <a:gdLst/>
            <a:ahLst/>
            <a:cxnLst/>
            <a:rect r="r" b="b" t="t" l="l"/>
            <a:pathLst>
              <a:path h="700453" w="718749">
                <a:moveTo>
                  <a:pt x="0" y="0"/>
                </a:moveTo>
                <a:lnTo>
                  <a:pt x="718749" y="0"/>
                </a:lnTo>
                <a:lnTo>
                  <a:pt x="718749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32">
              <a:extLst>
                <a:ext uri="{96DAC541-7B7A-43D3-8B79-37D633B846F1}">
                  <asvg:svgBlip xmlns:asvg="http://schemas.microsoft.com/office/drawing/2016/SVG/main" r:embed="rId3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1" id="21" descr="monoline eye scan icon"/>
          <p:cNvSpPr/>
          <p:nvPr/>
        </p:nvSpPr>
        <p:spPr>
          <a:xfrm flipH="false" flipV="false" rot="0">
            <a:off x="8761735" y="6439228"/>
            <a:ext cx="681350" cy="700453"/>
          </a:xfrm>
          <a:custGeom>
            <a:avLst/>
            <a:gdLst/>
            <a:ahLst/>
            <a:cxnLst/>
            <a:rect r="r" b="b" t="t" l="l"/>
            <a:pathLst>
              <a:path h="700453" w="681350">
                <a:moveTo>
                  <a:pt x="0" y="0"/>
                </a:moveTo>
                <a:lnTo>
                  <a:pt x="681350" y="0"/>
                </a:lnTo>
                <a:lnTo>
                  <a:pt x="681350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2" id="22" descr="monoline star employee icon"/>
          <p:cNvSpPr/>
          <p:nvPr/>
        </p:nvSpPr>
        <p:spPr>
          <a:xfrm flipH="false" flipV="false" rot="0">
            <a:off x="10386113" y="6439228"/>
            <a:ext cx="700453" cy="700453"/>
          </a:xfrm>
          <a:custGeom>
            <a:avLst/>
            <a:gdLst/>
            <a:ahLst/>
            <a:cxnLst/>
            <a:rect r="r" b="b" t="t" l="l"/>
            <a:pathLst>
              <a:path h="700453" w="700453">
                <a:moveTo>
                  <a:pt x="0" y="0"/>
                </a:moveTo>
                <a:lnTo>
                  <a:pt x="700453" y="0"/>
                </a:lnTo>
                <a:lnTo>
                  <a:pt x="700453" y="700454"/>
                </a:lnTo>
                <a:lnTo>
                  <a:pt x="0" y="700454"/>
                </a:lnTo>
                <a:lnTo>
                  <a:pt x="0" y="0"/>
                </a:lnTo>
                <a:close/>
              </a:path>
            </a:pathLst>
          </a:custGeom>
          <a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3" id="23" descr="monoline timer icon"/>
          <p:cNvSpPr/>
          <p:nvPr/>
        </p:nvSpPr>
        <p:spPr>
          <a:xfrm flipH="false" flipV="false" rot="0">
            <a:off x="15481663" y="6439228"/>
            <a:ext cx="601203" cy="706542"/>
          </a:xfrm>
          <a:custGeom>
            <a:avLst/>
            <a:gdLst/>
            <a:ahLst/>
            <a:cxnLst/>
            <a:rect r="r" b="b" t="t" l="l"/>
            <a:pathLst>
              <a:path h="706542" w="601203">
                <a:moveTo>
                  <a:pt x="0" y="0"/>
                </a:moveTo>
                <a:lnTo>
                  <a:pt x="601204" y="0"/>
                </a:lnTo>
                <a:lnTo>
                  <a:pt x="601204" y="706543"/>
                </a:lnTo>
                <a:lnTo>
                  <a:pt x="0" y="706543"/>
                </a:lnTo>
                <a:lnTo>
                  <a:pt x="0" y="0"/>
                </a:lnTo>
                <a:close/>
              </a:path>
            </a:pathLst>
          </a:custGeom>
          <a:blipFill>
            <a:blip r:embed="rId38">
              <a:extLst>
                <a:ext uri="{96DAC541-7B7A-43D3-8B79-37D633B846F1}">
                  <asvg:svgBlip xmlns:asvg="http://schemas.microsoft.com/office/drawing/2016/SVG/main" r:embed="rId3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4" id="24" descr="monoline trophy icon"/>
          <p:cNvSpPr/>
          <p:nvPr/>
        </p:nvSpPr>
        <p:spPr>
          <a:xfrm flipH="false" flipV="false" rot="0">
            <a:off x="13851647" y="6433139"/>
            <a:ext cx="522841" cy="706542"/>
          </a:xfrm>
          <a:custGeom>
            <a:avLst/>
            <a:gdLst/>
            <a:ahLst/>
            <a:cxnLst/>
            <a:rect r="r" b="b" t="t" l="l"/>
            <a:pathLst>
              <a:path h="706542" w="522841">
                <a:moveTo>
                  <a:pt x="0" y="0"/>
                </a:moveTo>
                <a:lnTo>
                  <a:pt x="522841" y="0"/>
                </a:lnTo>
                <a:lnTo>
                  <a:pt x="522841" y="706543"/>
                </a:lnTo>
                <a:lnTo>
                  <a:pt x="0" y="706543"/>
                </a:lnTo>
                <a:lnTo>
                  <a:pt x="0" y="0"/>
                </a:lnTo>
                <a:close/>
              </a:path>
            </a:pathLst>
          </a:custGeom>
          <a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5" id="25" descr="monoline growth icon"/>
          <p:cNvSpPr/>
          <p:nvPr/>
        </p:nvSpPr>
        <p:spPr>
          <a:xfrm flipH="false" flipV="false" rot="0">
            <a:off x="10424802" y="8083892"/>
            <a:ext cx="623076" cy="693708"/>
          </a:xfrm>
          <a:custGeom>
            <a:avLst/>
            <a:gdLst/>
            <a:ahLst/>
            <a:cxnLst/>
            <a:rect r="r" b="b" t="t" l="l"/>
            <a:pathLst>
              <a:path h="693708" w="623076">
                <a:moveTo>
                  <a:pt x="0" y="0"/>
                </a:moveTo>
                <a:lnTo>
                  <a:pt x="623075" y="0"/>
                </a:lnTo>
                <a:lnTo>
                  <a:pt x="623075" y="693708"/>
                </a:lnTo>
                <a:lnTo>
                  <a:pt x="0" y="6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2">
              <a:extLst>
                <a:ext uri="{96DAC541-7B7A-43D3-8B79-37D633B846F1}">
                  <asvg:svgBlip xmlns:asvg="http://schemas.microsoft.com/office/drawing/2016/SVG/main" r:embed="rId4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6" id="26" descr="monoline puzzle piece icon"/>
          <p:cNvSpPr/>
          <p:nvPr/>
        </p:nvSpPr>
        <p:spPr>
          <a:xfrm flipH="false" flipV="false" rot="0">
            <a:off x="15439826" y="8083892"/>
            <a:ext cx="684879" cy="693708"/>
          </a:xfrm>
          <a:custGeom>
            <a:avLst/>
            <a:gdLst/>
            <a:ahLst/>
            <a:cxnLst/>
            <a:rect r="r" b="b" t="t" l="l"/>
            <a:pathLst>
              <a:path h="693708" w="684879">
                <a:moveTo>
                  <a:pt x="0" y="0"/>
                </a:moveTo>
                <a:lnTo>
                  <a:pt x="684878" y="0"/>
                </a:lnTo>
                <a:lnTo>
                  <a:pt x="684878" y="693708"/>
                </a:lnTo>
                <a:lnTo>
                  <a:pt x="0" y="6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4">
              <a:extLst>
                <a:ext uri="{96DAC541-7B7A-43D3-8B79-37D633B846F1}">
                  <asvg:svgBlip xmlns:asvg="http://schemas.microsoft.com/office/drawing/2016/SVG/main" r:embed="rId45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7" id="27" descr="monoline writer icon"/>
          <p:cNvSpPr/>
          <p:nvPr/>
        </p:nvSpPr>
        <p:spPr>
          <a:xfrm flipH="false" flipV="false" rot="0">
            <a:off x="13797746" y="8083892"/>
            <a:ext cx="630643" cy="693708"/>
          </a:xfrm>
          <a:custGeom>
            <a:avLst/>
            <a:gdLst/>
            <a:ahLst/>
            <a:cxnLst/>
            <a:rect r="r" b="b" t="t" l="l"/>
            <a:pathLst>
              <a:path h="693708" w="630643">
                <a:moveTo>
                  <a:pt x="0" y="0"/>
                </a:moveTo>
                <a:lnTo>
                  <a:pt x="630643" y="0"/>
                </a:lnTo>
                <a:lnTo>
                  <a:pt x="630643" y="693708"/>
                </a:lnTo>
                <a:lnTo>
                  <a:pt x="0" y="6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8" id="28" descr="monoline infinite learning icon"/>
          <p:cNvSpPr/>
          <p:nvPr/>
        </p:nvSpPr>
        <p:spPr>
          <a:xfrm flipH="false" flipV="false" rot="0">
            <a:off x="8825558" y="8083892"/>
            <a:ext cx="553705" cy="693708"/>
          </a:xfrm>
          <a:custGeom>
            <a:avLst/>
            <a:gdLst/>
            <a:ahLst/>
            <a:cxnLst/>
            <a:rect r="r" b="b" t="t" l="l"/>
            <a:pathLst>
              <a:path h="693708" w="553705">
                <a:moveTo>
                  <a:pt x="0" y="0"/>
                </a:moveTo>
                <a:lnTo>
                  <a:pt x="553704" y="0"/>
                </a:lnTo>
                <a:lnTo>
                  <a:pt x="553704" y="693708"/>
                </a:lnTo>
                <a:lnTo>
                  <a:pt x="0" y="6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Freeform 29" id="29" descr="monoline sun in hand icon"/>
          <p:cNvSpPr/>
          <p:nvPr/>
        </p:nvSpPr>
        <p:spPr>
          <a:xfrm flipH="false" flipV="false" rot="0">
            <a:off x="12064898" y="8083892"/>
            <a:ext cx="623076" cy="693708"/>
          </a:xfrm>
          <a:custGeom>
            <a:avLst/>
            <a:gdLst/>
            <a:ahLst/>
            <a:cxnLst/>
            <a:rect r="r" b="b" t="t" l="l"/>
            <a:pathLst>
              <a:path h="693708" w="623076">
                <a:moveTo>
                  <a:pt x="0" y="0"/>
                </a:moveTo>
                <a:lnTo>
                  <a:pt x="623075" y="0"/>
                </a:lnTo>
                <a:lnTo>
                  <a:pt x="623075" y="693708"/>
                </a:lnTo>
                <a:lnTo>
                  <a:pt x="0" y="693708"/>
                </a:lnTo>
                <a:lnTo>
                  <a:pt x="0" y="0"/>
                </a:lnTo>
                <a:close/>
              </a:path>
            </a:pathLst>
          </a:custGeom>
          <a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name="TextBox 30" id="30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678110"/>
            <a:ext cx="5732932" cy="2930779"/>
            <a:chOff x="0" y="0"/>
            <a:chExt cx="7643909" cy="3907705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0"/>
              <a:ext cx="7643909" cy="14223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400"/>
                </a:lnSpc>
                <a:spcBef>
                  <a:spcPct val="0"/>
                </a:spcBef>
              </a:pPr>
              <a:r>
                <a:rPr lang="en-US" b="true" sz="7000" strike="noStrike" u="non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Resource Page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49912"/>
              <a:ext cx="7643909" cy="1957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Find the magic in presenting. Select these keys while in Present mode. </a:t>
              </a:r>
            </a:p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</a:p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Delete or hide this page before presenting. </a:t>
              </a:r>
            </a:p>
          </p:txBody>
        </p:sp>
      </p:grp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8075661" y="1220462"/>
          <a:ext cx="8584072" cy="7846076"/>
        </p:xfrm>
        <a:graphic>
          <a:graphicData uri="http://schemas.openxmlformats.org/drawingml/2006/table">
            <a:tbl>
              <a:tblPr/>
              <a:tblGrid>
                <a:gridCol w="4332008"/>
                <a:gridCol w="4252064"/>
              </a:tblGrid>
              <a:tr h="193886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B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blur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C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confetti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93886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D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a drumroll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M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mic drop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938869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O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bubbles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Q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quiet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202947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U</a:t>
                      </a: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for unveil</a:t>
                      </a:r>
                      <a:endParaRPr lang="en-US" sz="1100"/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3500"/>
                        </a:lnSpc>
                        <a:defRPr/>
                      </a:pP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Any number from </a:t>
                      </a:r>
                      <a:r>
                        <a:rPr lang="en-US" b="true" sz="25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0-9</a:t>
                      </a:r>
                      <a:endParaRPr lang="en-US" sz="1100"/>
                    </a:p>
                    <a:p>
                      <a:pPr algn="ctr">
                        <a:lnSpc>
                          <a:spcPts val="3500"/>
                        </a:lnSpc>
                      </a:pPr>
                      <a:r>
                        <a:rPr lang="en-US" sz="25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for a timer</a:t>
                      </a:r>
                    </a:p>
                  </a:txBody>
                  <a:tcPr marL="47625" marR="47625" marT="47625" marB="47625" anchor="ctr">
                    <a:lnL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name="TextBox 6" id="6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304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3306619"/>
            <a:ext cx="5732932" cy="3673762"/>
            <a:chOff x="0" y="0"/>
            <a:chExt cx="7643909" cy="4898349"/>
          </a:xfrm>
        </p:grpSpPr>
        <p:sp>
          <p:nvSpPr>
            <p:cNvPr name="TextBox 3" id="3"/>
            <p:cNvSpPr txBox="true"/>
            <p:nvPr/>
          </p:nvSpPr>
          <p:spPr>
            <a:xfrm rot="0">
              <a:off x="0" y="0"/>
              <a:ext cx="7643909" cy="14223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8400"/>
                </a:lnSpc>
                <a:spcBef>
                  <a:spcPct val="0"/>
                </a:spcBef>
              </a:pPr>
              <a:r>
                <a:rPr lang="en-US" b="true" sz="7000" strike="noStrike" u="none">
                  <a:solidFill>
                    <a:srgbClr val="F5F5EF"/>
                  </a:solidFill>
                  <a:latin typeface="Cormorant Garamond Bold"/>
                  <a:ea typeface="Cormorant Garamond Bold"/>
                  <a:cs typeface="Cormorant Garamond Bold"/>
                  <a:sym typeface="Cormorant Garamond Bold"/>
                </a:rPr>
                <a:t>Resource Page</a:t>
              </a:r>
            </a:p>
          </p:txBody>
        </p:sp>
        <p:sp>
          <p:nvSpPr>
            <p:cNvPr name="TextBox 4" id="4"/>
            <p:cNvSpPr txBox="true"/>
            <p:nvPr/>
          </p:nvSpPr>
          <p:spPr>
            <a:xfrm rot="0">
              <a:off x="0" y="1949912"/>
              <a:ext cx="7643909" cy="294843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Want more flexibility as a presenter? Record your presentation to engage in a way that works for you — and let your audience watch in a way that works for them. </a:t>
              </a:r>
            </a:p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</a:p>
            <a:p>
              <a:pPr algn="l" marL="0" indent="0" lvl="0">
                <a:lnSpc>
                  <a:spcPts val="2940"/>
                </a:lnSpc>
                <a:spcBef>
                  <a:spcPct val="0"/>
                </a:spcBef>
              </a:pPr>
              <a:r>
                <a:rPr lang="en-US" sz="2100" strike="noStrike" u="none">
                  <a:solidFill>
                    <a:srgbClr val="F5F5EF">
                      <a:alpha val="80000"/>
                    </a:srgbClr>
                  </a:solidFill>
                  <a:latin typeface="HK Grotesk"/>
                  <a:ea typeface="HK Grotesk"/>
                  <a:cs typeface="HK Grotesk"/>
                  <a:sym typeface="HK Grotesk"/>
                </a:rPr>
                <a:t>Delete or hide this page before sharing.</a:t>
              </a:r>
            </a:p>
          </p:txBody>
        </p:sp>
      </p:grpSp>
      <p:graphicFrame>
        <p:nvGraphicFramePr>
          <p:cNvPr name="Table 5" id="5"/>
          <p:cNvGraphicFramePr>
            <a:graphicFrameLocks noGrp="true"/>
          </p:cNvGraphicFramePr>
          <p:nvPr/>
        </p:nvGraphicFramePr>
        <p:xfrm>
          <a:off x="8075661" y="1220462"/>
          <a:ext cx="8584072" cy="7846076"/>
        </p:xfrm>
        <a:graphic>
          <a:graphicData uri="http://schemas.openxmlformats.org/drawingml/2006/table">
            <a:tbl>
              <a:tblPr/>
              <a:tblGrid>
                <a:gridCol w="6326013"/>
              </a:tblGrid>
              <a:tr h="127782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Go to </a:t>
                      </a:r>
                      <a:r>
                        <a:rPr lang="en-US" b="true" sz="19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Uploads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, then </a:t>
                      </a:r>
                      <a:r>
                        <a:rPr lang="en-US" b="true" sz="19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Record Yourself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. 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27782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All recordings will be saved on Canva in your </a:t>
                      </a:r>
                      <a:r>
                        <a:rPr lang="en-US" sz="1900" b="true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Uploads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folder.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277824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Edit your recording. Feel free to adjust the background, volume, and duration.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33753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Need multiple presenters?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</a:t>
                      </a:r>
                      <a:endParaRPr lang="en-US" sz="1100"/>
                    </a:p>
                    <a:p>
                      <a:pPr algn="ctr">
                        <a:lnSpc>
                          <a:spcPts val="2660"/>
                        </a:lnSpc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Select </a:t>
                      </a:r>
                      <a:r>
                        <a:rPr lang="en-US" b="true" sz="19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Share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then update </a:t>
                      </a:r>
                      <a:r>
                        <a:rPr lang="en-US" b="true" sz="19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Collaboration link 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to </a:t>
                      </a:r>
                      <a:r>
                        <a:rPr lang="en-US" b="true" sz="1900">
                          <a:solidFill>
                            <a:srgbClr val="000000"/>
                          </a:solidFill>
                          <a:latin typeface="HK Grotesk Bold"/>
                          <a:ea typeface="HK Grotesk Bold"/>
                          <a:cs typeface="HK Grotesk Bold"/>
                          <a:sym typeface="HK Grotesk Bold"/>
                        </a:rPr>
                        <a:t>Can edit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.</a:t>
                      </a:r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33753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Share editable link. Assign team members to record their sections.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  <a:tr h="1337535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2660"/>
                        </a:lnSpc>
                        <a:defRPr/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You can also mix live presentation and recorded videos to </a:t>
                      </a:r>
                      <a:endParaRPr lang="en-US" sz="1100"/>
                    </a:p>
                    <a:p>
                      <a:pPr algn="ctr">
                        <a:lnSpc>
                          <a:spcPts val="2660"/>
                        </a:lnSpc>
                      </a:pP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make your session more engaging.</a:t>
                      </a:r>
                      <a:r>
                        <a:rPr lang="en-US" sz="1900">
                          <a:solidFill>
                            <a:srgbClr val="000000"/>
                          </a:solidFill>
                          <a:latin typeface="HK Grotesk"/>
                          <a:ea typeface="HK Grotesk"/>
                          <a:cs typeface="HK Grotesk"/>
                          <a:sym typeface="HK Grotesk"/>
                        </a:rPr>
                        <a:t> </a:t>
                      </a:r>
                    </a:p>
                  </a:txBody>
                  <a:tcPr marL="190500" marR="190500" marT="190500" marB="190500" anchor="ctr">
                    <a:lnL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0">
                      <a:solidFill>
                        <a:srgbClr val="4217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EF"/>
                    </a:solidFill>
                  </a:tcPr>
                </a:tc>
              </a:tr>
            </a:tbl>
          </a:graphicData>
        </a:graphic>
      </p:graphicFrame>
      <p:sp>
        <p:nvSpPr>
          <p:cNvPr name="TextBox 6" id="6"/>
          <p:cNvSpPr txBox="true"/>
          <p:nvPr/>
        </p:nvSpPr>
        <p:spPr>
          <a:xfrm rot="0">
            <a:off x="17559361" y="392416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DAG54twba1g</dc:identifier>
  <dcterms:modified xsi:type="dcterms:W3CDTF">2011-08-01T06:04:30Z</dcterms:modified>
  <cp:revision>1</cp:revision>
  <dc:title>Social Media Marketing Report Presentation</dc:title>
</cp:coreProperties>
</file>