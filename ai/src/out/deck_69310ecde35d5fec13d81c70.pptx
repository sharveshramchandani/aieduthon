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lata"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font" Target="fonts/font17.fntdata"/><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points: Explain the key aspects of Photosynthesis: The Basics; Provide practical examples of Photosynthesis: The Basics; Connect Photosynthesis: The Basics to real-world applications</a:t>
            </a:r>
          </a:p>
          <a:p>
            <a:r>
              <a:t>Talking points: Point 1: Plants use sunlight to create energy.; Elaborate on: Plants use sunlight to create energy.; Point 2: It’s how they grow and thrive.; Elaborate on: It’s how they grow and thrive.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points: Explain the key aspects of The Process: Light-Dependent Reactions; Provide practical examples of The Process: Light-Dependent Reactions; Connect The Process: Light-Dependent Reactions to real-world applications</a:t>
            </a:r>
          </a:p>
          <a:p>
            <a:r>
              <a:t>Talking points: Point 1: Chlorophyll absorbs sunlight.; Elaborate on: Chlorophyll absorbs sunlight.; Point 2: Water molecules are split.; Elaborate on: Water molecules are split.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points: Explain the key aspects of The Process: Light-Independent Reactions (Calvin Cycle); Provide practical examples of The Process: Light-Independent Reactions (Calvin Cycle); Connect The Process: Light-Independent Reactions (Calvin Cycle) to real-world applications</a:t>
            </a:r>
          </a:p>
          <a:p>
            <a:r>
              <a:t>Talking points: Point 1: Carbon dioxide enters the cycle.; Elaborate on: Carbon dioxide enters the cycle.; Point 2: ATP and NADPH provide energy.; Elaborate on: ATP and NADPH provide energy.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wide-ranging impact.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points: Explain the key aspects of Factors Affecting Photosynthesis; Provide practical examples of Factors Affecting Photosynthesis; Connect Factors Affecting Photosynthesis to real-world applications</a:t>
            </a:r>
          </a:p>
          <a:p>
            <a:r>
              <a:t>Talking points: Point 1: Light intensity.; Elaborate on: Light intensity.; Point 2: Carbon dioxide concentration.; Elaborate on: Carbon dioxide concentration.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1.jpg"/><Relationship Id="rId7"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2.jpg"/><Relationship Id="rId7"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3.jpg"/><Relationship Id="rId7"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4.jpg"/><Relationship Id="rId7"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15.jpg"/><Relationship Id="rId9"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9.png"/><Relationship Id="rId7" Type="http://schemas.openxmlformats.org/officeDocument/2006/relationships/image" Target="../media/image10.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false" flipV="false" rot="0">
            <a:off x="0" y="2653399"/>
            <a:ext cx="4296535" cy="7747851"/>
          </a:xfrm>
          <a:custGeom>
            <a:avLst/>
            <a:gdLst/>
            <a:ahLst/>
            <a:cxnLst/>
            <a:rect r="r" b="b" t="t" l="l"/>
            <a:pathLst>
              <a:path h="7747851" w="4296535">
                <a:moveTo>
                  <a:pt x="0" y="0"/>
                </a:moveTo>
                <a:lnTo>
                  <a:pt x="4296535" y="0"/>
                </a:lnTo>
                <a:lnTo>
                  <a:pt x="4296535" y="7747851"/>
                </a:lnTo>
                <a:lnTo>
                  <a:pt x="0" y="7747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73525" y="8576389"/>
            <a:ext cx="4785775" cy="1061572"/>
          </a:xfrm>
          <a:custGeom>
            <a:avLst/>
            <a:gdLst/>
            <a:ahLst/>
            <a:cxnLst/>
            <a:rect r="r" b="b" t="t" l="l"/>
            <a:pathLst>
              <a:path h="1061572" w="4785775">
                <a:moveTo>
                  <a:pt x="0" y="0"/>
                </a:moveTo>
                <a:lnTo>
                  <a:pt x="4785775" y="0"/>
                </a:lnTo>
                <a:lnTo>
                  <a:pt x="4785775" y="1061572"/>
                </a:lnTo>
                <a:lnTo>
                  <a:pt x="0" y="1061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219865" y="1028700"/>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34138" y="32872"/>
            <a:ext cx="6453862" cy="6494453"/>
          </a:xfrm>
          <a:custGeom>
            <a:avLst/>
            <a:gdLst/>
            <a:ahLst/>
            <a:cxnLst/>
            <a:rect r="r" b="b" t="t" l="l"/>
            <a:pathLst>
              <a:path h="6494453" w="6453862">
                <a:moveTo>
                  <a:pt x="0" y="0"/>
                </a:moveTo>
                <a:lnTo>
                  <a:pt x="6453862" y="0"/>
                </a:lnTo>
                <a:lnTo>
                  <a:pt x="6453862" y="6494453"/>
                </a:lnTo>
                <a:lnTo>
                  <a:pt x="0" y="6494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96535" y="3317414"/>
            <a:ext cx="12751348" cy="1705813"/>
          </a:xfrm>
          <a:prstGeom prst="rect">
            <a:avLst/>
          </a:prstGeom>
        </p:spPr>
        <p:txBody>
          <a:bodyPr anchor="t" rtlCol="false" tIns="0" lIns="0" bIns="0" rIns="0">
            <a:spAutoFit/>
          </a:bodyPr>
          <a:lstStyle/>
          <a:p>
            <a:pPr algn="ctr">
              <a:lnSpc>
                <a:spcPts val="12947"/>
              </a:lnSpc>
            </a:pPr>
            <a:r>
              <a:rPr lang="en-US" sz="12331">
                <a:solidFill>
                  <a:srgbClr val="404C7D"/>
                </a:solidFill>
                <a:latin typeface="Alata"/>
                <a:ea typeface="Alata"/>
                <a:cs typeface="Alata"/>
                <a:sym typeface="Alata"/>
              </a:rPr>
              <a:t>PRESENTATION </a:t>
            </a:r>
          </a:p>
        </p:txBody>
      </p:sp>
      <p:sp>
        <p:nvSpPr>
          <p:cNvPr name="TextBox 7" id="7"/>
          <p:cNvSpPr txBox="true"/>
          <p:nvPr/>
        </p:nvSpPr>
        <p:spPr>
          <a:xfrm rot="0">
            <a:off x="5093368" y="5219700"/>
            <a:ext cx="8101265" cy="665278"/>
          </a:xfrm>
          <a:prstGeom prst="rect">
            <a:avLst/>
          </a:prstGeom>
        </p:spPr>
        <p:txBody>
          <a:bodyPr anchor="t" rtlCol="false" tIns="0" lIns="0" bIns="0" rIns="0">
            <a:spAutoFit/>
          </a:bodyPr>
          <a:lstStyle/>
          <a:p>
            <a:pPr algn="l">
              <a:lnSpc>
                <a:spcPts val="5168"/>
              </a:lnSpc>
            </a:pPr>
            <a:r>
              <a:rPr lang="en-US" sz="4922">
                <a:solidFill>
                  <a:srgbClr val="404C7D"/>
                </a:solidFill>
                <a:latin typeface="Alata"/>
                <a:ea typeface="Alata"/>
                <a:cs typeface="Alata"/>
                <a:sym typeface="Alata"/>
              </a:rPr>
              <a:t>by Claudia Alves</a:t>
            </a:r>
          </a:p>
        </p:txBody>
      </p:sp>
      <p:sp>
        <p:nvSpPr>
          <p:cNvPr id="8" name="TextBox 7"/>
          <p:cNvSpPr txBox="1"/>
          <p:nvPr/>
        </p:nvSpPr>
        <p:spPr>
          <a:xfrm>
            <a:off x="914400" y="457200"/>
            <a:ext cx="7315200" cy="1371600"/>
          </a:xfrm>
          <a:prstGeom prst="rect">
            <a:avLst/>
          </a:prstGeom>
          <a:noFill/>
        </p:spPr>
        <p:txBody>
          <a:bodyPr wrap="none">
            <a:spAutoFit/>
          </a:bodyPr>
          <a:lstStyle/>
          <a:p>
            <a:r>
              <a:t>Biology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2591988"/>
            <a:ext cx="11763732"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 Donec sed purus non ipsum cursus molestie sit amet nec lorem. Aliquam eget turpis eros. Duis elementum dolor a nisi gravida, sit amet laoreet lorem efficitur.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INTRODOCUTION</a:t>
            </a:r>
          </a:p>
        </p:txBody>
      </p:sp>
      <p:sp>
        <p:nvSpPr>
          <p:cNvPr id="8" name="TextBox 7"/>
          <p:cNvSpPr txBox="1"/>
          <p:nvPr/>
        </p:nvSpPr>
        <p:spPr>
          <a:xfrm>
            <a:off x="914400" y="1371600"/>
            <a:ext cx="7315200" cy="4114800"/>
          </a:xfrm>
          <a:prstGeom prst="rect">
            <a:avLst/>
          </a:prstGeom>
          <a:noFill/>
        </p:spPr>
        <p:txBody>
          <a:bodyPr wrap="none">
            <a:spAutoFit/>
          </a:bodyPr>
          <a:lstStyle/>
          <a:p>
            <a:pPr>
              <a:defRPr sz="1800"/>
            </a:pPr>
            <a:r>
              <a:t>Plants use sunlight to create energy.</a:t>
            </a:r>
          </a:p>
          <a:p>
            <a:pPr>
              <a:defRPr sz="1800"/>
            </a:pPr>
            <a:r>
              <a:t>It’s how they grow and thrive.</a:t>
            </a:r>
          </a:p>
          <a:p>
            <a:pPr>
              <a:defRPr sz="1800"/>
            </a:pPr>
            <a:r>
              <a:t>Carbon dioxide and water are key ingredients.</a:t>
            </a:r>
          </a:p>
          <a:p>
            <a:pPr>
              <a:defRPr sz="1800"/>
            </a:pPr>
            <a:r>
              <a:t>Chlorophyll captures light energy.</a:t>
            </a:r>
          </a:p>
          <a:p>
            <a:pPr>
              <a:defRPr sz="1800"/>
            </a:pPr>
            <a:r>
              <a:t>It’s vital for life on Earth.</a:t>
            </a:r>
          </a:p>
          <a:p>
            <a:pPr lvl="1">
              <a:defRPr sz="1200" i="1">
                <a:solidFill>
                  <a:srgbClr val="787878"/>
                </a:solidFill>
              </a:defRPr>
            </a:pPr>
            <a:r>
              <a:t>[Image placeholder] Photosynthesis: The Basics</a:t>
            </a:r>
          </a:p>
        </p:txBody>
      </p:sp>
      <p:pic>
        <p:nvPicPr>
          <p:cNvPr id="9" name="Picture 8" descr="_ppt_tmp_image.png"/>
          <p:cNvPicPr>
            <a:picLocks noChangeAspect="1"/>
          </p:cNvPicPr>
          <p:nvPr/>
        </p:nvPicPr>
        <p:blipFill>
          <a:blip r:embed="rId6"/>
          <a:stretch>
            <a:fillRect/>
          </a:stretch>
        </p:blipFill>
        <p:spPr>
          <a:xfrm>
            <a:off x="5486400" y="1828800"/>
            <a:ext cx="2743200" cy="1828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2591988"/>
            <a:ext cx="11763732" cy="6299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a:p>
            <a:pPr algn="just">
              <a:lnSpc>
                <a:spcPts val="3360"/>
              </a:lnSpc>
            </a:pPr>
          </a:p>
          <a:p>
            <a:pPr algn="just">
              <a:lnSpc>
                <a:spcPts val="3360"/>
              </a:lnSpc>
            </a:pPr>
            <a:r>
              <a:rPr lang="en-US" sz="3200">
                <a:solidFill>
                  <a:srgbClr val="404C7D"/>
                </a:solidFill>
                <a:latin typeface="Alata"/>
                <a:ea typeface="Alata"/>
                <a:cs typeface="Alata"/>
                <a:sym typeface="Alata"/>
              </a:rPr>
              <a:t>In hac habitasse platea dictumst. Nam tortor urna, semper ac nulla id, porttitor semper felis. Phasellus blandit eros viverra, ultricies nibh nec, viverra ipsum. Ut nec gravida massa, eu convallis est. Donec sed purus non ipsum cursus molestie sit amet nec lorem. Aliquam eget turpis eros. Duis elementum dolor a nisi gravida, sit amet laoreet lorem efficitur.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BACKGROUND</a:t>
            </a:r>
          </a:p>
        </p:txBody>
      </p:sp>
      <p:sp>
        <p:nvSpPr>
          <p:cNvPr id="8" name="TextBox 7"/>
          <p:cNvSpPr txBox="1"/>
          <p:nvPr/>
        </p:nvSpPr>
        <p:spPr>
          <a:xfrm>
            <a:off x="914400" y="1371600"/>
            <a:ext cx="7315200" cy="4114800"/>
          </a:xfrm>
          <a:prstGeom prst="rect">
            <a:avLst/>
          </a:prstGeom>
          <a:noFill/>
        </p:spPr>
        <p:txBody>
          <a:bodyPr wrap="none">
            <a:spAutoFit/>
          </a:bodyPr>
          <a:lstStyle/>
          <a:p>
            <a:pPr>
              <a:defRPr sz="1800"/>
            </a:pPr>
            <a:r>
              <a:t>Chlorophyll absorbs sunlight.</a:t>
            </a:r>
          </a:p>
          <a:p>
            <a:pPr>
              <a:defRPr sz="1800"/>
            </a:pPr>
            <a:r>
              <a:t>Water molecules are split.</a:t>
            </a:r>
          </a:p>
          <a:p>
            <a:pPr>
              <a:defRPr sz="1800"/>
            </a:pPr>
            <a:r>
              <a:t>Oxygen is released as a byproduct.</a:t>
            </a:r>
          </a:p>
          <a:p>
            <a:pPr>
              <a:defRPr sz="1800"/>
            </a:pPr>
            <a:r>
              <a:t>Energy is stored in ATP and NADPH.</a:t>
            </a:r>
          </a:p>
          <a:p>
            <a:pPr>
              <a:defRPr sz="1800"/>
            </a:pPr>
            <a:r>
              <a:t>These molecules power the next stage.</a:t>
            </a:r>
          </a:p>
          <a:p>
            <a:pPr lvl="1">
              <a:defRPr sz="1200" i="1">
                <a:solidFill>
                  <a:srgbClr val="787878"/>
                </a:solidFill>
              </a:defRPr>
            </a:pPr>
            <a:r>
              <a:t>[Image placeholder] The Process: Light-Dependent Reactions</a:t>
            </a:r>
          </a:p>
        </p:txBody>
      </p:sp>
      <p:pic>
        <p:nvPicPr>
          <p:cNvPr id="9" name="Picture 8" descr="_ppt_tmp_image.png"/>
          <p:cNvPicPr>
            <a:picLocks noChangeAspect="1"/>
          </p:cNvPicPr>
          <p:nvPr/>
        </p:nvPicPr>
        <p:blipFill>
          <a:blip r:embed="rId6"/>
          <a:stretch>
            <a:fillRect/>
          </a:stretch>
        </p:blipFill>
        <p:spPr>
          <a:xfrm>
            <a:off x="5486400" y="1828800"/>
            <a:ext cx="2743200" cy="18161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07238" y="2725032"/>
            <a:ext cx="5662924"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OVERVIEW</a:t>
            </a:r>
          </a:p>
        </p:txBody>
      </p:sp>
      <p:sp>
        <p:nvSpPr>
          <p:cNvPr name="TextBox 8" id="8"/>
          <p:cNvSpPr txBox="true"/>
          <p:nvPr/>
        </p:nvSpPr>
        <p:spPr>
          <a:xfrm rot="0">
            <a:off x="9581884" y="2725032"/>
            <a:ext cx="5662924"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p:txBody>
      </p:sp>
      <p:sp>
        <p:nvSpPr>
          <p:cNvPr id="9" name="TextBox 8"/>
          <p:cNvSpPr txBox="1"/>
          <p:nvPr/>
        </p:nvSpPr>
        <p:spPr>
          <a:xfrm>
            <a:off x="914400" y="1371600"/>
            <a:ext cx="7315200" cy="4114800"/>
          </a:xfrm>
          <a:prstGeom prst="rect">
            <a:avLst/>
          </a:prstGeom>
          <a:noFill/>
        </p:spPr>
        <p:txBody>
          <a:bodyPr wrap="none">
            <a:spAutoFit/>
          </a:bodyPr>
          <a:lstStyle/>
          <a:p>
            <a:pPr>
              <a:defRPr sz="1800"/>
            </a:pPr>
            <a:r>
              <a:t>Carbon dioxide enters the cycle.</a:t>
            </a:r>
          </a:p>
          <a:p>
            <a:pPr>
              <a:defRPr sz="1800"/>
            </a:pPr>
            <a:r>
              <a:t>ATP and NADPH provide energy.</a:t>
            </a:r>
          </a:p>
          <a:p>
            <a:pPr>
              <a:defRPr sz="1800"/>
            </a:pPr>
            <a:r>
              <a:t>Sugar (glucose) is produced.</a:t>
            </a:r>
          </a:p>
          <a:p>
            <a:pPr>
              <a:defRPr sz="1800"/>
            </a:pPr>
            <a:r>
              <a:t>It’s a cyclical process.</a:t>
            </a:r>
          </a:p>
          <a:p>
            <a:pPr>
              <a:defRPr sz="1800"/>
            </a:pPr>
            <a:r>
              <a:t>Essential for plant growth.</a:t>
            </a:r>
          </a:p>
          <a:p>
            <a:pPr lvl="1">
              <a:defRPr sz="1200" i="1">
                <a:solidFill>
                  <a:srgbClr val="787878"/>
                </a:solidFill>
              </a:defRPr>
            </a:pPr>
            <a:r>
              <a:t>[Image placeholder] The Process: Light-Independent Reactions (Calvin Cycle)</a:t>
            </a:r>
          </a:p>
        </p:txBody>
      </p:sp>
      <p:pic>
        <p:nvPicPr>
          <p:cNvPr id="10" name="Picture 9" descr="_ppt_tmp_image.png"/>
          <p:cNvPicPr>
            <a:picLocks noChangeAspect="1"/>
          </p:cNvPicPr>
          <p:nvPr/>
        </p:nvPicPr>
        <p:blipFill>
          <a:blip r:embed="rId6"/>
          <a:stretch>
            <a:fillRect/>
          </a:stretch>
        </p:blipFill>
        <p:spPr>
          <a:xfrm>
            <a:off x="5486400" y="1828800"/>
            <a:ext cx="2743200" cy="182626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07238" y="2725032"/>
            <a:ext cx="13122726"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PROBLEM</a:t>
            </a:r>
          </a:p>
        </p:txBody>
      </p:sp>
      <p:sp>
        <p:nvSpPr>
          <p:cNvPr name="TextBox 8" id="8"/>
          <p:cNvSpPr txBox="true"/>
          <p:nvPr/>
        </p:nvSpPr>
        <p:spPr>
          <a:xfrm rot="0">
            <a:off x="2961033" y="5252643"/>
            <a:ext cx="13122726"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p:txBody>
      </p:sp>
      <p:sp>
        <p:nvSpPr>
          <p:cNvPr id="9" name="TextBox 8"/>
          <p:cNvSpPr txBox="1"/>
          <p:nvPr/>
        </p:nvSpPr>
        <p:spPr>
          <a:xfrm>
            <a:off x="914400" y="1371600"/>
            <a:ext cx="7315200" cy="4114800"/>
          </a:xfrm>
          <a:prstGeom prst="rect">
            <a:avLst/>
          </a:prstGeom>
          <a:noFill/>
        </p:spPr>
        <p:txBody>
          <a:bodyPr wrap="none">
            <a:spAutoFit/>
          </a:bodyPr>
          <a:lstStyle/>
          <a:p>
            <a:pPr>
              <a:defRPr sz="1800"/>
            </a:pPr>
            <a:r>
              <a:t>Provides oxygen for us to breathe.</a:t>
            </a:r>
          </a:p>
          <a:p>
            <a:pPr>
              <a:defRPr sz="1800"/>
            </a:pPr>
            <a:r>
              <a:t>Forms the base of most food chains.</a:t>
            </a:r>
          </a:p>
          <a:p>
            <a:pPr>
              <a:defRPr sz="1800"/>
            </a:pPr>
            <a:r>
              <a:t>Regulates Earth’s climate.</a:t>
            </a:r>
          </a:p>
          <a:p>
            <a:pPr>
              <a:defRPr sz="1800"/>
            </a:pPr>
            <a:r>
              <a:t>Supports biodiversity.</a:t>
            </a:r>
          </a:p>
          <a:p>
            <a:pPr>
              <a:defRPr sz="1800"/>
            </a:pPr>
            <a:r>
              <a:t>A fundamental biological process.</a:t>
            </a:r>
          </a:p>
          <a:p>
            <a:pPr lvl="1">
              <a:defRPr sz="1200" i="1">
                <a:solidFill>
                  <a:srgbClr val="787878"/>
                </a:solidFill>
              </a:defRPr>
            </a:pPr>
            <a:r>
              <a:t>[Image placeholder] Importance of Photosynthesis</a:t>
            </a:r>
          </a:p>
        </p:txBody>
      </p:sp>
      <p:pic>
        <p:nvPicPr>
          <p:cNvPr id="10" name="Picture 9" descr="_ppt_tmp_image.png"/>
          <p:cNvPicPr>
            <a:picLocks noChangeAspect="1"/>
          </p:cNvPicPr>
          <p:nvPr/>
        </p:nvPicPr>
        <p:blipFill>
          <a:blip r:embed="rId6"/>
          <a:stretch>
            <a:fillRect/>
          </a:stretch>
        </p:blipFill>
        <p:spPr>
          <a:xfrm>
            <a:off x="5486400" y="1828800"/>
            <a:ext cx="2743200" cy="1828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37570" y="3546087"/>
            <a:ext cx="3390595" cy="4114800"/>
          </a:xfrm>
          <a:custGeom>
            <a:avLst/>
            <a:gdLst/>
            <a:ahLst/>
            <a:cxnLst/>
            <a:rect r="r" b="b" t="t" l="l"/>
            <a:pathLst>
              <a:path h="4114800" w="3390595">
                <a:moveTo>
                  <a:pt x="0" y="0"/>
                </a:moveTo>
                <a:lnTo>
                  <a:pt x="3390596" y="0"/>
                </a:lnTo>
                <a:lnTo>
                  <a:pt x="339059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907238" y="3405351"/>
            <a:ext cx="8701383" cy="2108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a:t>
            </a:r>
          </a:p>
        </p:txBody>
      </p:sp>
      <p:sp>
        <p:nvSpPr>
          <p:cNvPr name="TextBox 8" id="8"/>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OBJECTIVES</a:t>
            </a:r>
          </a:p>
        </p:txBody>
      </p:sp>
      <p:sp>
        <p:nvSpPr>
          <p:cNvPr name="TextBox 9" id="9"/>
          <p:cNvSpPr txBox="true"/>
          <p:nvPr/>
        </p:nvSpPr>
        <p:spPr>
          <a:xfrm rot="0">
            <a:off x="2907238" y="6031102"/>
            <a:ext cx="8701383" cy="2108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a:t>
            </a:r>
          </a:p>
        </p:txBody>
      </p:sp>
      <p:sp>
        <p:nvSpPr>
          <p:cNvPr id="10" name="TextBox 9"/>
          <p:cNvSpPr txBox="1"/>
          <p:nvPr/>
        </p:nvSpPr>
        <p:spPr>
          <a:xfrm>
            <a:off x="914400" y="1371600"/>
            <a:ext cx="7315200" cy="4114800"/>
          </a:xfrm>
          <a:prstGeom prst="rect">
            <a:avLst/>
          </a:prstGeom>
          <a:noFill/>
        </p:spPr>
        <p:txBody>
          <a:bodyPr wrap="none">
            <a:spAutoFit/>
          </a:bodyPr>
          <a:lstStyle/>
          <a:p>
            <a:pPr>
              <a:defRPr sz="1800"/>
            </a:pPr>
            <a:r>
              <a:t>Light intensity.</a:t>
            </a:r>
          </a:p>
          <a:p>
            <a:pPr>
              <a:defRPr sz="1800"/>
            </a:pPr>
            <a:r>
              <a:t>Carbon dioxide concentration.</a:t>
            </a:r>
          </a:p>
          <a:p>
            <a:pPr>
              <a:defRPr sz="1800"/>
            </a:pPr>
            <a:r>
              <a:t>Temperature.</a:t>
            </a:r>
          </a:p>
          <a:p>
            <a:pPr>
              <a:defRPr sz="1800"/>
            </a:pPr>
            <a:r>
              <a:t>Water availability.</a:t>
            </a:r>
          </a:p>
          <a:p>
            <a:pPr>
              <a:defRPr sz="1800"/>
            </a:pPr>
            <a:r>
              <a:t>Nutrient levels.</a:t>
            </a:r>
          </a:p>
          <a:p>
            <a:pPr lvl="1">
              <a:defRPr sz="1200" i="1">
                <a:solidFill>
                  <a:srgbClr val="787878"/>
                </a:solidFill>
              </a:defRPr>
            </a:pPr>
            <a:r>
              <a:t>[Image placeholder] Factors Affecting Photosynthesis</a:t>
            </a:r>
          </a:p>
        </p:txBody>
      </p:sp>
      <p:pic>
        <p:nvPicPr>
          <p:cNvPr id="11" name="Picture 10" descr="_ppt_tmp_image.png"/>
          <p:cNvPicPr>
            <a:picLocks noChangeAspect="1"/>
          </p:cNvPicPr>
          <p:nvPr/>
        </p:nvPicPr>
        <p:blipFill>
          <a:blip r:embed="rId8"/>
          <a:stretch>
            <a:fillRect/>
          </a:stretch>
        </p:blipFill>
        <p:spPr>
          <a:xfrm>
            <a:off x="5486400" y="1828800"/>
            <a:ext cx="2743200" cy="219456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312616" y="3368177"/>
            <a:ext cx="4486692" cy="3540408"/>
          </a:xfrm>
          <a:custGeom>
            <a:avLst/>
            <a:gdLst/>
            <a:ahLst/>
            <a:cxnLst/>
            <a:rect r="r" b="b" t="t" l="l"/>
            <a:pathLst>
              <a:path h="3540408" w="4486692">
                <a:moveTo>
                  <a:pt x="0" y="0"/>
                </a:moveTo>
                <a:lnTo>
                  <a:pt x="4486692" y="0"/>
                </a:lnTo>
                <a:lnTo>
                  <a:pt x="4486692" y="3540408"/>
                </a:lnTo>
                <a:lnTo>
                  <a:pt x="0" y="35404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393930" y="2756672"/>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8" id="8"/>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STRATEGY</a:t>
            </a:r>
          </a:p>
        </p:txBody>
      </p:sp>
      <p:sp>
        <p:nvSpPr>
          <p:cNvPr name="TextBox 9" id="9"/>
          <p:cNvSpPr txBox="true"/>
          <p:nvPr/>
        </p:nvSpPr>
        <p:spPr>
          <a:xfrm rot="0">
            <a:off x="7393930" y="4531995"/>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7393930" y="6307318"/>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490858" y="3081012"/>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INSIGHT</a:t>
            </a:r>
          </a:p>
        </p:txBody>
      </p:sp>
      <p:sp>
        <p:nvSpPr>
          <p:cNvPr name="TextBox 8" id="8"/>
          <p:cNvSpPr txBox="true"/>
          <p:nvPr/>
        </p:nvSpPr>
        <p:spPr>
          <a:xfrm rot="0">
            <a:off x="9230179" y="3081012"/>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9" id="9"/>
          <p:cNvSpPr txBox="true"/>
          <p:nvPr/>
        </p:nvSpPr>
        <p:spPr>
          <a:xfrm rot="0">
            <a:off x="2490858" y="5665955"/>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9230179" y="5665955"/>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387793" y="2628889"/>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SOLUTION</a:t>
            </a:r>
          </a:p>
        </p:txBody>
      </p:sp>
      <p:sp>
        <p:nvSpPr>
          <p:cNvPr name="TextBox 8" id="8"/>
          <p:cNvSpPr txBox="true"/>
          <p:nvPr/>
        </p:nvSpPr>
        <p:spPr>
          <a:xfrm rot="0">
            <a:off x="2387793" y="4034001"/>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9" id="9"/>
          <p:cNvSpPr txBox="true"/>
          <p:nvPr/>
        </p:nvSpPr>
        <p:spPr>
          <a:xfrm rot="0">
            <a:off x="2387793" y="5439112"/>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2387793" y="6844224"/>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3240667"/>
            <a:ext cx="11763732" cy="46234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CONCLUSION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false" flipV="false" rot="0">
            <a:off x="0" y="2653399"/>
            <a:ext cx="4296535" cy="7747851"/>
          </a:xfrm>
          <a:custGeom>
            <a:avLst/>
            <a:gdLst/>
            <a:ahLst/>
            <a:cxnLst/>
            <a:rect r="r" b="b" t="t" l="l"/>
            <a:pathLst>
              <a:path h="7747851" w="4296535">
                <a:moveTo>
                  <a:pt x="0" y="0"/>
                </a:moveTo>
                <a:lnTo>
                  <a:pt x="4296535" y="0"/>
                </a:lnTo>
                <a:lnTo>
                  <a:pt x="4296535" y="7747851"/>
                </a:lnTo>
                <a:lnTo>
                  <a:pt x="0" y="7747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73525" y="8576389"/>
            <a:ext cx="4785775" cy="1061572"/>
          </a:xfrm>
          <a:custGeom>
            <a:avLst/>
            <a:gdLst/>
            <a:ahLst/>
            <a:cxnLst/>
            <a:rect r="r" b="b" t="t" l="l"/>
            <a:pathLst>
              <a:path h="1061572" w="4785775">
                <a:moveTo>
                  <a:pt x="0" y="0"/>
                </a:moveTo>
                <a:lnTo>
                  <a:pt x="4785775" y="0"/>
                </a:lnTo>
                <a:lnTo>
                  <a:pt x="4785775" y="1061572"/>
                </a:lnTo>
                <a:lnTo>
                  <a:pt x="0" y="1061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219865" y="1028700"/>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34138" y="32872"/>
            <a:ext cx="6453862" cy="6494453"/>
          </a:xfrm>
          <a:custGeom>
            <a:avLst/>
            <a:gdLst/>
            <a:ahLst/>
            <a:cxnLst/>
            <a:rect r="r" b="b" t="t" l="l"/>
            <a:pathLst>
              <a:path h="6494453" w="6453862">
                <a:moveTo>
                  <a:pt x="0" y="0"/>
                </a:moveTo>
                <a:lnTo>
                  <a:pt x="6453862" y="0"/>
                </a:lnTo>
                <a:lnTo>
                  <a:pt x="6453862" y="6494453"/>
                </a:lnTo>
                <a:lnTo>
                  <a:pt x="0" y="6494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612753" y="4376318"/>
            <a:ext cx="12751348" cy="1705813"/>
          </a:xfrm>
          <a:prstGeom prst="rect">
            <a:avLst/>
          </a:prstGeom>
        </p:spPr>
        <p:txBody>
          <a:bodyPr anchor="t" rtlCol="false" tIns="0" lIns="0" bIns="0" rIns="0">
            <a:spAutoFit/>
          </a:bodyPr>
          <a:lstStyle/>
          <a:p>
            <a:pPr algn="ctr">
              <a:lnSpc>
                <a:spcPts val="12947"/>
              </a:lnSpc>
            </a:pPr>
            <a:r>
              <a:rPr lang="en-US" sz="12331">
                <a:solidFill>
                  <a:srgbClr val="404C7D"/>
                </a:solidFill>
                <a:latin typeface="Alata"/>
                <a:ea typeface="Alata"/>
                <a:cs typeface="Alata"/>
                <a:sym typeface="Alata"/>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DAG54YlioDo</dc:identifier>
  <dcterms:modified xsi:type="dcterms:W3CDTF">2011-08-01T06:04:30Z</dcterms:modified>
  <cp:revision>1</cp:revision>
  <dc:title>Grey Blue Minimalist Modern Presentation </dc:title>
</cp:coreProperties>
</file>