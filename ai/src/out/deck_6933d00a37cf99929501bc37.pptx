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3.svg" ContentType="image/svg+xml"/>
  <Override PartName="/ppt/media/image19.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Semi-Bold" charset="1" panose="000007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Boolean values represent truth or falsehood,</a:t>
            </a:r>
          </a:p>
          <a:p>
            <a:r>
              <a:t> crucial for logical reasoning.</a:t>
            </a:r>
          </a:p>
          <a:p/>
          <a:p>
            <a:r>
              <a:t>True and False are the core logical operators – AND, OR, NOT. AND: Both inputs must be true; AND returns true only when both operands are true.</a:t>
            </a:r>
          </a:p>
          <a:p/>
          <a:p>
            <a:r>
              <a:t>OR: At least one input must be true;</a:t>
            </a:r>
          </a:p>
          <a:p>
            <a:r>
              <a:t> returns true if either operand is true or both are true.</a:t>
            </a:r>
          </a:p>
          <a:p/>
          <a:p>
            <a:r>
              <a:t>NOT: Inverts the truth value of an input (true becomes false and vice versa). Begin with foundational Boolean concepts, emphasizing their role in logical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Boolean algebra deals with binary variables and operations like AND, OR,</a:t>
            </a:r>
          </a:p>
          <a:p>
            <a:r>
              <a:t> and NOT. The order of operations matters, especially within parentheses.</a:t>
            </a:r>
          </a:p>
          <a:p/>
          <a:p>
            <a:r>
              <a:t>Parentheses are essential for ensuring correct evaluation order.</a:t>
            </a:r>
          </a:p>
          <a:p/>
          <a:p>
            <a:r>
              <a:t>Logical expressions combine these operators from left to right, ignoring operator precedence. AND: Only true if both inputs are true;</a:t>
            </a:r>
          </a:p>
          <a:p>
            <a:r>
              <a:t> Example: A AND B = True only when both A and B are True. Master the core operations of Boolean algebra, understanding their interplay.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Truth tables list all possible input combinations and corresponding outputs.</a:t>
            </a:r>
          </a:p>
          <a:p>
            <a:r>
              <a:t> Each row represents a unique combination,</a:t>
            </a:r>
          </a:p>
          <a:p>
            <a:r>
              <a:t> allowing detailed analysis of the expression's behavior.</a:t>
            </a:r>
          </a:p>
          <a:p/>
          <a:p>
            <a:r>
              <a:t>Analyze each combination to determine the result of the operation. Learn how to construct truth tables for complex logical expressions.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negates a boolean value, flipping its truth value (True becomes False and vice versa).</a:t>
            </a:r>
          </a:p>
          <a:p/>
          <a:p>
            <a:r>
              <a:t>Example: NOT(True) = False. Understand the negation rule and its implications for Boolean expressions.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statements (if/else) execute code based on conditions.</a:t>
            </a:r>
          </a:p>
          <a:p/>
          <a:p>
            <a:r>
              <a:t>Decision-making systems automate processes with logical rules.</a:t>
            </a:r>
          </a:p>
          <a:p/>
          <a:p>
            <a:r>
              <a:t>Error handling manages unexpected situations with logical checks. Explore practical applications of Boolean logic in various domains.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Only true if both inputs are true.</a:t>
            </a:r>
          </a:p>
          <a:p>
            <a:r>
              <a:t> OR: True if at least one input is true.</a:t>
            </a:r>
          </a:p>
          <a:p>
            <a:r>
              <a:t> NOT: Inverts the truth value of an input. Focus on the core rules governing Boolean logic, emphasizing their importance.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 statements execute code based on conditions.</a:t>
            </a:r>
          </a:p>
          <a:p>
            <a:r>
              <a:t> Decision-making systems automate processes with logical rules.</a:t>
            </a:r>
          </a:p>
          <a:p>
            <a:r>
              <a:t> Error handling manages unexpected situations with logical checks. Explore practical applications of Boolean logic in various domains.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20.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21.jp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12.png"/><Relationship Id="rId10" Type="http://schemas.openxmlformats.org/officeDocument/2006/relationships/image" Target="../media/image13.svg"/><Relationship Id="rId11"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22.jpg"/><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23.jpg"/><Relationship Id="rId9"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16.png"/><Relationship Id="rId9" Type="http://schemas.openxmlformats.org/officeDocument/2006/relationships/image" Target="../media/image17.jpeg"/><Relationship Id="rId10" Type="http://schemas.openxmlformats.org/officeDocument/2006/relationships/image" Target="../media/image24.jpg"/><Relationship Id="rId11"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571132" y="6449964"/>
            <a:ext cx="6983181" cy="669188"/>
            <a:chOff x="0" y="0"/>
            <a:chExt cx="1839192" cy="176247"/>
          </a:xfrm>
        </p:grpSpPr>
        <p:sp>
          <p:nvSpPr>
            <p:cNvPr name="Freeform 7" id="7"/>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610563" y="3491698"/>
            <a:ext cx="13066873" cy="3032670"/>
          </a:xfrm>
          <a:prstGeom prst="rect">
            <a:avLst/>
          </a:prstGeom>
        </p:spPr>
        <p:txBody>
          <a:bodyPr anchor="t" rtlCol="false" tIns="0" lIns="0" bIns="0" rIns="0">
            <a:spAutoFit/>
          </a:bodyPr>
          <a:lstStyle/>
          <a:p>
            <a:pPr algn="ctr">
              <a:lnSpc>
                <a:spcPts val="10918"/>
              </a:lnSpc>
            </a:pPr>
            <a:r>
              <a:rPr lang="en-US" b="true" sz="12998" spc="-701">
                <a:solidFill>
                  <a:srgbClr val="1C2120"/>
                </a:solidFill>
                <a:latin typeface="Poppins Semi-Bold"/>
                <a:ea typeface="Poppins Semi-Bold"/>
                <a:cs typeface="Poppins Semi-Bold"/>
                <a:sym typeface="Poppins Semi-Bold"/>
              </a:rPr>
              <a:t>PROJECT PRESENTATION</a:t>
            </a:r>
          </a:p>
        </p:txBody>
      </p:sp>
      <p:sp>
        <p:nvSpPr>
          <p:cNvPr name="TextBox 10" id="10"/>
          <p:cNvSpPr txBox="true"/>
          <p:nvPr/>
        </p:nvSpPr>
        <p:spPr>
          <a:xfrm rot="0">
            <a:off x="5835017" y="6562468"/>
            <a:ext cx="6617965" cy="4822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HELENE PAQUET</a:t>
            </a:r>
          </a:p>
        </p:txBody>
      </p:sp>
      <p:sp>
        <p:nvSpPr>
          <p:cNvPr id="11" name="TextBox 10"/>
          <p:cNvSpPr txBox="1"/>
          <p:nvPr/>
        </p:nvSpPr>
        <p:spPr>
          <a:xfrm>
            <a:off x="914400" y="457200"/>
            <a:ext cx="7315200" cy="1371600"/>
          </a:xfrm>
          <a:prstGeom prst="rect">
            <a:avLst/>
          </a:prstGeom>
          <a:noFill/>
        </p:spPr>
        <p:txBody>
          <a:bodyPr wrap="none">
            <a:spAutoFit/>
          </a:bodyPr>
          <a:lstStyle/>
          <a:p>
            <a:r>
              <a:t>Computer 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788" y="-177024"/>
            <a:ext cx="7097803" cy="11057957"/>
          </a:xfrm>
          <a:custGeom>
            <a:avLst/>
            <a:gdLst/>
            <a:ahLst/>
            <a:cxnLst/>
            <a:rect r="r" b="b" t="t" l="l"/>
            <a:pathLst>
              <a:path h="11057957" w="7097803">
                <a:moveTo>
                  <a:pt x="0" y="0"/>
                </a:moveTo>
                <a:lnTo>
                  <a:pt x="7097803" y="0"/>
                </a:lnTo>
                <a:lnTo>
                  <a:pt x="7097803" y="11057957"/>
                </a:lnTo>
                <a:lnTo>
                  <a:pt x="0" y="11057957"/>
                </a:lnTo>
                <a:lnTo>
                  <a:pt x="0" y="0"/>
                </a:lnTo>
                <a:close/>
              </a:path>
            </a:pathLst>
          </a:custGeom>
          <a:blipFill>
            <a:blip r:embed="rId2"/>
            <a:stretch>
              <a:fillRect l="-131569" t="0" r="-2267" b="0"/>
            </a:stretch>
          </a:blipFill>
        </p:spPr>
      </p:sp>
      <p:grpSp>
        <p:nvGrpSpPr>
          <p:cNvPr name="Group 3" id="3"/>
          <p:cNvGrpSpPr/>
          <p:nvPr/>
        </p:nvGrpSpPr>
        <p:grpSpPr>
          <a:xfrm rot="0">
            <a:off x="-514350" y="-177024"/>
            <a:ext cx="7454365" cy="10601584"/>
            <a:chOff x="0" y="0"/>
            <a:chExt cx="1963290" cy="2792187"/>
          </a:xfrm>
        </p:grpSpPr>
        <p:sp>
          <p:nvSpPr>
            <p:cNvPr name="Freeform 4" id="4"/>
            <p:cNvSpPr/>
            <p:nvPr/>
          </p:nvSpPr>
          <p:spPr>
            <a:xfrm flipH="false" flipV="false" rot="0">
              <a:off x="0" y="0"/>
              <a:ext cx="1963290" cy="2792187"/>
            </a:xfrm>
            <a:custGeom>
              <a:avLst/>
              <a:gdLst/>
              <a:ahLst/>
              <a:cxnLst/>
              <a:rect r="r" b="b" t="t" l="l"/>
              <a:pathLst>
                <a:path h="2792187" w="1963290">
                  <a:moveTo>
                    <a:pt x="0" y="0"/>
                  </a:moveTo>
                  <a:lnTo>
                    <a:pt x="1963290" y="0"/>
                  </a:lnTo>
                  <a:lnTo>
                    <a:pt x="1963290" y="2792187"/>
                  </a:lnTo>
                  <a:lnTo>
                    <a:pt x="0" y="2792187"/>
                  </a:lnTo>
                  <a:close/>
                </a:path>
              </a:pathLst>
            </a:custGeom>
            <a:solidFill>
              <a:srgbClr val="AAD7D4">
                <a:alpha val="55686"/>
              </a:srgbClr>
            </a:solidFill>
          </p:spPr>
        </p:sp>
        <p:sp>
          <p:nvSpPr>
            <p:cNvPr name="TextBox 5" id="5"/>
            <p:cNvSpPr txBox="true"/>
            <p:nvPr/>
          </p:nvSpPr>
          <p:spPr>
            <a:xfrm>
              <a:off x="0" y="-38100"/>
              <a:ext cx="1963290" cy="283028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652271" y="7656324"/>
            <a:ext cx="4845334" cy="582575"/>
            <a:chOff x="0" y="0"/>
            <a:chExt cx="1276137" cy="153435"/>
          </a:xfrm>
        </p:grpSpPr>
        <p:sp>
          <p:nvSpPr>
            <p:cNvPr name="Freeform 7" id="7"/>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8" id="8"/>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595420" y="2134178"/>
            <a:ext cx="8011990" cy="2152289"/>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Origin of the creative idea</a:t>
            </a:r>
          </a:p>
        </p:txBody>
      </p:sp>
      <p:sp>
        <p:nvSpPr>
          <p:cNvPr name="TextBox 10" id="10"/>
          <p:cNvSpPr txBox="true"/>
          <p:nvPr/>
        </p:nvSpPr>
        <p:spPr>
          <a:xfrm rot="0">
            <a:off x="8652271" y="4546630"/>
            <a:ext cx="7898287" cy="2711676"/>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r>
              <a:rPr lang="en-US" sz="1817" spc="109" u="none">
                <a:solidFill>
                  <a:srgbClr val="000000"/>
                </a:solidFill>
                <a:latin typeface="DM Sans"/>
                <a:ea typeface="DM Sans"/>
                <a:cs typeface="DM Sans"/>
                <a:sym typeface="DM Sans"/>
              </a:rPr>
              <a:t>Duis aute irure dolor in reprehenderit in voluptate velit esse cillum dolore eu fugiat nulla pariatur. Excepteur sint occaecat cupidatat non proident, sunt in culpa qui officia deserunt mollit anim id est laborum.</a:t>
            </a:r>
          </a:p>
        </p:txBody>
      </p:sp>
      <p:sp>
        <p:nvSpPr>
          <p:cNvPr name="TextBox 11" id="11"/>
          <p:cNvSpPr txBox="true"/>
          <p:nvPr/>
        </p:nvSpPr>
        <p:spPr>
          <a:xfrm rot="0">
            <a:off x="9593710" y="7792824"/>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12" name="TextBox 11"/>
          <p:cNvSpPr txBox="1"/>
          <p:nvPr/>
        </p:nvSpPr>
        <p:spPr>
          <a:xfrm>
            <a:off x="914400" y="1371600"/>
            <a:ext cx="7315200" cy="4114800"/>
          </a:xfrm>
          <a:prstGeom prst="rect">
            <a:avLst/>
          </a:prstGeom>
          <a:noFill/>
        </p:spPr>
        <p:txBody>
          <a:bodyPr wrap="none">
            <a:spAutoFit/>
          </a:bodyPr>
          <a:lstStyle/>
          <a:p>
            <a:pPr>
              <a:spcAft>
                <a:spcPts val="600"/>
              </a:spcAft>
              <a:defRPr sz="1600"/>
            </a:pPr>
            <a:r>
              <a:t>Boolean values represent truth or falsehood,</a:t>
            </a:r>
            <a:br/>
            <a:r>
              <a:t> crucial for logical reasoning.</a:t>
            </a:r>
          </a:p>
          <a:p>
            <a:pPr>
              <a:spcAft>
                <a:spcPts val="600"/>
              </a:spcAft>
              <a:defRPr sz="1600"/>
            </a:pPr>
            <a:r>
              <a:t>True and False are the core logical operators – AND, OR, NOT.</a:t>
            </a:r>
          </a:p>
          <a:p>
            <a:pPr>
              <a:spcAft>
                <a:spcPts val="600"/>
              </a:spcAft>
              <a:defRPr sz="1600"/>
            </a:pPr>
            <a:r>
              <a:t>AND: Both inputs must be true; AND returns true only when both operands are true.</a:t>
            </a:r>
          </a:p>
          <a:p>
            <a:pPr>
              <a:spcAft>
                <a:spcPts val="600"/>
              </a:spcAft>
              <a:defRPr sz="1600"/>
            </a:pPr>
            <a:r>
              <a:t>OR: At least one input must be true;</a:t>
            </a:r>
            <a:br/>
            <a:r>
              <a:t> returns true if either operand is true or both are true.</a:t>
            </a:r>
          </a:p>
          <a:p>
            <a:pPr>
              <a:spcAft>
                <a:spcPts val="600"/>
              </a:spcAft>
              <a:defRPr sz="1600"/>
            </a:pPr>
            <a:r>
              <a:t>NOT: Inverts the truth value of an input (true becomes false and vice versa).</a:t>
            </a:r>
          </a:p>
          <a:p>
            <a:pPr>
              <a:spcAft>
                <a:spcPts val="600"/>
              </a:spcAft>
              <a:defRPr sz="1600"/>
            </a:pPr>
            <a:r>
              <a:t>Begin with foundational Boolean concepts, emphasizing their role in logical analysis.</a:t>
            </a:r>
          </a:p>
          <a:p>
            <a:pPr lvl="1">
              <a:defRPr sz="1200" i="1">
                <a:solidFill>
                  <a:srgbClr val="787878"/>
                </a:solidFill>
              </a:defRPr>
            </a:pPr>
            <a:r>
              <a:t>[Image placeholder] Boolean Values</a:t>
            </a:r>
          </a:p>
        </p:txBody>
      </p:sp>
      <p:pic>
        <p:nvPicPr>
          <p:cNvPr id="13" name="Picture 12" descr="_ppt_tmp_image.png"/>
          <p:cNvPicPr>
            <a:picLocks noChangeAspect="1"/>
          </p:cNvPicPr>
          <p:nvPr/>
        </p:nvPicPr>
        <p:blipFill>
          <a:blip r:embed="rId3"/>
          <a:stretch>
            <a:fillRect/>
          </a:stretch>
        </p:blipFill>
        <p:spPr>
          <a:xfrm>
            <a:off x="5486400" y="1828800"/>
            <a:ext cx="2743200" cy="20574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83134" y="1616740"/>
            <a:ext cx="6830714" cy="2128485"/>
            <a:chOff x="0" y="0"/>
            <a:chExt cx="2286638" cy="712528"/>
          </a:xfrm>
        </p:grpSpPr>
        <p:sp>
          <p:nvSpPr>
            <p:cNvPr name="Freeform 3" id="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4" id="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5" id="5"/>
          <p:cNvSpPr/>
          <p:nvPr/>
        </p:nvSpPr>
        <p:spPr>
          <a:xfrm flipH="false" flipV="false" rot="0">
            <a:off x="10685802" y="2275139"/>
            <a:ext cx="1023822" cy="839534"/>
          </a:xfrm>
          <a:custGeom>
            <a:avLst/>
            <a:gdLst/>
            <a:ahLst/>
            <a:cxnLst/>
            <a:rect r="r" b="b" t="t" l="l"/>
            <a:pathLst>
              <a:path h="839534" w="1023822">
                <a:moveTo>
                  <a:pt x="0" y="0"/>
                </a:moveTo>
                <a:lnTo>
                  <a:pt x="1023822" y="0"/>
                </a:lnTo>
                <a:lnTo>
                  <a:pt x="1023822" y="839533"/>
                </a:lnTo>
                <a:lnTo>
                  <a:pt x="0" y="839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083134" y="4079914"/>
            <a:ext cx="6830714" cy="2128485"/>
            <a:chOff x="0" y="0"/>
            <a:chExt cx="2286638" cy="712528"/>
          </a:xfrm>
        </p:grpSpPr>
        <p:sp>
          <p:nvSpPr>
            <p:cNvPr name="Freeform 7" id="7"/>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8" id="8"/>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0083134" y="6541774"/>
            <a:ext cx="6830714" cy="2128485"/>
            <a:chOff x="0" y="0"/>
            <a:chExt cx="2286638" cy="712528"/>
          </a:xfrm>
        </p:grpSpPr>
        <p:sp>
          <p:nvSpPr>
            <p:cNvPr name="Freeform 10" id="10"/>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1" id="11"/>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2" id="12"/>
          <p:cNvSpPr/>
          <p:nvPr/>
        </p:nvSpPr>
        <p:spPr>
          <a:xfrm flipH="false" flipV="false" rot="0">
            <a:off x="10677950" y="4517864"/>
            <a:ext cx="1031674" cy="1252584"/>
          </a:xfrm>
          <a:custGeom>
            <a:avLst/>
            <a:gdLst/>
            <a:ahLst/>
            <a:cxnLst/>
            <a:rect r="r" b="b" t="t" l="l"/>
            <a:pathLst>
              <a:path h="1252584" w="1031674">
                <a:moveTo>
                  <a:pt x="0" y="0"/>
                </a:moveTo>
                <a:lnTo>
                  <a:pt x="1031674" y="0"/>
                </a:lnTo>
                <a:lnTo>
                  <a:pt x="1031674" y="1252585"/>
                </a:lnTo>
                <a:lnTo>
                  <a:pt x="0" y="1252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0497275" y="7308439"/>
            <a:ext cx="1400875" cy="924578"/>
          </a:xfrm>
          <a:custGeom>
            <a:avLst/>
            <a:gdLst/>
            <a:ahLst/>
            <a:cxnLst/>
            <a:rect r="r" b="b" t="t" l="l"/>
            <a:pathLst>
              <a:path h="924578" w="1400875">
                <a:moveTo>
                  <a:pt x="0" y="0"/>
                </a:moveTo>
                <a:lnTo>
                  <a:pt x="1400875" y="0"/>
                </a:lnTo>
                <a:lnTo>
                  <a:pt x="1400875" y="924577"/>
                </a:lnTo>
                <a:lnTo>
                  <a:pt x="0" y="924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218937" y="2864121"/>
            <a:ext cx="8537476" cy="254157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Project vision and mission</a:t>
            </a:r>
          </a:p>
        </p:txBody>
      </p:sp>
      <p:sp>
        <p:nvSpPr>
          <p:cNvPr name="TextBox 15" id="15"/>
          <p:cNvSpPr txBox="true"/>
          <p:nvPr/>
        </p:nvSpPr>
        <p:spPr>
          <a:xfrm rot="0">
            <a:off x="1218937" y="5587947"/>
            <a:ext cx="6613419" cy="1561904"/>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6" id="16"/>
          <p:cNvSpPr txBox="true"/>
          <p:nvPr/>
        </p:nvSpPr>
        <p:spPr>
          <a:xfrm rot="0">
            <a:off x="12613891" y="2265614"/>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7" id="17"/>
          <p:cNvSpPr txBox="true"/>
          <p:nvPr/>
        </p:nvSpPr>
        <p:spPr>
          <a:xfrm rot="0">
            <a:off x="12613891" y="4696021"/>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8" id="18"/>
          <p:cNvSpPr txBox="true"/>
          <p:nvPr/>
        </p:nvSpPr>
        <p:spPr>
          <a:xfrm rot="0">
            <a:off x="12613891" y="7162803"/>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AutoShape 19" id="19"/>
          <p:cNvSpPr/>
          <p:nvPr/>
        </p:nvSpPr>
        <p:spPr>
          <a:xfrm flipV="true">
            <a:off x="12118262" y="2375876"/>
            <a:ext cx="0" cy="738797"/>
          </a:xfrm>
          <a:prstGeom prst="line">
            <a:avLst/>
          </a:prstGeom>
          <a:ln cap="flat" w="38100">
            <a:solidFill>
              <a:srgbClr val="000000"/>
            </a:solidFill>
            <a:prstDash val="solid"/>
            <a:headEnd type="none" len="sm" w="sm"/>
            <a:tailEnd type="none" len="sm" w="sm"/>
          </a:ln>
        </p:spPr>
      </p:sp>
      <p:sp>
        <p:nvSpPr>
          <p:cNvPr name="AutoShape 20" id="20"/>
          <p:cNvSpPr/>
          <p:nvPr/>
        </p:nvSpPr>
        <p:spPr>
          <a:xfrm flipV="true">
            <a:off x="12118262" y="4774758"/>
            <a:ext cx="0" cy="738797"/>
          </a:xfrm>
          <a:prstGeom prst="line">
            <a:avLst/>
          </a:prstGeom>
          <a:ln cap="flat" w="38100">
            <a:solidFill>
              <a:srgbClr val="000000"/>
            </a:solidFill>
            <a:prstDash val="solid"/>
            <a:headEnd type="none" len="sm" w="sm"/>
            <a:tailEnd type="none" len="sm" w="sm"/>
          </a:ln>
        </p:spPr>
      </p:sp>
      <p:sp>
        <p:nvSpPr>
          <p:cNvPr name="AutoShape 21" id="21"/>
          <p:cNvSpPr/>
          <p:nvPr/>
        </p:nvSpPr>
        <p:spPr>
          <a:xfrm flipV="true">
            <a:off x="12137312" y="7300910"/>
            <a:ext cx="0" cy="738797"/>
          </a:xfrm>
          <a:prstGeom prst="line">
            <a:avLst/>
          </a:prstGeom>
          <a:ln cap="flat" w="38100">
            <a:solidFill>
              <a:srgbClr val="000000"/>
            </a:solidFill>
            <a:prstDash val="solid"/>
            <a:headEnd type="none" len="sm" w="sm"/>
            <a:tailEnd type="none" len="sm" w="sm"/>
          </a:ln>
        </p:spPr>
      </p:sp>
      <p:grpSp>
        <p:nvGrpSpPr>
          <p:cNvPr name="Group 22" id="22"/>
          <p:cNvGrpSpPr/>
          <p:nvPr/>
        </p:nvGrpSpPr>
        <p:grpSpPr>
          <a:xfrm rot="0">
            <a:off x="1218937" y="7583541"/>
            <a:ext cx="4845334" cy="582575"/>
            <a:chOff x="0" y="0"/>
            <a:chExt cx="1276137" cy="153435"/>
          </a:xfrm>
        </p:grpSpPr>
        <p:sp>
          <p:nvSpPr>
            <p:cNvPr name="Freeform 23" id="23"/>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4" id="24"/>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160376" y="7720041"/>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26" name="TextBox 25"/>
          <p:cNvSpPr txBox="1"/>
          <p:nvPr/>
        </p:nvSpPr>
        <p:spPr>
          <a:xfrm>
            <a:off x="914400" y="1371600"/>
            <a:ext cx="7315200" cy="4114800"/>
          </a:xfrm>
          <a:prstGeom prst="rect">
            <a:avLst/>
          </a:prstGeom>
          <a:noFill/>
        </p:spPr>
        <p:txBody>
          <a:bodyPr wrap="none">
            <a:spAutoFit/>
          </a:bodyPr>
          <a:lstStyle/>
          <a:p>
            <a:pPr>
              <a:spcAft>
                <a:spcPts val="600"/>
              </a:spcAft>
              <a:defRPr sz="1600"/>
            </a:pPr>
            <a:r>
              <a:t>Boolean algebra deals with binary variables and operations like AND, OR,</a:t>
            </a:r>
            <a:br/>
            <a:r>
              <a:t> and NOT.</a:t>
            </a:r>
          </a:p>
          <a:p>
            <a:pPr>
              <a:spcAft>
                <a:spcPts val="600"/>
              </a:spcAft>
              <a:defRPr sz="1600"/>
            </a:pPr>
            <a:r>
              <a:t>The order of operations matters, especially within parentheses.</a:t>
            </a:r>
          </a:p>
          <a:p>
            <a:pPr>
              <a:spcAft>
                <a:spcPts val="600"/>
              </a:spcAft>
              <a:defRPr sz="1600"/>
            </a:pPr>
            <a:r>
              <a:t>Parentheses are essential for ensuring correct evaluation order.</a:t>
            </a:r>
          </a:p>
          <a:p>
            <a:pPr>
              <a:spcAft>
                <a:spcPts val="600"/>
              </a:spcAft>
              <a:defRPr sz="1600"/>
            </a:pPr>
            <a:r>
              <a:t>Logical expressions combine these operators from left to right, ignoring operator precedence.</a:t>
            </a:r>
          </a:p>
          <a:p>
            <a:pPr>
              <a:spcAft>
                <a:spcPts val="600"/>
              </a:spcAft>
              <a:defRPr sz="1600"/>
            </a:pPr>
            <a:r>
              <a:t>AND: Only true if both inputs are true;</a:t>
            </a:r>
            <a:br/>
            <a:r>
              <a:t> Example: A AND B = True only when both A and B are True.</a:t>
            </a:r>
          </a:p>
          <a:p>
            <a:pPr>
              <a:spcAft>
                <a:spcPts val="600"/>
              </a:spcAft>
              <a:defRPr sz="1600"/>
            </a:pPr>
            <a:r>
              <a:t>Master the core operations of Boolean algebra, understanding their interplay.</a:t>
            </a:r>
          </a:p>
          <a:p>
            <a:pPr lvl="1">
              <a:defRPr sz="1200" i="1">
                <a:solidFill>
                  <a:srgbClr val="787878"/>
                </a:solidFill>
              </a:defRPr>
            </a:pPr>
            <a:r>
              <a:t>[Image placeholder] Boolean Algebra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50429" y="2486361"/>
            <a:ext cx="6587404" cy="6587404"/>
          </a:xfrm>
          <a:custGeom>
            <a:avLst/>
            <a:gdLst/>
            <a:ahLst/>
            <a:cxnLst/>
            <a:rect r="r" b="b" t="t" l="l"/>
            <a:pathLst>
              <a:path h="6587404" w="6587404">
                <a:moveTo>
                  <a:pt x="0" y="0"/>
                </a:moveTo>
                <a:lnTo>
                  <a:pt x="6587404" y="0"/>
                </a:lnTo>
                <a:lnTo>
                  <a:pt x="6587404" y="6587404"/>
                </a:lnTo>
                <a:lnTo>
                  <a:pt x="0" y="6587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11903" y="3956783"/>
            <a:ext cx="2333479" cy="582575"/>
            <a:chOff x="0" y="0"/>
            <a:chExt cx="614579" cy="153435"/>
          </a:xfrm>
        </p:grpSpPr>
        <p:sp>
          <p:nvSpPr>
            <p:cNvPr name="Freeform 4" id="4"/>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11903" y="7214501"/>
            <a:ext cx="2333479" cy="582575"/>
            <a:chOff x="0" y="0"/>
            <a:chExt cx="614579" cy="153435"/>
          </a:xfrm>
        </p:grpSpPr>
        <p:sp>
          <p:nvSpPr>
            <p:cNvPr name="Freeform 7" id="7"/>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8" id="8"/>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89830" y="3794858"/>
            <a:ext cx="2333479" cy="582575"/>
            <a:chOff x="0" y="0"/>
            <a:chExt cx="614579" cy="153435"/>
          </a:xfrm>
        </p:grpSpPr>
        <p:sp>
          <p:nvSpPr>
            <p:cNvPr name="Freeform 10" id="10"/>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11" id="11"/>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489830" y="7052576"/>
            <a:ext cx="2333479" cy="582575"/>
            <a:chOff x="0" y="0"/>
            <a:chExt cx="614579" cy="153435"/>
          </a:xfrm>
        </p:grpSpPr>
        <p:sp>
          <p:nvSpPr>
            <p:cNvPr name="Freeform 13" id="13"/>
            <p:cNvSpPr/>
            <p:nvPr/>
          </p:nvSpPr>
          <p:spPr>
            <a:xfrm flipH="false" flipV="false" rot="0">
              <a:off x="0" y="0"/>
              <a:ext cx="614579" cy="153435"/>
            </a:xfrm>
            <a:custGeom>
              <a:avLst/>
              <a:gdLst/>
              <a:ahLst/>
              <a:cxnLst/>
              <a:rect r="r" b="b" t="t" l="l"/>
              <a:pathLst>
                <a:path h="153435" w="614579">
                  <a:moveTo>
                    <a:pt x="76718" y="0"/>
                  </a:moveTo>
                  <a:lnTo>
                    <a:pt x="537861" y="0"/>
                  </a:lnTo>
                  <a:cubicBezTo>
                    <a:pt x="558208" y="0"/>
                    <a:pt x="577721" y="8083"/>
                    <a:pt x="592109" y="22470"/>
                  </a:cubicBezTo>
                  <a:cubicBezTo>
                    <a:pt x="606496" y="36857"/>
                    <a:pt x="614579" y="56371"/>
                    <a:pt x="614579" y="76718"/>
                  </a:cubicBezTo>
                  <a:lnTo>
                    <a:pt x="614579" y="76718"/>
                  </a:lnTo>
                  <a:cubicBezTo>
                    <a:pt x="614579" y="97064"/>
                    <a:pt x="606496" y="116578"/>
                    <a:pt x="592109" y="130965"/>
                  </a:cubicBezTo>
                  <a:cubicBezTo>
                    <a:pt x="577721" y="145353"/>
                    <a:pt x="558208" y="153435"/>
                    <a:pt x="5378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14" id="14"/>
            <p:cNvSpPr txBox="true"/>
            <p:nvPr/>
          </p:nvSpPr>
          <p:spPr>
            <a:xfrm>
              <a:off x="0" y="-38100"/>
              <a:ext cx="614579" cy="19153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4844604" y="769456"/>
            <a:ext cx="7999053" cy="1231444"/>
          </a:xfrm>
          <a:prstGeom prst="rect">
            <a:avLst/>
          </a:prstGeom>
        </p:spPr>
        <p:txBody>
          <a:bodyPr anchor="t" rtlCol="false" tIns="0" lIns="0" bIns="0" rIns="0">
            <a:spAutoFit/>
          </a:bodyPr>
          <a:lstStyle/>
          <a:p>
            <a:pPr algn="ctr">
              <a:lnSpc>
                <a:spcPts val="9049"/>
              </a:lnSpc>
            </a:pPr>
            <a:r>
              <a:rPr lang="en-US" b="true" sz="7938">
                <a:solidFill>
                  <a:srgbClr val="1C2120"/>
                </a:solidFill>
                <a:latin typeface="Poppins Bold"/>
                <a:ea typeface="Poppins Bold"/>
                <a:cs typeface="Poppins Bold"/>
                <a:sym typeface="Poppins Bold"/>
              </a:rPr>
              <a:t>Infographic</a:t>
            </a:r>
          </a:p>
        </p:txBody>
      </p:sp>
      <p:sp>
        <p:nvSpPr>
          <p:cNvPr name="TextBox 16" id="16"/>
          <p:cNvSpPr txBox="true"/>
          <p:nvPr/>
        </p:nvSpPr>
        <p:spPr>
          <a:xfrm rot="0">
            <a:off x="1311903" y="2665220"/>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17" id="17"/>
          <p:cNvSpPr txBox="true"/>
          <p:nvPr/>
        </p:nvSpPr>
        <p:spPr>
          <a:xfrm rot="0">
            <a:off x="1393908" y="4106822"/>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18" id="18"/>
          <p:cNvSpPr txBox="true"/>
          <p:nvPr/>
        </p:nvSpPr>
        <p:spPr>
          <a:xfrm rot="0">
            <a:off x="1311903" y="4682232"/>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19" id="19"/>
          <p:cNvSpPr txBox="true"/>
          <p:nvPr/>
        </p:nvSpPr>
        <p:spPr>
          <a:xfrm rot="0">
            <a:off x="1311903" y="5922938"/>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0" id="20"/>
          <p:cNvSpPr txBox="true"/>
          <p:nvPr/>
        </p:nvSpPr>
        <p:spPr>
          <a:xfrm rot="0">
            <a:off x="1393908" y="7364540"/>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1" id="21"/>
          <p:cNvSpPr txBox="true"/>
          <p:nvPr/>
        </p:nvSpPr>
        <p:spPr>
          <a:xfrm rot="0">
            <a:off x="1311903" y="7939950"/>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22" id="22"/>
          <p:cNvSpPr txBox="true"/>
          <p:nvPr/>
        </p:nvSpPr>
        <p:spPr>
          <a:xfrm rot="0">
            <a:off x="13489830" y="2503295"/>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3" id="23"/>
          <p:cNvSpPr txBox="true"/>
          <p:nvPr/>
        </p:nvSpPr>
        <p:spPr>
          <a:xfrm rot="0">
            <a:off x="13571834" y="3944897"/>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4" id="24"/>
          <p:cNvSpPr txBox="true"/>
          <p:nvPr/>
        </p:nvSpPr>
        <p:spPr>
          <a:xfrm rot="0">
            <a:off x="13489830" y="4520307"/>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name="TextBox 25" id="25"/>
          <p:cNvSpPr txBox="true"/>
          <p:nvPr/>
        </p:nvSpPr>
        <p:spPr>
          <a:xfrm rot="0">
            <a:off x="13489830" y="5761013"/>
            <a:ext cx="2178165" cy="1120112"/>
          </a:xfrm>
          <a:prstGeom prst="rect">
            <a:avLst/>
          </a:prstGeom>
        </p:spPr>
        <p:txBody>
          <a:bodyPr anchor="t" rtlCol="false" tIns="0" lIns="0" bIns="0" rIns="0">
            <a:spAutoFit/>
          </a:bodyPr>
          <a:lstStyle/>
          <a:p>
            <a:pPr algn="l">
              <a:lnSpc>
                <a:spcPts val="8282"/>
              </a:lnSpc>
            </a:pPr>
            <a:r>
              <a:rPr lang="en-US" sz="7265" b="true">
                <a:solidFill>
                  <a:srgbClr val="1C2120"/>
                </a:solidFill>
                <a:latin typeface="Poppins Bold"/>
                <a:ea typeface="Poppins Bold"/>
                <a:cs typeface="Poppins Bold"/>
                <a:sym typeface="Poppins Bold"/>
              </a:rPr>
              <a:t>70k</a:t>
            </a:r>
          </a:p>
        </p:txBody>
      </p:sp>
      <p:sp>
        <p:nvSpPr>
          <p:cNvPr name="TextBox 26" id="26"/>
          <p:cNvSpPr txBox="true"/>
          <p:nvPr/>
        </p:nvSpPr>
        <p:spPr>
          <a:xfrm rot="0">
            <a:off x="13571834" y="7202615"/>
            <a:ext cx="2169471" cy="282496"/>
          </a:xfrm>
          <a:prstGeom prst="rect">
            <a:avLst/>
          </a:prstGeom>
        </p:spPr>
        <p:txBody>
          <a:bodyPr anchor="t" rtlCol="false" tIns="0" lIns="0" bIns="0" rIns="0">
            <a:spAutoFit/>
          </a:bodyPr>
          <a:lstStyle/>
          <a:p>
            <a:pPr algn="ctr">
              <a:lnSpc>
                <a:spcPts val="2033"/>
              </a:lnSpc>
            </a:pPr>
            <a:r>
              <a:rPr lang="en-US" sz="1883">
                <a:solidFill>
                  <a:srgbClr val="1C2120"/>
                </a:solidFill>
                <a:latin typeface="Poppins"/>
                <a:ea typeface="Poppins"/>
                <a:cs typeface="Poppins"/>
                <a:sym typeface="Poppins"/>
              </a:rPr>
              <a:t>Management</a:t>
            </a:r>
          </a:p>
        </p:txBody>
      </p:sp>
      <p:sp>
        <p:nvSpPr>
          <p:cNvPr name="TextBox 27" id="27"/>
          <p:cNvSpPr txBox="true"/>
          <p:nvPr/>
        </p:nvSpPr>
        <p:spPr>
          <a:xfrm rot="0">
            <a:off x="13489830" y="7778025"/>
            <a:ext cx="3658314" cy="935906"/>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a:t>
            </a:r>
          </a:p>
        </p:txBody>
      </p:sp>
      <p:sp>
        <p:nvSpPr>
          <p:cNvPr id="28" name="TextBox 27"/>
          <p:cNvSpPr txBox="1"/>
          <p:nvPr/>
        </p:nvSpPr>
        <p:spPr>
          <a:xfrm>
            <a:off x="914400" y="1371600"/>
            <a:ext cx="7315200" cy="4114800"/>
          </a:xfrm>
          <a:prstGeom prst="rect">
            <a:avLst/>
          </a:prstGeom>
          <a:noFill/>
        </p:spPr>
        <p:txBody>
          <a:bodyPr wrap="none">
            <a:spAutoFit/>
          </a:bodyPr>
          <a:lstStyle/>
          <a:p>
            <a:pPr>
              <a:spcAft>
                <a:spcPts val="600"/>
              </a:spcAft>
              <a:defRPr sz="1600"/>
            </a:pPr>
            <a:r>
              <a:t>Truth tables list all possible input combinations and corresponding outputs.</a:t>
            </a:r>
          </a:p>
          <a:p>
            <a:pPr>
              <a:spcAft>
                <a:spcPts val="600"/>
              </a:spcAft>
              <a:defRPr sz="1600"/>
            </a:pPr>
            <a:r>
              <a:t>Each row represents a unique combination,</a:t>
            </a:r>
            <a:br/>
            <a:r>
              <a:t> allowing detailed analysis of the expression's behavior.</a:t>
            </a:r>
          </a:p>
          <a:p>
            <a:pPr>
              <a:spcAft>
                <a:spcPts val="600"/>
              </a:spcAft>
              <a:defRPr sz="1600"/>
            </a:pPr>
            <a:r>
              <a:t>Analyze each combination to determine the result of the operation.</a:t>
            </a:r>
          </a:p>
          <a:p>
            <a:pPr>
              <a:spcAft>
                <a:spcPts val="600"/>
              </a:spcAft>
              <a:defRPr sz="1600"/>
            </a:pPr>
            <a:r>
              <a:t>Learn how to construct truth tables for complex logical expressions.</a:t>
            </a:r>
          </a:p>
          <a:p>
            <a:pPr lvl="1">
              <a:defRPr sz="1200" i="1">
                <a:solidFill>
                  <a:srgbClr val="787878"/>
                </a:solidFill>
              </a:defRPr>
            </a:pPr>
            <a:r>
              <a:t>[Image placeholder] Boolean Algebra – Truth Tables</a:t>
            </a:r>
          </a:p>
        </p:txBody>
      </p:sp>
      <p:pic>
        <p:nvPicPr>
          <p:cNvPr id="29" name="Picture 28" descr="_ppt_tmp_image.png"/>
          <p:cNvPicPr>
            <a:picLocks noChangeAspect="1"/>
          </p:cNvPicPr>
          <p:nvPr/>
        </p:nvPicPr>
        <p:blipFill>
          <a:blip r:embed="rId4"/>
          <a:stretch>
            <a:fillRect/>
          </a:stretch>
        </p:blipFill>
        <p:spPr>
          <a:xfrm>
            <a:off x="5486400" y="1828800"/>
            <a:ext cx="2743200" cy="20574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58798" y="2697161"/>
            <a:ext cx="4892678" cy="48926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1222" t="0" r="-69951" b="0"/>
              </a:stretch>
            </a:blipFill>
          </p:spPr>
        </p:sp>
      </p:grpSp>
      <p:grpSp>
        <p:nvGrpSpPr>
          <p:cNvPr name="Group 4" id="4"/>
          <p:cNvGrpSpPr/>
          <p:nvPr/>
        </p:nvGrpSpPr>
        <p:grpSpPr>
          <a:xfrm rot="0">
            <a:off x="12796261" y="1028700"/>
            <a:ext cx="1463216" cy="146321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5567318" y="2697161"/>
            <a:ext cx="1463216" cy="14632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567318" y="5927221"/>
            <a:ext cx="1463216" cy="14632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28119" y="1639405"/>
            <a:ext cx="1463216" cy="146321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388852" y="2066895"/>
            <a:ext cx="741751" cy="608236"/>
          </a:xfrm>
          <a:custGeom>
            <a:avLst/>
            <a:gdLst/>
            <a:ahLst/>
            <a:cxnLst/>
            <a:rect r="r" b="b" t="t" l="l"/>
            <a:pathLst>
              <a:path h="608236" w="741751">
                <a:moveTo>
                  <a:pt x="0" y="0"/>
                </a:moveTo>
                <a:lnTo>
                  <a:pt x="741751" y="0"/>
                </a:lnTo>
                <a:lnTo>
                  <a:pt x="741751" y="608236"/>
                </a:lnTo>
                <a:lnTo>
                  <a:pt x="0" y="608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3175910" y="1332986"/>
            <a:ext cx="703917" cy="854645"/>
          </a:xfrm>
          <a:custGeom>
            <a:avLst/>
            <a:gdLst/>
            <a:ahLst/>
            <a:cxnLst/>
            <a:rect r="r" b="b" t="t" l="l"/>
            <a:pathLst>
              <a:path h="854645" w="703917">
                <a:moveTo>
                  <a:pt x="0" y="0"/>
                </a:moveTo>
                <a:lnTo>
                  <a:pt x="703917" y="0"/>
                </a:lnTo>
                <a:lnTo>
                  <a:pt x="703917" y="854645"/>
                </a:lnTo>
                <a:lnTo>
                  <a:pt x="0" y="8546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5804764" y="3102622"/>
            <a:ext cx="988326" cy="652295"/>
          </a:xfrm>
          <a:custGeom>
            <a:avLst/>
            <a:gdLst/>
            <a:ahLst/>
            <a:cxnLst/>
            <a:rect r="r" b="b" t="t" l="l"/>
            <a:pathLst>
              <a:path h="652295" w="988326">
                <a:moveTo>
                  <a:pt x="0" y="0"/>
                </a:moveTo>
                <a:lnTo>
                  <a:pt x="988326" y="0"/>
                </a:lnTo>
                <a:lnTo>
                  <a:pt x="988326" y="652295"/>
                </a:lnTo>
                <a:lnTo>
                  <a:pt x="0" y="6522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5875201" y="6240496"/>
            <a:ext cx="847451" cy="836665"/>
          </a:xfrm>
          <a:custGeom>
            <a:avLst/>
            <a:gdLst/>
            <a:ahLst/>
            <a:cxnLst/>
            <a:rect r="r" b="b" t="t" l="l"/>
            <a:pathLst>
              <a:path h="836665" w="847451">
                <a:moveTo>
                  <a:pt x="0" y="0"/>
                </a:moveTo>
                <a:lnTo>
                  <a:pt x="847451" y="0"/>
                </a:lnTo>
                <a:lnTo>
                  <a:pt x="847451" y="836665"/>
                </a:lnTo>
                <a:lnTo>
                  <a:pt x="0" y="8366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1142385" y="3654843"/>
            <a:ext cx="8537476" cy="1322116"/>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Our Process</a:t>
            </a:r>
          </a:p>
        </p:txBody>
      </p:sp>
      <p:sp>
        <p:nvSpPr>
          <p:cNvPr name="TextBox 21" id="21"/>
          <p:cNvSpPr txBox="true"/>
          <p:nvPr/>
        </p:nvSpPr>
        <p:spPr>
          <a:xfrm rot="0">
            <a:off x="1244800" y="5510359"/>
            <a:ext cx="6613419" cy="1561904"/>
          </a:xfrm>
          <a:prstGeom prst="rect">
            <a:avLst/>
          </a:prstGeom>
        </p:spPr>
        <p:txBody>
          <a:bodyPr anchor="t" rtlCol="false" tIns="0" lIns="0" bIns="0" rIns="0">
            <a:spAutoFit/>
          </a:bodyPr>
          <a:lstStyle/>
          <a:p>
            <a:pPr algn="l" marL="0" indent="0" lvl="0">
              <a:lnSpc>
                <a:spcPts val="2541"/>
              </a:lnSpc>
              <a:spcBef>
                <a:spcPct val="0"/>
              </a:spcBef>
            </a:pPr>
            <a:r>
              <a:rPr lang="en-US" sz="1882" spc="112"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22" id="22"/>
          <p:cNvGrpSpPr/>
          <p:nvPr/>
        </p:nvGrpSpPr>
        <p:grpSpPr>
          <a:xfrm rot="0">
            <a:off x="1244800" y="7505953"/>
            <a:ext cx="4845334" cy="582575"/>
            <a:chOff x="0" y="0"/>
            <a:chExt cx="1276137" cy="153435"/>
          </a:xfrm>
        </p:grpSpPr>
        <p:sp>
          <p:nvSpPr>
            <p:cNvPr name="Freeform 23" id="23"/>
            <p:cNvSpPr/>
            <p:nvPr/>
          </p:nvSpPr>
          <p:spPr>
            <a:xfrm flipH="false" flipV="false" rot="0">
              <a:off x="0" y="0"/>
              <a:ext cx="1276137" cy="153435"/>
            </a:xfrm>
            <a:custGeom>
              <a:avLst/>
              <a:gdLst/>
              <a:ahLst/>
              <a:cxnLst/>
              <a:rect r="r" b="b" t="t" l="l"/>
              <a:pathLst>
                <a:path h="153435" w="1276137">
                  <a:moveTo>
                    <a:pt x="76718" y="0"/>
                  </a:moveTo>
                  <a:lnTo>
                    <a:pt x="1199420" y="0"/>
                  </a:lnTo>
                  <a:cubicBezTo>
                    <a:pt x="1219767" y="0"/>
                    <a:pt x="1239280" y="8083"/>
                    <a:pt x="1253667" y="22470"/>
                  </a:cubicBezTo>
                  <a:cubicBezTo>
                    <a:pt x="1268055" y="36857"/>
                    <a:pt x="1276137" y="56371"/>
                    <a:pt x="1276137" y="76718"/>
                  </a:cubicBezTo>
                  <a:lnTo>
                    <a:pt x="1276137" y="76718"/>
                  </a:lnTo>
                  <a:cubicBezTo>
                    <a:pt x="1276137" y="97064"/>
                    <a:pt x="1268055" y="116578"/>
                    <a:pt x="1253667" y="130965"/>
                  </a:cubicBezTo>
                  <a:cubicBezTo>
                    <a:pt x="1239280" y="145353"/>
                    <a:pt x="1219767" y="153435"/>
                    <a:pt x="1199420"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4" id="24"/>
            <p:cNvSpPr txBox="true"/>
            <p:nvPr/>
          </p:nvSpPr>
          <p:spPr>
            <a:xfrm>
              <a:off x="0" y="-38100"/>
              <a:ext cx="1276137" cy="19153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186239" y="7642453"/>
            <a:ext cx="3007705" cy="319099"/>
          </a:xfrm>
          <a:prstGeom prst="rect">
            <a:avLst/>
          </a:prstGeom>
        </p:spPr>
        <p:txBody>
          <a:bodyPr anchor="t" rtlCol="false" tIns="0" lIns="0" bIns="0" rIns="0">
            <a:spAutoFit/>
          </a:bodyPr>
          <a:lstStyle/>
          <a:p>
            <a:pPr algn="ctr">
              <a:lnSpc>
                <a:spcPts val="2365"/>
              </a:lnSpc>
            </a:pPr>
            <a:r>
              <a:rPr lang="en-US" sz="2190">
                <a:solidFill>
                  <a:srgbClr val="1C2120"/>
                </a:solidFill>
                <a:latin typeface="Poppins"/>
                <a:ea typeface="Poppins"/>
                <a:cs typeface="Poppins"/>
                <a:sym typeface="Poppins"/>
              </a:rPr>
              <a:t>Exploring creativity</a:t>
            </a:r>
          </a:p>
        </p:txBody>
      </p:sp>
      <p:sp>
        <p:nvSpPr>
          <p:cNvPr id="26" name="TextBox 25"/>
          <p:cNvSpPr txBox="1"/>
          <p:nvPr/>
        </p:nvSpPr>
        <p:spPr>
          <a:xfrm>
            <a:off x="914400" y="1371600"/>
            <a:ext cx="7315200" cy="4114800"/>
          </a:xfrm>
          <a:prstGeom prst="rect">
            <a:avLst/>
          </a:prstGeom>
          <a:noFill/>
        </p:spPr>
        <p:txBody>
          <a:bodyPr wrap="none">
            <a:spAutoFit/>
          </a:bodyPr>
          <a:lstStyle/>
          <a:p>
            <a:pPr>
              <a:spcAft>
                <a:spcPts val="600"/>
              </a:spcAft>
              <a:defRPr sz="1600"/>
            </a:pPr>
            <a:r>
              <a:t>NOT negates a boolean value, flipping its truth value (True becomes False and vice versa).</a:t>
            </a:r>
          </a:p>
          <a:p>
            <a:pPr>
              <a:spcAft>
                <a:spcPts val="600"/>
              </a:spcAft>
              <a:defRPr sz="1600"/>
            </a:pPr>
            <a:r>
              <a:t>Example: NOT(True) = False.</a:t>
            </a:r>
          </a:p>
          <a:p>
            <a:pPr>
              <a:spcAft>
                <a:spcPts val="600"/>
              </a:spcAft>
              <a:defRPr sz="1600"/>
            </a:pPr>
            <a:r>
              <a:t>Understand the negation rule and its implications for Boolean expressions.</a:t>
            </a:r>
          </a:p>
          <a:p>
            <a:pPr lvl="1">
              <a:defRPr sz="1200" i="1">
                <a:solidFill>
                  <a:srgbClr val="787878"/>
                </a:solidFill>
              </a:defRPr>
            </a:pPr>
            <a:r>
              <a:t>[Image placeholder] Boolean Logic – Negation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36740" y="2932889"/>
            <a:ext cx="3443373" cy="5819980"/>
            <a:chOff x="0" y="0"/>
            <a:chExt cx="612460" cy="1035178"/>
          </a:xfrm>
        </p:grpSpPr>
        <p:sp>
          <p:nvSpPr>
            <p:cNvPr name="Freeform 3" id="3"/>
            <p:cNvSpPr/>
            <p:nvPr/>
          </p:nvSpPr>
          <p:spPr>
            <a:xfrm flipH="false" flipV="false" rot="0">
              <a:off x="0" y="0"/>
              <a:ext cx="612460" cy="1035178"/>
            </a:xfrm>
            <a:custGeom>
              <a:avLst/>
              <a:gdLst/>
              <a:ahLst/>
              <a:cxnLst/>
              <a:rect r="r" b="b" t="t" l="l"/>
              <a:pathLst>
                <a:path h="1035178" w="612460">
                  <a:moveTo>
                    <a:pt x="0" y="0"/>
                  </a:moveTo>
                  <a:lnTo>
                    <a:pt x="612460" y="0"/>
                  </a:lnTo>
                  <a:lnTo>
                    <a:pt x="612460" y="1035178"/>
                  </a:lnTo>
                  <a:lnTo>
                    <a:pt x="0" y="1035178"/>
                  </a:lnTo>
                  <a:close/>
                </a:path>
              </a:pathLst>
            </a:custGeom>
            <a:blipFill>
              <a:blip r:embed="rId2"/>
              <a:stretch>
                <a:fillRect l="-9171" t="0" r="-4705" b="0"/>
              </a:stretch>
            </a:blipFill>
          </p:spPr>
        </p:sp>
      </p:grpSp>
      <p:grpSp>
        <p:nvGrpSpPr>
          <p:cNvPr name="Group 4" id="4"/>
          <p:cNvGrpSpPr/>
          <p:nvPr/>
        </p:nvGrpSpPr>
        <p:grpSpPr>
          <a:xfrm rot="0">
            <a:off x="5780113" y="2932889"/>
            <a:ext cx="3363887" cy="5819980"/>
            <a:chOff x="0" y="0"/>
            <a:chExt cx="1017147" cy="1759802"/>
          </a:xfrm>
        </p:grpSpPr>
        <p:sp>
          <p:nvSpPr>
            <p:cNvPr name="Freeform 5" id="5"/>
            <p:cNvSpPr/>
            <p:nvPr/>
          </p:nvSpPr>
          <p:spPr>
            <a:xfrm flipH="false" flipV="false" rot="0">
              <a:off x="0" y="0"/>
              <a:ext cx="1017147" cy="1759802"/>
            </a:xfrm>
            <a:custGeom>
              <a:avLst/>
              <a:gdLst/>
              <a:ahLst/>
              <a:cxnLst/>
              <a:rect r="r" b="b" t="t" l="l"/>
              <a:pathLst>
                <a:path h="1759802" w="1017147">
                  <a:moveTo>
                    <a:pt x="0" y="0"/>
                  </a:moveTo>
                  <a:lnTo>
                    <a:pt x="1017147" y="0"/>
                  </a:lnTo>
                  <a:lnTo>
                    <a:pt x="1017147" y="1759802"/>
                  </a:lnTo>
                  <a:lnTo>
                    <a:pt x="0" y="1759802"/>
                  </a:lnTo>
                  <a:close/>
                </a:path>
              </a:pathLst>
            </a:custGeom>
            <a:solidFill>
              <a:srgbClr val="AAD7D4"/>
            </a:solidFill>
          </p:spPr>
        </p:sp>
        <p:sp>
          <p:nvSpPr>
            <p:cNvPr name="TextBox 6" id="6"/>
            <p:cNvSpPr txBox="true"/>
            <p:nvPr/>
          </p:nvSpPr>
          <p:spPr>
            <a:xfrm>
              <a:off x="0" y="-38100"/>
              <a:ext cx="1017147" cy="179790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44000" y="2932889"/>
            <a:ext cx="3443373" cy="5819980"/>
            <a:chOff x="0" y="0"/>
            <a:chExt cx="612460" cy="1035178"/>
          </a:xfrm>
        </p:grpSpPr>
        <p:sp>
          <p:nvSpPr>
            <p:cNvPr name="Freeform 8" id="8"/>
            <p:cNvSpPr/>
            <p:nvPr/>
          </p:nvSpPr>
          <p:spPr>
            <a:xfrm flipH="false" flipV="false" rot="0">
              <a:off x="0" y="0"/>
              <a:ext cx="612460" cy="1035178"/>
            </a:xfrm>
            <a:custGeom>
              <a:avLst/>
              <a:gdLst/>
              <a:ahLst/>
              <a:cxnLst/>
              <a:rect r="r" b="b" t="t" l="l"/>
              <a:pathLst>
                <a:path h="1035178" w="612460">
                  <a:moveTo>
                    <a:pt x="0" y="0"/>
                  </a:moveTo>
                  <a:lnTo>
                    <a:pt x="612460" y="0"/>
                  </a:lnTo>
                  <a:lnTo>
                    <a:pt x="612460" y="1035178"/>
                  </a:lnTo>
                  <a:lnTo>
                    <a:pt x="0" y="1035178"/>
                  </a:lnTo>
                  <a:close/>
                </a:path>
              </a:pathLst>
            </a:custGeom>
            <a:blipFill>
              <a:blip r:embed="rId3"/>
              <a:stretch>
                <a:fillRect l="-6304" t="0" r="-6304" b="0"/>
              </a:stretch>
            </a:blipFill>
          </p:spPr>
        </p:sp>
      </p:grpSp>
      <p:grpSp>
        <p:nvGrpSpPr>
          <p:cNvPr name="Group 9" id="9"/>
          <p:cNvGrpSpPr/>
          <p:nvPr/>
        </p:nvGrpSpPr>
        <p:grpSpPr>
          <a:xfrm rot="0">
            <a:off x="12587373" y="2932889"/>
            <a:ext cx="3363887" cy="5819980"/>
            <a:chOff x="0" y="0"/>
            <a:chExt cx="1017147" cy="1759802"/>
          </a:xfrm>
        </p:grpSpPr>
        <p:sp>
          <p:nvSpPr>
            <p:cNvPr name="Freeform 10" id="10"/>
            <p:cNvSpPr/>
            <p:nvPr/>
          </p:nvSpPr>
          <p:spPr>
            <a:xfrm flipH="false" flipV="false" rot="0">
              <a:off x="0" y="0"/>
              <a:ext cx="1017147" cy="1759802"/>
            </a:xfrm>
            <a:custGeom>
              <a:avLst/>
              <a:gdLst/>
              <a:ahLst/>
              <a:cxnLst/>
              <a:rect r="r" b="b" t="t" l="l"/>
              <a:pathLst>
                <a:path h="1759802" w="1017147">
                  <a:moveTo>
                    <a:pt x="0" y="0"/>
                  </a:moveTo>
                  <a:lnTo>
                    <a:pt x="1017147" y="0"/>
                  </a:lnTo>
                  <a:lnTo>
                    <a:pt x="1017147" y="1759802"/>
                  </a:lnTo>
                  <a:lnTo>
                    <a:pt x="0" y="1759802"/>
                  </a:lnTo>
                  <a:close/>
                </a:path>
              </a:pathLst>
            </a:custGeom>
            <a:solidFill>
              <a:srgbClr val="AAD7D4"/>
            </a:solidFill>
          </p:spPr>
        </p:sp>
        <p:sp>
          <p:nvSpPr>
            <p:cNvPr name="TextBox 11" id="11"/>
            <p:cNvSpPr txBox="true"/>
            <p:nvPr/>
          </p:nvSpPr>
          <p:spPr>
            <a:xfrm>
              <a:off x="0" y="-38100"/>
              <a:ext cx="1017147" cy="179790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168623" y="3983913"/>
            <a:ext cx="706138" cy="579034"/>
          </a:xfrm>
          <a:custGeom>
            <a:avLst/>
            <a:gdLst/>
            <a:ahLst/>
            <a:cxnLst/>
            <a:rect r="r" b="b" t="t" l="l"/>
            <a:pathLst>
              <a:path h="579034" w="706138">
                <a:moveTo>
                  <a:pt x="0" y="0"/>
                </a:moveTo>
                <a:lnTo>
                  <a:pt x="706139" y="0"/>
                </a:lnTo>
                <a:lnTo>
                  <a:pt x="706139" y="579033"/>
                </a:lnTo>
                <a:lnTo>
                  <a:pt x="0" y="579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168623" y="4944522"/>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4" id="14"/>
          <p:cNvSpPr txBox="true"/>
          <p:nvPr/>
        </p:nvSpPr>
        <p:spPr>
          <a:xfrm rot="0">
            <a:off x="6168623" y="4700431"/>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15" id="15"/>
          <p:cNvSpPr/>
          <p:nvPr/>
        </p:nvSpPr>
        <p:spPr>
          <a:xfrm flipH="false" flipV="false" rot="0">
            <a:off x="6168623" y="6263881"/>
            <a:ext cx="787259" cy="519591"/>
          </a:xfrm>
          <a:custGeom>
            <a:avLst/>
            <a:gdLst/>
            <a:ahLst/>
            <a:cxnLst/>
            <a:rect r="r" b="b" t="t" l="l"/>
            <a:pathLst>
              <a:path h="519591" w="787259">
                <a:moveTo>
                  <a:pt x="0" y="0"/>
                </a:moveTo>
                <a:lnTo>
                  <a:pt x="787260" y="0"/>
                </a:lnTo>
                <a:lnTo>
                  <a:pt x="787260" y="519591"/>
                </a:lnTo>
                <a:lnTo>
                  <a:pt x="0" y="519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6168623" y="7198837"/>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17" id="17"/>
          <p:cNvSpPr txBox="true"/>
          <p:nvPr/>
        </p:nvSpPr>
        <p:spPr>
          <a:xfrm rot="0">
            <a:off x="6168623" y="6954746"/>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18" id="18"/>
          <p:cNvSpPr/>
          <p:nvPr/>
        </p:nvSpPr>
        <p:spPr>
          <a:xfrm flipH="false" flipV="false" rot="0">
            <a:off x="12977898" y="3983913"/>
            <a:ext cx="706138" cy="579034"/>
          </a:xfrm>
          <a:custGeom>
            <a:avLst/>
            <a:gdLst/>
            <a:ahLst/>
            <a:cxnLst/>
            <a:rect r="r" b="b" t="t" l="l"/>
            <a:pathLst>
              <a:path h="579034" w="706138">
                <a:moveTo>
                  <a:pt x="0" y="0"/>
                </a:moveTo>
                <a:lnTo>
                  <a:pt x="706138" y="0"/>
                </a:lnTo>
                <a:lnTo>
                  <a:pt x="706138" y="579033"/>
                </a:lnTo>
                <a:lnTo>
                  <a:pt x="0" y="579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2977898" y="4944522"/>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0" id="20"/>
          <p:cNvSpPr txBox="true"/>
          <p:nvPr/>
        </p:nvSpPr>
        <p:spPr>
          <a:xfrm rot="0">
            <a:off x="12977898" y="4700431"/>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Freeform 21" id="21"/>
          <p:cNvSpPr/>
          <p:nvPr/>
        </p:nvSpPr>
        <p:spPr>
          <a:xfrm flipH="false" flipV="false" rot="0">
            <a:off x="12977898" y="6263881"/>
            <a:ext cx="787259" cy="519591"/>
          </a:xfrm>
          <a:custGeom>
            <a:avLst/>
            <a:gdLst/>
            <a:ahLst/>
            <a:cxnLst/>
            <a:rect r="r" b="b" t="t" l="l"/>
            <a:pathLst>
              <a:path h="519591" w="787259">
                <a:moveTo>
                  <a:pt x="0" y="0"/>
                </a:moveTo>
                <a:lnTo>
                  <a:pt x="787259" y="0"/>
                </a:lnTo>
                <a:lnTo>
                  <a:pt x="787259" y="519591"/>
                </a:lnTo>
                <a:lnTo>
                  <a:pt x="0" y="519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2977898" y="7198837"/>
            <a:ext cx="2492814" cy="903230"/>
          </a:xfrm>
          <a:prstGeom prst="rect">
            <a:avLst/>
          </a:prstGeom>
        </p:spPr>
        <p:txBody>
          <a:bodyPr anchor="t" rtlCol="false" tIns="0" lIns="0" bIns="0" rIns="0">
            <a:spAutoFit/>
          </a:bodyPr>
          <a:lstStyle/>
          <a:p>
            <a:pPr algn="just" marL="0" indent="0" lvl="0">
              <a:lnSpc>
                <a:spcPts val="1479"/>
              </a:lnSpc>
              <a:spcBef>
                <a:spcPct val="0"/>
              </a:spcBef>
            </a:pPr>
            <a:r>
              <a:rPr lang="en-US" sz="1096" spc="17"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3" id="23"/>
          <p:cNvSpPr txBox="true"/>
          <p:nvPr/>
        </p:nvSpPr>
        <p:spPr>
          <a:xfrm rot="0">
            <a:off x="12977898" y="6954746"/>
            <a:ext cx="2408376" cy="255334"/>
          </a:xfrm>
          <a:prstGeom prst="rect">
            <a:avLst/>
          </a:prstGeom>
        </p:spPr>
        <p:txBody>
          <a:bodyPr anchor="t" rtlCol="false" tIns="0" lIns="0" bIns="0" rIns="0">
            <a:spAutoFit/>
          </a:bodyPr>
          <a:lstStyle/>
          <a:p>
            <a:pPr algn="l">
              <a:lnSpc>
                <a:spcPts val="1894"/>
              </a:lnSpc>
            </a:pPr>
            <a:r>
              <a:rPr lang="en-US" sz="1754" b="true">
                <a:solidFill>
                  <a:srgbClr val="1C2120"/>
                </a:solidFill>
                <a:latin typeface="Poppins Bold"/>
                <a:ea typeface="Poppins Bold"/>
                <a:cs typeface="Poppins Bold"/>
                <a:sym typeface="Poppins Bold"/>
              </a:rPr>
              <a:t>Exploring creativity</a:t>
            </a:r>
          </a:p>
        </p:txBody>
      </p:sp>
      <p:sp>
        <p:nvSpPr>
          <p:cNvPr name="TextBox 24" id="24"/>
          <p:cNvSpPr txBox="true"/>
          <p:nvPr/>
        </p:nvSpPr>
        <p:spPr>
          <a:xfrm rot="0">
            <a:off x="4354896" y="1254733"/>
            <a:ext cx="9578208" cy="947826"/>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Creation process</a:t>
            </a:r>
          </a:p>
        </p:txBody>
      </p:sp>
      <p:sp>
        <p:nvSpPr>
          <p:cNvPr id="25" name="TextBox 24"/>
          <p:cNvSpPr txBox="1"/>
          <p:nvPr/>
        </p:nvSpPr>
        <p:spPr>
          <a:xfrm>
            <a:off x="914400" y="1371600"/>
            <a:ext cx="7315200" cy="4114800"/>
          </a:xfrm>
          <a:prstGeom prst="rect">
            <a:avLst/>
          </a:prstGeom>
          <a:noFill/>
        </p:spPr>
        <p:txBody>
          <a:bodyPr wrap="none">
            <a:spAutoFit/>
          </a:bodyPr>
          <a:lstStyle/>
          <a:p>
            <a:pPr>
              <a:spcAft>
                <a:spcPts val="600"/>
              </a:spcAft>
              <a:defRPr sz="1600"/>
            </a:pPr>
            <a:r>
              <a:t>Conditional statements (if/else) execute code based on conditions.</a:t>
            </a:r>
          </a:p>
          <a:p>
            <a:pPr>
              <a:spcAft>
                <a:spcPts val="600"/>
              </a:spcAft>
              <a:defRPr sz="1600"/>
            </a:pPr>
            <a:r>
              <a:t>Decision-making systems automate processes with logical rules.</a:t>
            </a:r>
          </a:p>
          <a:p>
            <a:pPr>
              <a:spcAft>
                <a:spcPts val="600"/>
              </a:spcAft>
              <a:defRPr sz="1600"/>
            </a:pPr>
            <a:r>
              <a:t>Error handling manages unexpected situations with logical checks.</a:t>
            </a:r>
          </a:p>
          <a:p>
            <a:pPr>
              <a:spcAft>
                <a:spcPts val="600"/>
              </a:spcAft>
              <a:defRPr sz="1600"/>
            </a:pPr>
            <a:r>
              <a:t>Explore practical applications of Boolean logic in various domains.</a:t>
            </a:r>
          </a:p>
          <a:p>
            <a:pPr lvl="1">
              <a:defRPr sz="1200" i="1">
                <a:solidFill>
                  <a:srgbClr val="787878"/>
                </a:solidFill>
              </a:defRPr>
            </a:pPr>
            <a:r>
              <a:t>[Image placeholder] Boolean Logic – Common Use Cases</a:t>
            </a:r>
          </a:p>
        </p:txBody>
      </p:sp>
      <p:pic>
        <p:nvPicPr>
          <p:cNvPr id="26" name="Picture 25" descr="_ppt_tmp_image.png"/>
          <p:cNvPicPr>
            <a:picLocks noChangeAspect="1"/>
          </p:cNvPicPr>
          <p:nvPr/>
        </p:nvPicPr>
        <p:blipFill>
          <a:blip r:embed="rId8"/>
          <a:stretch>
            <a:fillRect/>
          </a:stretch>
        </p:blipFill>
        <p:spPr>
          <a:xfrm>
            <a:off x="5486400" y="1828800"/>
            <a:ext cx="2743200" cy="1828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8865" y="2662714"/>
            <a:ext cx="6437409" cy="1081898"/>
          </a:xfrm>
          <a:prstGeom prst="rect">
            <a:avLst/>
          </a:prstGeom>
        </p:spPr>
        <p:txBody>
          <a:bodyPr anchor="t" rtlCol="false" tIns="0" lIns="0" bIns="0" rIns="0">
            <a:spAutoFit/>
          </a:bodyPr>
          <a:lstStyle/>
          <a:p>
            <a:pPr algn="l" marL="0" indent="0" lvl="1">
              <a:lnSpc>
                <a:spcPts val="7458"/>
              </a:lnSpc>
              <a:spcBef>
                <a:spcPct val="0"/>
              </a:spcBef>
            </a:pPr>
            <a:r>
              <a:rPr lang="en-US" b="true" sz="7689">
                <a:solidFill>
                  <a:srgbClr val="1C2120"/>
                </a:solidFill>
                <a:latin typeface="Poppins Bold"/>
                <a:ea typeface="Poppins Bold"/>
                <a:cs typeface="Poppins Bold"/>
                <a:sym typeface="Poppins Bold"/>
              </a:rPr>
              <a:t>Mind map</a:t>
            </a:r>
          </a:p>
        </p:txBody>
      </p:sp>
      <p:grpSp>
        <p:nvGrpSpPr>
          <p:cNvPr name="Group 3" id="3"/>
          <p:cNvGrpSpPr/>
          <p:nvPr/>
        </p:nvGrpSpPr>
        <p:grpSpPr>
          <a:xfrm rot="0">
            <a:off x="1258865" y="3968928"/>
            <a:ext cx="4026853" cy="606389"/>
            <a:chOff x="0" y="0"/>
            <a:chExt cx="1348022" cy="202994"/>
          </a:xfrm>
        </p:grpSpPr>
        <p:sp>
          <p:nvSpPr>
            <p:cNvPr name="Freeform 4" id="4"/>
            <p:cNvSpPr/>
            <p:nvPr/>
          </p:nvSpPr>
          <p:spPr>
            <a:xfrm flipH="false" flipV="false" rot="0">
              <a:off x="0" y="0"/>
              <a:ext cx="1348022" cy="202994"/>
            </a:xfrm>
            <a:custGeom>
              <a:avLst/>
              <a:gdLst/>
              <a:ahLst/>
              <a:cxnLst/>
              <a:rect r="r" b="b" t="t" l="l"/>
              <a:pathLst>
                <a:path h="202994" w="1348022">
                  <a:moveTo>
                    <a:pt x="96129" y="0"/>
                  </a:moveTo>
                  <a:lnTo>
                    <a:pt x="1251893" y="0"/>
                  </a:lnTo>
                  <a:cubicBezTo>
                    <a:pt x="1304984" y="0"/>
                    <a:pt x="1348022" y="43038"/>
                    <a:pt x="1348022" y="96129"/>
                  </a:cubicBezTo>
                  <a:lnTo>
                    <a:pt x="1348022" y="106865"/>
                  </a:lnTo>
                  <a:cubicBezTo>
                    <a:pt x="1348022" y="159955"/>
                    <a:pt x="1304984" y="202994"/>
                    <a:pt x="1251893" y="202994"/>
                  </a:cubicBezTo>
                  <a:lnTo>
                    <a:pt x="96129" y="202994"/>
                  </a:lnTo>
                  <a:cubicBezTo>
                    <a:pt x="43038" y="202994"/>
                    <a:pt x="0" y="159955"/>
                    <a:pt x="0" y="106865"/>
                  </a:cubicBezTo>
                  <a:lnTo>
                    <a:pt x="0" y="96129"/>
                  </a:lnTo>
                  <a:cubicBezTo>
                    <a:pt x="0" y="43038"/>
                    <a:pt x="43038" y="0"/>
                    <a:pt x="96129" y="0"/>
                  </a:cubicBezTo>
                  <a:close/>
                </a:path>
              </a:pathLst>
            </a:custGeom>
            <a:solidFill>
              <a:srgbClr val="AAD7D4"/>
            </a:solidFill>
          </p:spPr>
        </p:sp>
        <p:sp>
          <p:nvSpPr>
            <p:cNvPr name="TextBox 5" id="5"/>
            <p:cNvSpPr txBox="true"/>
            <p:nvPr/>
          </p:nvSpPr>
          <p:spPr>
            <a:xfrm>
              <a:off x="0" y="85725"/>
              <a:ext cx="1348022" cy="117269"/>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1459197" y="4069717"/>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Exploring creativity</a:t>
            </a:r>
          </a:p>
        </p:txBody>
      </p:sp>
      <p:sp>
        <p:nvSpPr>
          <p:cNvPr name="TextBox 7" id="7"/>
          <p:cNvSpPr txBox="true"/>
          <p:nvPr/>
        </p:nvSpPr>
        <p:spPr>
          <a:xfrm rot="0">
            <a:off x="1258865" y="4954676"/>
            <a:ext cx="6914101" cy="3014704"/>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r>
              <a:rPr lang="en-US" sz="1817" spc="109" u="none">
                <a:solidFill>
                  <a:srgbClr val="000000"/>
                </a:solidFill>
                <a:latin typeface="DM Sans"/>
                <a:ea typeface="DM Sans"/>
                <a:cs typeface="DM Sans"/>
                <a:sym typeface="DM Sans"/>
              </a:rPr>
              <a:t>Duis aute irure dolor in reprehenderit in voluptate velit esse cillum dolore eu fugiat nulla pariatur. Excepteur sint occaecat cupidatat non proident, sunt in culpa qui officia deserunt mollit anim id est laborum.</a:t>
            </a:r>
          </a:p>
        </p:txBody>
      </p:sp>
      <p:grpSp>
        <p:nvGrpSpPr>
          <p:cNvPr name="Group 8" id="8"/>
          <p:cNvGrpSpPr/>
          <p:nvPr/>
        </p:nvGrpSpPr>
        <p:grpSpPr>
          <a:xfrm rot="0">
            <a:off x="10175402" y="1600759"/>
            <a:ext cx="6830714" cy="2128485"/>
            <a:chOff x="0" y="0"/>
            <a:chExt cx="2286638" cy="712528"/>
          </a:xfrm>
        </p:grpSpPr>
        <p:sp>
          <p:nvSpPr>
            <p:cNvPr name="Freeform 9" id="9"/>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0" id="10"/>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1" id="11"/>
          <p:cNvSpPr/>
          <p:nvPr/>
        </p:nvSpPr>
        <p:spPr>
          <a:xfrm flipH="false" flipV="false" rot="0">
            <a:off x="10778069" y="2259157"/>
            <a:ext cx="1023822" cy="839534"/>
          </a:xfrm>
          <a:custGeom>
            <a:avLst/>
            <a:gdLst/>
            <a:ahLst/>
            <a:cxnLst/>
            <a:rect r="r" b="b" t="t" l="l"/>
            <a:pathLst>
              <a:path h="839534" w="1023822">
                <a:moveTo>
                  <a:pt x="0" y="0"/>
                </a:moveTo>
                <a:lnTo>
                  <a:pt x="1023822" y="0"/>
                </a:lnTo>
                <a:lnTo>
                  <a:pt x="1023822" y="839534"/>
                </a:lnTo>
                <a:lnTo>
                  <a:pt x="0" y="839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0175402" y="4137367"/>
            <a:ext cx="6830714" cy="2128485"/>
            <a:chOff x="0" y="0"/>
            <a:chExt cx="2286638" cy="712528"/>
          </a:xfrm>
        </p:grpSpPr>
        <p:sp>
          <p:nvSpPr>
            <p:cNvPr name="Freeform 13" id="1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4" id="1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grpSp>
        <p:nvGrpSpPr>
          <p:cNvPr name="Group 15" id="15"/>
          <p:cNvGrpSpPr/>
          <p:nvPr/>
        </p:nvGrpSpPr>
        <p:grpSpPr>
          <a:xfrm rot="0">
            <a:off x="10175402" y="6675427"/>
            <a:ext cx="6830714" cy="2128485"/>
            <a:chOff x="0" y="0"/>
            <a:chExt cx="2286638" cy="712528"/>
          </a:xfrm>
        </p:grpSpPr>
        <p:sp>
          <p:nvSpPr>
            <p:cNvPr name="Freeform 16" id="16"/>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7" id="17"/>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18" id="18"/>
          <p:cNvSpPr/>
          <p:nvPr/>
        </p:nvSpPr>
        <p:spPr>
          <a:xfrm flipH="false" flipV="false" rot="0">
            <a:off x="10770217" y="4575317"/>
            <a:ext cx="1031674" cy="1252584"/>
          </a:xfrm>
          <a:custGeom>
            <a:avLst/>
            <a:gdLst/>
            <a:ahLst/>
            <a:cxnLst/>
            <a:rect r="r" b="b" t="t" l="l"/>
            <a:pathLst>
              <a:path h="1252584" w="1031674">
                <a:moveTo>
                  <a:pt x="0" y="0"/>
                </a:moveTo>
                <a:lnTo>
                  <a:pt x="1031674" y="0"/>
                </a:lnTo>
                <a:lnTo>
                  <a:pt x="1031674" y="1252585"/>
                </a:lnTo>
                <a:lnTo>
                  <a:pt x="0" y="1252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0589543" y="7442092"/>
            <a:ext cx="1400875" cy="924578"/>
          </a:xfrm>
          <a:custGeom>
            <a:avLst/>
            <a:gdLst/>
            <a:ahLst/>
            <a:cxnLst/>
            <a:rect r="r" b="b" t="t" l="l"/>
            <a:pathLst>
              <a:path h="924578" w="1400875">
                <a:moveTo>
                  <a:pt x="0" y="0"/>
                </a:moveTo>
                <a:lnTo>
                  <a:pt x="1400875" y="0"/>
                </a:lnTo>
                <a:lnTo>
                  <a:pt x="1400875" y="924577"/>
                </a:lnTo>
                <a:lnTo>
                  <a:pt x="0" y="924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2706158" y="2249632"/>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1" id="21"/>
          <p:cNvSpPr txBox="true"/>
          <p:nvPr/>
        </p:nvSpPr>
        <p:spPr>
          <a:xfrm rot="0">
            <a:off x="12706158" y="4753474"/>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TextBox 22" id="22"/>
          <p:cNvSpPr txBox="true"/>
          <p:nvPr/>
        </p:nvSpPr>
        <p:spPr>
          <a:xfrm rot="0">
            <a:off x="12706158" y="7296455"/>
            <a:ext cx="3556933" cy="876904"/>
          </a:xfrm>
          <a:prstGeom prst="rect">
            <a:avLst/>
          </a:prstGeom>
        </p:spPr>
        <p:txBody>
          <a:bodyPr anchor="t" rtlCol="false" tIns="0" lIns="0" bIns="0" rIns="0">
            <a:spAutoFit/>
          </a:bodyPr>
          <a:lstStyle/>
          <a:p>
            <a:pPr algn="just" marL="0" indent="0" lvl="0">
              <a:lnSpc>
                <a:spcPts val="1770"/>
              </a:lnSpc>
              <a:spcBef>
                <a:spcPct val="0"/>
              </a:spcBef>
            </a:pPr>
            <a:r>
              <a:rPr lang="en-US" sz="1311" spc="20" u="none">
                <a:solidFill>
                  <a:srgbClr val="1C2120"/>
                </a:solidFill>
                <a:latin typeface="DM Sans"/>
                <a:ea typeface="DM Sans"/>
                <a:cs typeface="DM Sans"/>
                <a:sym typeface="DM Sans"/>
              </a:rPr>
              <a:t>Lorem ipsum dolor sit amet, consectetur adipiscing elit, sed do eiusmod tempor incididunt ut labore et dolore magna aliqua. Ut enim ad minim veniam</a:t>
            </a:r>
          </a:p>
        </p:txBody>
      </p:sp>
      <p:sp>
        <p:nvSpPr>
          <p:cNvPr name="AutoShape 23" id="23"/>
          <p:cNvSpPr/>
          <p:nvPr/>
        </p:nvSpPr>
        <p:spPr>
          <a:xfrm flipV="true">
            <a:off x="12210529" y="2359895"/>
            <a:ext cx="0" cy="738797"/>
          </a:xfrm>
          <a:prstGeom prst="line">
            <a:avLst/>
          </a:prstGeom>
          <a:ln cap="flat" w="38100">
            <a:solidFill>
              <a:srgbClr val="000000"/>
            </a:solidFill>
            <a:prstDash val="solid"/>
            <a:headEnd type="none" len="sm" w="sm"/>
            <a:tailEnd type="none" len="sm" w="sm"/>
          </a:ln>
        </p:spPr>
      </p:sp>
      <p:sp>
        <p:nvSpPr>
          <p:cNvPr name="AutoShape 24" id="24"/>
          <p:cNvSpPr/>
          <p:nvPr/>
        </p:nvSpPr>
        <p:spPr>
          <a:xfrm flipV="true">
            <a:off x="12210529" y="4832211"/>
            <a:ext cx="0" cy="738797"/>
          </a:xfrm>
          <a:prstGeom prst="line">
            <a:avLst/>
          </a:prstGeom>
          <a:ln cap="flat" w="38100">
            <a:solidFill>
              <a:srgbClr val="000000"/>
            </a:solidFill>
            <a:prstDash val="solid"/>
            <a:headEnd type="none" len="sm" w="sm"/>
            <a:tailEnd type="none" len="sm" w="sm"/>
          </a:ln>
        </p:spPr>
      </p:sp>
      <p:sp>
        <p:nvSpPr>
          <p:cNvPr name="AutoShape 25" id="25"/>
          <p:cNvSpPr/>
          <p:nvPr/>
        </p:nvSpPr>
        <p:spPr>
          <a:xfrm flipV="true">
            <a:off x="12229579" y="7434563"/>
            <a:ext cx="0" cy="738797"/>
          </a:xfrm>
          <a:prstGeom prst="line">
            <a:avLst/>
          </a:prstGeom>
          <a:ln cap="flat" w="38100">
            <a:solidFill>
              <a:srgbClr val="000000"/>
            </a:solidFill>
            <a:prstDash val="solid"/>
            <a:headEnd type="none" len="sm" w="sm"/>
            <a:tailEnd type="none" len="sm" w="sm"/>
          </a:ln>
        </p:spPr>
      </p:sp>
      <p:sp>
        <p:nvSpPr>
          <p:cNvPr id="26" name="TextBox 25"/>
          <p:cNvSpPr txBox="1"/>
          <p:nvPr/>
        </p:nvSpPr>
        <p:spPr>
          <a:xfrm>
            <a:off x="914400" y="1371600"/>
            <a:ext cx="7315200" cy="4114800"/>
          </a:xfrm>
          <a:prstGeom prst="rect">
            <a:avLst/>
          </a:prstGeom>
          <a:noFill/>
        </p:spPr>
        <p:txBody>
          <a:bodyPr wrap="none">
            <a:spAutoFit/>
          </a:bodyPr>
          <a:lstStyle/>
          <a:p>
            <a:pPr>
              <a:spcAft>
                <a:spcPts val="600"/>
              </a:spcAft>
              <a:defRPr sz="1600"/>
            </a:pPr>
            <a:r>
              <a:t>AND: Only true if both inputs are true.</a:t>
            </a:r>
          </a:p>
          <a:p>
            <a:pPr>
              <a:spcAft>
                <a:spcPts val="600"/>
              </a:spcAft>
              <a:defRPr sz="1600"/>
            </a:pPr>
            <a:r>
              <a:t>OR: True if at least one input is true.</a:t>
            </a:r>
          </a:p>
          <a:p>
            <a:pPr>
              <a:spcAft>
                <a:spcPts val="600"/>
              </a:spcAft>
              <a:defRPr sz="1600"/>
            </a:pPr>
            <a:r>
              <a:t>NOT: Inverts the truth value of an input.</a:t>
            </a:r>
          </a:p>
          <a:p>
            <a:pPr>
              <a:spcAft>
                <a:spcPts val="600"/>
              </a:spcAft>
              <a:defRPr sz="1600"/>
            </a:pPr>
            <a:r>
              <a:t>Focus on the core rules governing Boolean logic, emphasizing their importance.</a:t>
            </a:r>
          </a:p>
          <a:p>
            <a:pPr lvl="1">
              <a:defRPr sz="1200" i="1">
                <a:solidFill>
                  <a:srgbClr val="787878"/>
                </a:solidFill>
              </a:defRPr>
            </a:pPr>
            <a:r>
              <a:t>[Image placeholder] Boolean Logic – Key Considerations</a:t>
            </a:r>
          </a:p>
        </p:txBody>
      </p:sp>
      <p:pic>
        <p:nvPicPr>
          <p:cNvPr id="27" name="Picture 26" descr="_ppt_tmp_image.png"/>
          <p:cNvPicPr>
            <a:picLocks noChangeAspect="1"/>
          </p:cNvPicPr>
          <p:nvPr/>
        </p:nvPicPr>
        <p:blipFill>
          <a:blip r:embed="rId8"/>
          <a:stretch>
            <a:fillRect/>
          </a:stretch>
        </p:blipFill>
        <p:spPr>
          <a:xfrm>
            <a:off x="5486400" y="1828800"/>
            <a:ext cx="2743200" cy="20574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26698" y="4816275"/>
            <a:ext cx="6914101" cy="2105618"/>
          </a:xfrm>
          <a:prstGeom prst="rect">
            <a:avLst/>
          </a:prstGeom>
        </p:spPr>
        <p:txBody>
          <a:bodyPr anchor="t" rtlCol="false" tIns="0" lIns="0" bIns="0" rIns="0">
            <a:spAutoFit/>
          </a:bodyPr>
          <a:lstStyle/>
          <a:p>
            <a:pPr algn="l" marL="0" indent="0" lvl="0">
              <a:lnSpc>
                <a:spcPts val="2454"/>
              </a:lnSpc>
              <a:spcBef>
                <a:spcPct val="0"/>
              </a:spcBef>
            </a:pPr>
            <a:r>
              <a:rPr lang="en-US" sz="1817" spc="109" u="none">
                <a:solidFill>
                  <a:srgbClr val="000000"/>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454"/>
              </a:lnSpc>
              <a:spcBef>
                <a:spcPct val="0"/>
              </a:spcBef>
            </a:pPr>
          </a:p>
          <a:p>
            <a:pPr algn="l" marL="0" indent="0" lvl="0">
              <a:lnSpc>
                <a:spcPts val="2454"/>
              </a:lnSpc>
              <a:spcBef>
                <a:spcPct val="0"/>
              </a:spcBef>
            </a:pPr>
          </a:p>
        </p:txBody>
      </p:sp>
      <p:grpSp>
        <p:nvGrpSpPr>
          <p:cNvPr name="Group 3" id="3"/>
          <p:cNvGrpSpPr/>
          <p:nvPr/>
        </p:nvGrpSpPr>
        <p:grpSpPr>
          <a:xfrm rot="0">
            <a:off x="1426698" y="6768114"/>
            <a:ext cx="1024593" cy="102459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42288" y="6987480"/>
            <a:ext cx="593413" cy="585861"/>
          </a:xfrm>
          <a:custGeom>
            <a:avLst/>
            <a:gdLst/>
            <a:ahLst/>
            <a:cxnLst/>
            <a:rect r="r" b="b" t="t" l="l"/>
            <a:pathLst>
              <a:path h="585861" w="593413">
                <a:moveTo>
                  <a:pt x="0" y="0"/>
                </a:moveTo>
                <a:lnTo>
                  <a:pt x="593414" y="0"/>
                </a:lnTo>
                <a:lnTo>
                  <a:pt x="593414" y="585861"/>
                </a:lnTo>
                <a:lnTo>
                  <a:pt x="0" y="585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814538" y="6768114"/>
            <a:ext cx="1024593" cy="102459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980805" y="7052031"/>
            <a:ext cx="692059" cy="456759"/>
          </a:xfrm>
          <a:custGeom>
            <a:avLst/>
            <a:gdLst/>
            <a:ahLst/>
            <a:cxnLst/>
            <a:rect r="r" b="b" t="t" l="l"/>
            <a:pathLst>
              <a:path h="456759" w="692059">
                <a:moveTo>
                  <a:pt x="0" y="0"/>
                </a:moveTo>
                <a:lnTo>
                  <a:pt x="692059" y="0"/>
                </a:lnTo>
                <a:lnTo>
                  <a:pt x="692059" y="456759"/>
                </a:lnTo>
                <a:lnTo>
                  <a:pt x="0" y="456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4201081" y="6768114"/>
            <a:ext cx="1024593" cy="102459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466924" y="6981185"/>
            <a:ext cx="492906" cy="598451"/>
          </a:xfrm>
          <a:custGeom>
            <a:avLst/>
            <a:gdLst/>
            <a:ahLst/>
            <a:cxnLst/>
            <a:rect r="r" b="b" t="t" l="l"/>
            <a:pathLst>
              <a:path h="598451" w="492906">
                <a:moveTo>
                  <a:pt x="0" y="0"/>
                </a:moveTo>
                <a:lnTo>
                  <a:pt x="492906" y="0"/>
                </a:lnTo>
                <a:lnTo>
                  <a:pt x="492906" y="598451"/>
                </a:lnTo>
                <a:lnTo>
                  <a:pt x="0" y="5984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9144000" y="2386794"/>
            <a:ext cx="8498516" cy="5513412"/>
          </a:xfrm>
          <a:custGeom>
            <a:avLst/>
            <a:gdLst/>
            <a:ahLst/>
            <a:cxnLst/>
            <a:rect r="r" b="b" t="t" l="l"/>
            <a:pathLst>
              <a:path h="5513412" w="8498516">
                <a:moveTo>
                  <a:pt x="0" y="0"/>
                </a:moveTo>
                <a:lnTo>
                  <a:pt x="8498516" y="0"/>
                </a:lnTo>
                <a:lnTo>
                  <a:pt x="8498516" y="5513412"/>
                </a:lnTo>
                <a:lnTo>
                  <a:pt x="0" y="5513412"/>
                </a:lnTo>
                <a:lnTo>
                  <a:pt x="0" y="0"/>
                </a:lnTo>
                <a:close/>
              </a:path>
            </a:pathLst>
          </a:custGeom>
          <a:blipFill>
            <a:blip r:embed="rId8"/>
            <a:stretch>
              <a:fillRect l="0" t="0" r="0" b="0"/>
            </a:stretch>
          </a:blipFill>
        </p:spPr>
      </p:sp>
      <p:sp>
        <p:nvSpPr>
          <p:cNvPr name="Freeform 16" id="16"/>
          <p:cNvSpPr/>
          <p:nvPr/>
        </p:nvSpPr>
        <p:spPr>
          <a:xfrm flipH="false" flipV="false" rot="0">
            <a:off x="9919523" y="2955708"/>
            <a:ext cx="7052162" cy="3966185"/>
          </a:xfrm>
          <a:custGeom>
            <a:avLst/>
            <a:gdLst/>
            <a:ahLst/>
            <a:cxnLst/>
            <a:rect r="r" b="b" t="t" l="l"/>
            <a:pathLst>
              <a:path h="3966185" w="7052162">
                <a:moveTo>
                  <a:pt x="0" y="0"/>
                </a:moveTo>
                <a:lnTo>
                  <a:pt x="7052162" y="0"/>
                </a:lnTo>
                <a:lnTo>
                  <a:pt x="7052162" y="3966185"/>
                </a:lnTo>
                <a:lnTo>
                  <a:pt x="0" y="3966185"/>
                </a:lnTo>
                <a:lnTo>
                  <a:pt x="0" y="0"/>
                </a:lnTo>
                <a:close/>
              </a:path>
            </a:pathLst>
          </a:custGeom>
          <a:blipFill>
            <a:blip r:embed="rId9"/>
            <a:stretch>
              <a:fillRect l="0" t="-9232" r="0" b="-9232"/>
            </a:stretch>
          </a:blipFill>
        </p:spPr>
      </p:sp>
      <p:sp>
        <p:nvSpPr>
          <p:cNvPr name="TextBox 17" id="17"/>
          <p:cNvSpPr txBox="true"/>
          <p:nvPr/>
        </p:nvSpPr>
        <p:spPr>
          <a:xfrm rot="0">
            <a:off x="1426698" y="2048151"/>
            <a:ext cx="7425121" cy="1587051"/>
          </a:xfrm>
          <a:prstGeom prst="rect">
            <a:avLst/>
          </a:prstGeom>
        </p:spPr>
        <p:txBody>
          <a:bodyPr anchor="t" rtlCol="false" tIns="0" lIns="0" bIns="0" rIns="0">
            <a:spAutoFit/>
          </a:bodyPr>
          <a:lstStyle/>
          <a:p>
            <a:pPr algn="l">
              <a:lnSpc>
                <a:spcPts val="11096"/>
              </a:lnSpc>
            </a:pPr>
            <a:r>
              <a:rPr lang="en-US" sz="11439" b="true">
                <a:solidFill>
                  <a:srgbClr val="1C2120"/>
                </a:solidFill>
                <a:latin typeface="Poppins Bold"/>
                <a:ea typeface="Poppins Bold"/>
                <a:cs typeface="Poppins Bold"/>
                <a:sym typeface="Poppins Bold"/>
              </a:rPr>
              <a:t>Mockups</a:t>
            </a:r>
          </a:p>
        </p:txBody>
      </p:sp>
      <p:sp>
        <p:nvSpPr>
          <p:cNvPr name="TextBox 18" id="18"/>
          <p:cNvSpPr txBox="true"/>
          <p:nvPr/>
        </p:nvSpPr>
        <p:spPr>
          <a:xfrm rot="0">
            <a:off x="1627030" y="3931315"/>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Exploring creativity</a:t>
            </a:r>
          </a:p>
        </p:txBody>
      </p:sp>
      <p:sp>
        <p:nvSpPr>
          <p:cNvPr id="19" name="TextBox 18"/>
          <p:cNvSpPr txBox="1"/>
          <p:nvPr/>
        </p:nvSpPr>
        <p:spPr>
          <a:xfrm>
            <a:off x="914400" y="1371600"/>
            <a:ext cx="7315200" cy="4114800"/>
          </a:xfrm>
          <a:prstGeom prst="rect">
            <a:avLst/>
          </a:prstGeom>
          <a:noFill/>
        </p:spPr>
        <p:txBody>
          <a:bodyPr wrap="none">
            <a:spAutoFit/>
          </a:bodyPr>
          <a:lstStyle/>
          <a:p>
            <a:pPr>
              <a:spcAft>
                <a:spcPts val="600"/>
              </a:spcAft>
              <a:defRPr sz="1600"/>
            </a:pPr>
            <a:r>
              <a:t>Conditional statements execute code based on conditions.</a:t>
            </a:r>
          </a:p>
          <a:p>
            <a:pPr>
              <a:spcAft>
                <a:spcPts val="600"/>
              </a:spcAft>
              <a:defRPr sz="1600"/>
            </a:pPr>
            <a:r>
              <a:t>Decision-making systems automate processes with logical rules.</a:t>
            </a:r>
          </a:p>
          <a:p>
            <a:pPr>
              <a:spcAft>
                <a:spcPts val="600"/>
              </a:spcAft>
              <a:defRPr sz="1600"/>
            </a:pPr>
            <a:r>
              <a:t>Error handling manages unexpected situations with logical checks.</a:t>
            </a:r>
          </a:p>
          <a:p>
            <a:pPr>
              <a:spcAft>
                <a:spcPts val="600"/>
              </a:spcAft>
              <a:defRPr sz="1600"/>
            </a:pPr>
            <a:r>
              <a:t>Explore practical applications of Boolean logic in various domains.</a:t>
            </a:r>
          </a:p>
          <a:p>
            <a:pPr lvl="1">
              <a:defRPr sz="1200" i="1">
                <a:solidFill>
                  <a:srgbClr val="787878"/>
                </a:solidFill>
              </a:defRPr>
            </a:pPr>
            <a:r>
              <a:t>[Image placeholder] Boolean Logic – Common Use Cases (Continued)</a:t>
            </a:r>
          </a:p>
        </p:txBody>
      </p:sp>
      <p:pic>
        <p:nvPicPr>
          <p:cNvPr id="20" name="Picture 19" descr="_ppt_tmp_image.png"/>
          <p:cNvPicPr>
            <a:picLocks noChangeAspect="1"/>
          </p:cNvPicPr>
          <p:nvPr/>
        </p:nvPicPr>
        <p:blipFill>
          <a:blip r:embed="rId10"/>
          <a:stretch>
            <a:fillRect/>
          </a:stretch>
        </p:blipFill>
        <p:spPr>
          <a:xfrm>
            <a:off x="5486400" y="1828800"/>
            <a:ext cx="2743200" cy="20574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68367" y="3654033"/>
            <a:ext cx="4812609" cy="4786358"/>
          </a:xfrm>
          <a:custGeom>
            <a:avLst/>
            <a:gdLst/>
            <a:ahLst/>
            <a:cxnLst/>
            <a:rect r="r" b="b" t="t" l="l"/>
            <a:pathLst>
              <a:path h="4786358" w="4812609">
                <a:moveTo>
                  <a:pt x="0" y="0"/>
                </a:moveTo>
                <a:lnTo>
                  <a:pt x="4812609" y="0"/>
                </a:lnTo>
                <a:lnTo>
                  <a:pt x="4812609" y="4786359"/>
                </a:lnTo>
                <a:lnTo>
                  <a:pt x="0" y="4786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214967" y="2662033"/>
            <a:ext cx="3708981" cy="612256"/>
            <a:chOff x="0" y="0"/>
            <a:chExt cx="1241612" cy="204958"/>
          </a:xfrm>
        </p:grpSpPr>
        <p:sp>
          <p:nvSpPr>
            <p:cNvPr name="Freeform 4" id="4"/>
            <p:cNvSpPr/>
            <p:nvPr/>
          </p:nvSpPr>
          <p:spPr>
            <a:xfrm flipH="false" flipV="false" rot="0">
              <a:off x="0" y="0"/>
              <a:ext cx="1241612" cy="204958"/>
            </a:xfrm>
            <a:custGeom>
              <a:avLst/>
              <a:gdLst/>
              <a:ahLst/>
              <a:cxnLst/>
              <a:rect r="r" b="b" t="t" l="l"/>
              <a:pathLst>
                <a:path h="204958" w="1241612">
                  <a:moveTo>
                    <a:pt x="102479" y="0"/>
                  </a:moveTo>
                  <a:lnTo>
                    <a:pt x="1139133" y="0"/>
                  </a:lnTo>
                  <a:cubicBezTo>
                    <a:pt x="1195730" y="0"/>
                    <a:pt x="1241612" y="45881"/>
                    <a:pt x="1241612" y="102479"/>
                  </a:cubicBezTo>
                  <a:lnTo>
                    <a:pt x="1241612" y="102479"/>
                  </a:lnTo>
                  <a:cubicBezTo>
                    <a:pt x="1241612" y="159076"/>
                    <a:pt x="1195730" y="204958"/>
                    <a:pt x="1139133" y="204958"/>
                  </a:cubicBezTo>
                  <a:lnTo>
                    <a:pt x="102479" y="204958"/>
                  </a:lnTo>
                  <a:cubicBezTo>
                    <a:pt x="45881" y="204958"/>
                    <a:pt x="0" y="159076"/>
                    <a:pt x="0" y="102479"/>
                  </a:cubicBezTo>
                  <a:lnTo>
                    <a:pt x="0" y="102479"/>
                  </a:lnTo>
                  <a:cubicBezTo>
                    <a:pt x="0" y="45881"/>
                    <a:pt x="45881" y="0"/>
                    <a:pt x="102479" y="0"/>
                  </a:cubicBezTo>
                  <a:close/>
                </a:path>
              </a:pathLst>
            </a:custGeom>
            <a:solidFill>
              <a:srgbClr val="AAD7D4"/>
            </a:solidFill>
          </p:spPr>
        </p:sp>
        <p:sp>
          <p:nvSpPr>
            <p:cNvPr name="TextBox 5" id="5"/>
            <p:cNvSpPr txBox="true"/>
            <p:nvPr/>
          </p:nvSpPr>
          <p:spPr>
            <a:xfrm>
              <a:off x="0" y="85725"/>
              <a:ext cx="1241612" cy="119233"/>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5190659" y="1013886"/>
            <a:ext cx="7831454" cy="1616085"/>
          </a:xfrm>
          <a:prstGeom prst="rect">
            <a:avLst/>
          </a:prstGeom>
        </p:spPr>
        <p:txBody>
          <a:bodyPr anchor="t" rtlCol="false" tIns="0" lIns="0" bIns="0" rIns="0">
            <a:spAutoFit/>
          </a:bodyPr>
          <a:lstStyle/>
          <a:p>
            <a:pPr algn="ctr">
              <a:lnSpc>
                <a:spcPts val="11281"/>
              </a:lnSpc>
            </a:pPr>
            <a:r>
              <a:rPr lang="en-US" b="true" sz="11630">
                <a:solidFill>
                  <a:srgbClr val="1C2120"/>
                </a:solidFill>
                <a:latin typeface="Poppins Bold"/>
                <a:ea typeface="Poppins Bold"/>
                <a:cs typeface="Poppins Bold"/>
                <a:sym typeface="Poppins Bold"/>
              </a:rPr>
              <a:t>S.W.O.T</a:t>
            </a:r>
          </a:p>
        </p:txBody>
      </p:sp>
      <p:sp>
        <p:nvSpPr>
          <p:cNvPr name="TextBox 7" id="7"/>
          <p:cNvSpPr txBox="true"/>
          <p:nvPr/>
        </p:nvSpPr>
        <p:spPr>
          <a:xfrm rot="0">
            <a:off x="1851724" y="7370380"/>
            <a:ext cx="3739422"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Weaknesses</a:t>
            </a:r>
          </a:p>
        </p:txBody>
      </p:sp>
      <p:sp>
        <p:nvSpPr>
          <p:cNvPr name="TextBox 8" id="8"/>
          <p:cNvSpPr txBox="true"/>
          <p:nvPr/>
        </p:nvSpPr>
        <p:spPr>
          <a:xfrm rot="0">
            <a:off x="13054677" y="4099655"/>
            <a:ext cx="3739422"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Threats</a:t>
            </a:r>
          </a:p>
        </p:txBody>
      </p:sp>
      <p:sp>
        <p:nvSpPr>
          <p:cNvPr name="TextBox 9" id="9"/>
          <p:cNvSpPr txBox="true"/>
          <p:nvPr/>
        </p:nvSpPr>
        <p:spPr>
          <a:xfrm rot="0">
            <a:off x="1851724" y="4099655"/>
            <a:ext cx="3104937"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Strengths</a:t>
            </a:r>
          </a:p>
        </p:txBody>
      </p:sp>
      <p:sp>
        <p:nvSpPr>
          <p:cNvPr name="TextBox 10" id="10"/>
          <p:cNvSpPr txBox="true"/>
          <p:nvPr/>
        </p:nvSpPr>
        <p:spPr>
          <a:xfrm rot="0">
            <a:off x="13021543" y="7331137"/>
            <a:ext cx="3558025" cy="332050"/>
          </a:xfrm>
          <a:prstGeom prst="rect">
            <a:avLst/>
          </a:prstGeom>
        </p:spPr>
        <p:txBody>
          <a:bodyPr anchor="t" rtlCol="false" tIns="0" lIns="0" bIns="0" rIns="0">
            <a:spAutoFit/>
          </a:bodyPr>
          <a:lstStyle/>
          <a:p>
            <a:pPr algn="l">
              <a:lnSpc>
                <a:spcPts val="2495"/>
              </a:lnSpc>
            </a:pPr>
            <a:r>
              <a:rPr lang="en-US" sz="2132" b="true">
                <a:solidFill>
                  <a:srgbClr val="000000"/>
                </a:solidFill>
                <a:latin typeface="Poppins Semi-Bold"/>
                <a:ea typeface="Poppins Semi-Bold"/>
                <a:cs typeface="Poppins Semi-Bold"/>
                <a:sym typeface="Poppins Semi-Bold"/>
              </a:rPr>
              <a:t>Opportunities</a:t>
            </a:r>
          </a:p>
        </p:txBody>
      </p:sp>
      <p:sp>
        <p:nvSpPr>
          <p:cNvPr name="TextBox 11" id="11"/>
          <p:cNvSpPr txBox="true"/>
          <p:nvPr/>
        </p:nvSpPr>
        <p:spPr>
          <a:xfrm rot="0">
            <a:off x="7214967" y="2758038"/>
            <a:ext cx="3563270" cy="406109"/>
          </a:xfrm>
          <a:prstGeom prst="rect">
            <a:avLst/>
          </a:prstGeom>
        </p:spPr>
        <p:txBody>
          <a:bodyPr anchor="t" rtlCol="false" tIns="0" lIns="0" bIns="0" rIns="0">
            <a:spAutoFit/>
          </a:bodyPr>
          <a:lstStyle/>
          <a:p>
            <a:pPr algn="ctr">
              <a:lnSpc>
                <a:spcPts val="3132"/>
              </a:lnSpc>
            </a:pPr>
            <a:r>
              <a:rPr lang="en-US" sz="2900">
                <a:solidFill>
                  <a:srgbClr val="000000"/>
                </a:solidFill>
                <a:latin typeface="DM Sans"/>
                <a:ea typeface="DM Sans"/>
                <a:cs typeface="DM Sans"/>
                <a:sym typeface="DM Sans"/>
              </a:rPr>
              <a:t>swot analysis</a:t>
            </a:r>
          </a:p>
        </p:txBody>
      </p:sp>
      <p:sp>
        <p:nvSpPr>
          <p:cNvPr name="TextBox 12" id="12"/>
          <p:cNvSpPr txBox="true"/>
          <p:nvPr/>
        </p:nvSpPr>
        <p:spPr>
          <a:xfrm rot="0">
            <a:off x="1851724" y="4507351"/>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3" id="13"/>
          <p:cNvSpPr txBox="true"/>
          <p:nvPr/>
        </p:nvSpPr>
        <p:spPr>
          <a:xfrm rot="0">
            <a:off x="1851724" y="2654358"/>
            <a:ext cx="1434243"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S</a:t>
            </a:r>
          </a:p>
        </p:txBody>
      </p:sp>
      <p:sp>
        <p:nvSpPr>
          <p:cNvPr name="TextBox 14" id="14"/>
          <p:cNvSpPr txBox="true"/>
          <p:nvPr/>
        </p:nvSpPr>
        <p:spPr>
          <a:xfrm rot="0">
            <a:off x="1851724" y="7739386"/>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5" id="15"/>
          <p:cNvSpPr txBox="true"/>
          <p:nvPr/>
        </p:nvSpPr>
        <p:spPr>
          <a:xfrm rot="0">
            <a:off x="13021543" y="7739386"/>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6" id="16"/>
          <p:cNvSpPr txBox="true"/>
          <p:nvPr/>
        </p:nvSpPr>
        <p:spPr>
          <a:xfrm rot="0">
            <a:off x="13054677" y="4507351"/>
            <a:ext cx="3431152" cy="913570"/>
          </a:xfrm>
          <a:prstGeom prst="rect">
            <a:avLst/>
          </a:prstGeom>
        </p:spPr>
        <p:txBody>
          <a:bodyPr anchor="t" rtlCol="false" tIns="0" lIns="0" bIns="0" rIns="0">
            <a:spAutoFit/>
          </a:bodyPr>
          <a:lstStyle/>
          <a:p>
            <a:pPr algn="just" marL="0" indent="0" lvl="0">
              <a:lnSpc>
                <a:spcPts val="1863"/>
              </a:lnSpc>
              <a:spcBef>
                <a:spcPct val="0"/>
              </a:spcBef>
            </a:pPr>
            <a:r>
              <a:rPr lang="en-US" sz="1380" spc="82" u="none">
                <a:solidFill>
                  <a:srgbClr val="000000"/>
                </a:solidFill>
                <a:latin typeface="DM Sans"/>
                <a:ea typeface="DM Sans"/>
                <a:cs typeface="DM Sans"/>
                <a:sym typeface="DM Sans"/>
              </a:rPr>
              <a:t>Lorem ipsum dolor sit amet, consectetur adipiscing elit, sed do eiusmod tempor incididunt ut labore et dolore magna aliqua. </a:t>
            </a:r>
          </a:p>
        </p:txBody>
      </p:sp>
      <p:sp>
        <p:nvSpPr>
          <p:cNvPr name="TextBox 17" id="17"/>
          <p:cNvSpPr txBox="true"/>
          <p:nvPr/>
        </p:nvSpPr>
        <p:spPr>
          <a:xfrm rot="0">
            <a:off x="1762025" y="5925083"/>
            <a:ext cx="2187761"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W</a:t>
            </a:r>
          </a:p>
        </p:txBody>
      </p:sp>
      <p:sp>
        <p:nvSpPr>
          <p:cNvPr name="TextBox 18" id="18"/>
          <p:cNvSpPr txBox="true"/>
          <p:nvPr/>
        </p:nvSpPr>
        <p:spPr>
          <a:xfrm rot="0">
            <a:off x="12960937" y="5885839"/>
            <a:ext cx="2110871"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O</a:t>
            </a:r>
          </a:p>
        </p:txBody>
      </p:sp>
      <p:sp>
        <p:nvSpPr>
          <p:cNvPr name="TextBox 19" id="19"/>
          <p:cNvSpPr txBox="true"/>
          <p:nvPr/>
        </p:nvSpPr>
        <p:spPr>
          <a:xfrm rot="0">
            <a:off x="13022113" y="2595991"/>
            <a:ext cx="1872183" cy="1616085"/>
          </a:xfrm>
          <a:prstGeom prst="rect">
            <a:avLst/>
          </a:prstGeom>
        </p:spPr>
        <p:txBody>
          <a:bodyPr anchor="t" rtlCol="false" tIns="0" lIns="0" bIns="0" rIns="0">
            <a:spAutoFit/>
          </a:bodyPr>
          <a:lstStyle/>
          <a:p>
            <a:pPr algn="l">
              <a:lnSpc>
                <a:spcPts val="11281"/>
              </a:lnSpc>
            </a:pPr>
            <a:r>
              <a:rPr lang="en-US" b="true" sz="11630">
                <a:solidFill>
                  <a:srgbClr val="1C2120"/>
                </a:solidFill>
                <a:latin typeface="Poppins Bold"/>
                <a:ea typeface="Poppins Bold"/>
                <a:cs typeface="Poppins Bold"/>
                <a:sym typeface="Poppins Bold"/>
              </a:rPr>
              <a:t>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182017" y="3400568"/>
            <a:ext cx="11923966" cy="2888952"/>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very much!</a:t>
            </a:r>
          </a:p>
        </p:txBody>
      </p:sp>
      <p:grpSp>
        <p:nvGrpSpPr>
          <p:cNvPr name="Group 3" id="3"/>
          <p:cNvGrpSpPr/>
          <p:nvPr/>
        </p:nvGrpSpPr>
        <p:grpSpPr>
          <a:xfrm rot="0">
            <a:off x="5652409" y="6483944"/>
            <a:ext cx="6983181" cy="669188"/>
            <a:chOff x="0" y="0"/>
            <a:chExt cx="1839192" cy="176247"/>
          </a:xfrm>
        </p:grpSpPr>
        <p:sp>
          <p:nvSpPr>
            <p:cNvPr name="Freeform 4" id="4"/>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5" id="5"/>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16295" y="6596449"/>
            <a:ext cx="6617965" cy="4822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HELENE PAQUET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DAG54RTHZI8</dc:identifier>
  <dcterms:modified xsi:type="dcterms:W3CDTF">2011-08-01T06:04:30Z</dcterms:modified>
  <cp:revision>1</cp:revision>
  <dc:title>Blue Minimalist Project Presentation</dc:title>
</cp:coreProperties>
</file>