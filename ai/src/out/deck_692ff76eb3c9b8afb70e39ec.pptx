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Firs Neue Bold" charset="1" panose="02000803030000020004"/>
      <p:regular r:id="rId16"/>
    </p:embeddedFont>
    <p:embeddedFont>
      <p:font typeface="TT Firs Neue" charset="1" panose="0200050303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photosynthesis is key to grasping how life on Earth functions.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Chlorophyll’s role is central to capturing solar energy.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Photosynthesis requires both water and carbon dioxide.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points: Explain the key aspects of The Products: Glucose and Oxygen; Provide practical examples of The Products: Glucose and Oxygen; Connect The Products: Glucose and Oxygen to real-world applications</a:t>
            </a:r>
          </a:p>
          <a:p>
            <a:r>
              <a:t>Talking points: Point 1: Glucose is a sugar – the plant’s food.; Elaborate on: Glucose is a sugar – the plant’s food.; Point 2: Oxygen is released as a byproduct.; Elaborate on: Oxygen is released as a byproduct.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Photosynthesis is a critical process with global consequences.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17.png"/><Relationship Id="rId5" Type="http://schemas.openxmlformats.org/officeDocument/2006/relationships/image" Target="../media/image18.svg"/><Relationship Id="rId6" Type="http://schemas.openxmlformats.org/officeDocument/2006/relationships/image" Target="../media/image19.png"/><Relationship Id="rId7" Type="http://schemas.openxmlformats.org/officeDocument/2006/relationships/image" Target="../media/image20.svg"/><Relationship Id="rId8" Type="http://schemas.openxmlformats.org/officeDocument/2006/relationships/image" Target="../media/image21.png"/><Relationship Id="rId9" Type="http://schemas.openxmlformats.org/officeDocument/2006/relationships/image" Target="../media/image22.svg"/><Relationship Id="rId10" Type="http://schemas.openxmlformats.org/officeDocument/2006/relationships/image" Target="../media/image23.png"/><Relationship Id="rId11" Type="http://schemas.openxmlformats.org/officeDocument/2006/relationships/image" Target="../media/image24.svg"/><Relationship Id="rId12" Type="http://schemas.openxmlformats.org/officeDocument/2006/relationships/image" Target="../media/image5.png"/><Relationship Id="rId13" Type="http://schemas.openxmlformats.org/officeDocument/2006/relationships/image" Target="../media/image6.svg"/><Relationship Id="rId1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5.png"/><Relationship Id="rId5"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image" Target="../media/image37.png"/><Relationship Id="rId5" Type="http://schemas.openxmlformats.org/officeDocument/2006/relationships/image" Target="../media/image38.svg"/><Relationship Id="rId6" Type="http://schemas.openxmlformats.org/officeDocument/2006/relationships/image" Target="../media/image39.png"/><Relationship Id="rId7" Type="http://schemas.openxmlformats.org/officeDocument/2006/relationships/image" Target="../media/image40.svg"/><Relationship Id="rId8" Type="http://schemas.openxmlformats.org/officeDocument/2006/relationships/image" Target="../media/image41.png"/><Relationship Id="rId9" Type="http://schemas.openxmlformats.org/officeDocument/2006/relationships/image" Target="../media/image42.svg"/><Relationship Id="rId10" Type="http://schemas.openxmlformats.org/officeDocument/2006/relationships/image" Target="../media/image43.png"/><Relationship Id="rId11" Type="http://schemas.openxmlformats.org/officeDocument/2006/relationships/image" Target="../media/image44.svg"/><Relationship Id="rId12" Type="http://schemas.openxmlformats.org/officeDocument/2006/relationships/image" Target="../media/image5.png"/><Relationship Id="rId13"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47.png"/><Relationship Id="rId5" Type="http://schemas.openxmlformats.org/officeDocument/2006/relationships/image" Target="../media/image48.svg"/><Relationship Id="rId6" Type="http://schemas.openxmlformats.org/officeDocument/2006/relationships/image" Target="../media/image5.png"/><Relationship Id="rId7" Type="http://schemas.openxmlformats.org/officeDocument/2006/relationships/image" Target="../media/image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49.png"/><Relationship Id="rId5" Type="http://schemas.openxmlformats.org/officeDocument/2006/relationships/image" Target="../media/image50.svg"/><Relationship Id="rId6" Type="http://schemas.openxmlformats.org/officeDocument/2006/relationships/image" Target="../media/image51.png"/><Relationship Id="rId7" Type="http://schemas.openxmlformats.org/officeDocument/2006/relationships/image" Target="../media/image52.svg"/><Relationship Id="rId8" Type="http://schemas.openxmlformats.org/officeDocument/2006/relationships/image" Target="../media/image53.png"/><Relationship Id="rId9" Type="http://schemas.openxmlformats.org/officeDocument/2006/relationships/image" Target="../media/image54.svg"/><Relationship Id="rId10" Type="http://schemas.openxmlformats.org/officeDocument/2006/relationships/image" Target="../media/image55.png"/><Relationship Id="rId11" Type="http://schemas.openxmlformats.org/officeDocument/2006/relationships/image" Target="../media/image56.svg"/><Relationship Id="rId12" Type="http://schemas.openxmlformats.org/officeDocument/2006/relationships/image" Target="../media/image57.png"/><Relationship Id="rId13" Type="http://schemas.openxmlformats.org/officeDocument/2006/relationships/image" Target="../media/image58.svg"/><Relationship Id="rId14" Type="http://schemas.openxmlformats.org/officeDocument/2006/relationships/image" Target="../media/image59.png"/><Relationship Id="rId15" Type="http://schemas.openxmlformats.org/officeDocument/2006/relationships/image" Target="../media/image60.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sp>
        <p:nvSpPr>
          <p:cNvPr name="Freeform 2" id="2"/>
          <p:cNvSpPr/>
          <p:nvPr/>
        </p:nvSpPr>
        <p:spPr>
          <a:xfrm flipH="false" flipV="false" rot="0">
            <a:off x="565715" y="2115128"/>
            <a:ext cx="7498221" cy="7498221"/>
          </a:xfrm>
          <a:custGeom>
            <a:avLst/>
            <a:gdLst/>
            <a:ahLst/>
            <a:cxnLst/>
            <a:rect r="r" b="b" t="t" l="l"/>
            <a:pathLst>
              <a:path h="7498221" w="7498221">
                <a:moveTo>
                  <a:pt x="0" y="0"/>
                </a:moveTo>
                <a:lnTo>
                  <a:pt x="7498220" y="0"/>
                </a:lnTo>
                <a:lnTo>
                  <a:pt x="7498220" y="7498221"/>
                </a:lnTo>
                <a:lnTo>
                  <a:pt x="0" y="74982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27204"/>
            <a:ext cx="6572250" cy="6232592"/>
          </a:xfrm>
          <a:custGeom>
            <a:avLst/>
            <a:gdLst/>
            <a:ahLst/>
            <a:cxnLst/>
            <a:rect r="r" b="b" t="t" l="l"/>
            <a:pathLst>
              <a:path h="6232592" w="6572250">
                <a:moveTo>
                  <a:pt x="0" y="0"/>
                </a:moveTo>
                <a:lnTo>
                  <a:pt x="6572250" y="0"/>
                </a:lnTo>
                <a:lnTo>
                  <a:pt x="6572250" y="6232592"/>
                </a:lnTo>
                <a:lnTo>
                  <a:pt x="0" y="6232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666964" y="1028700"/>
            <a:ext cx="2592336" cy="731379"/>
            <a:chOff x="0" y="0"/>
            <a:chExt cx="682755" cy="192627"/>
          </a:xfrm>
        </p:grpSpPr>
        <p:sp>
          <p:nvSpPr>
            <p:cNvPr name="Freeform 5" id="5"/>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6" id="6"/>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7" id="7"/>
          <p:cNvGrpSpPr/>
          <p:nvPr/>
        </p:nvGrpSpPr>
        <p:grpSpPr>
          <a:xfrm rot="0">
            <a:off x="8305238" y="7328354"/>
            <a:ext cx="2592336" cy="731379"/>
            <a:chOff x="0" y="0"/>
            <a:chExt cx="682755" cy="192627"/>
          </a:xfrm>
        </p:grpSpPr>
        <p:sp>
          <p:nvSpPr>
            <p:cNvPr name="Freeform 8" id="8"/>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71AEFF"/>
            </a:solidFill>
            <a:ln w="19050" cap="rnd">
              <a:solidFill>
                <a:srgbClr val="011142"/>
              </a:solidFill>
              <a:prstDash val="solid"/>
              <a:round/>
            </a:ln>
          </p:spPr>
        </p:sp>
        <p:sp>
          <p:nvSpPr>
            <p:cNvPr name="TextBox 9" id="9"/>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a:solidFill>
                    <a:srgbClr val="011142"/>
                  </a:solidFill>
                  <a:latin typeface="TT Firs Neue"/>
                  <a:ea typeface="TT Firs Neue"/>
                  <a:cs typeface="TT Firs Neue"/>
                  <a:sym typeface="TT Firs Neue"/>
                </a:rPr>
                <a:t>Learn More</a:t>
              </a:r>
            </a:p>
          </p:txBody>
        </p:sp>
      </p:grpSp>
      <p:sp>
        <p:nvSpPr>
          <p:cNvPr name="Freeform 10" id="10"/>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305238" y="4741404"/>
            <a:ext cx="8954062"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Cyber S</a:t>
            </a:r>
            <a:r>
              <a:rPr lang="en-US" sz="9010" b="true">
                <a:solidFill>
                  <a:srgbClr val="011142"/>
                </a:solidFill>
                <a:latin typeface="TT Firs Neue Bold"/>
                <a:ea typeface="TT Firs Neue Bold"/>
                <a:cs typeface="TT Firs Neue Bold"/>
                <a:sym typeface="TT Firs Neue Bold"/>
              </a:rPr>
              <a:t>ecurity</a:t>
            </a:r>
          </a:p>
        </p:txBody>
      </p:sp>
      <p:sp>
        <p:nvSpPr>
          <p:cNvPr name="TextBox 12" id="12"/>
          <p:cNvSpPr txBox="true"/>
          <p:nvPr/>
        </p:nvSpPr>
        <p:spPr>
          <a:xfrm rot="0">
            <a:off x="8305238" y="3595273"/>
            <a:ext cx="6789360" cy="1122421"/>
          </a:xfrm>
          <a:prstGeom prst="rect">
            <a:avLst/>
          </a:prstGeom>
        </p:spPr>
        <p:txBody>
          <a:bodyPr anchor="t" rtlCol="false" tIns="0" lIns="0" bIns="0" rIns="0">
            <a:spAutoFit/>
          </a:bodyPr>
          <a:lstStyle/>
          <a:p>
            <a:pPr algn="l">
              <a:lnSpc>
                <a:spcPts val="8199"/>
              </a:lnSpc>
            </a:pPr>
            <a:r>
              <a:rPr lang="en-US" sz="9010">
                <a:solidFill>
                  <a:srgbClr val="011142"/>
                </a:solidFill>
                <a:latin typeface="TT Firs Neue"/>
                <a:ea typeface="TT Firs Neue"/>
                <a:cs typeface="TT Firs Neue"/>
                <a:sym typeface="TT Firs Neue"/>
              </a:rPr>
              <a:t>Basics of</a:t>
            </a:r>
          </a:p>
        </p:txBody>
      </p:sp>
      <p:sp>
        <p:nvSpPr>
          <p:cNvPr name="TextBox 13" id="13"/>
          <p:cNvSpPr txBox="true"/>
          <p:nvPr/>
        </p:nvSpPr>
        <p:spPr>
          <a:xfrm rot="0">
            <a:off x="8305238" y="6029163"/>
            <a:ext cx="6572165" cy="910214"/>
          </a:xfrm>
          <a:prstGeom prst="rect">
            <a:avLst/>
          </a:prstGeom>
        </p:spPr>
        <p:txBody>
          <a:bodyPr anchor="t" rtlCol="false" tIns="0" lIns="0" bIns="0" rIns="0">
            <a:spAutoFit/>
          </a:bodyPr>
          <a:lstStyle/>
          <a:p>
            <a:pPr algn="l">
              <a:lnSpc>
                <a:spcPts val="3728"/>
              </a:lnSpc>
            </a:pPr>
            <a:r>
              <a:rPr lang="en-US" sz="2663">
                <a:solidFill>
                  <a:srgbClr val="011142"/>
                </a:solidFill>
                <a:latin typeface="TT Firs Neue"/>
                <a:ea typeface="TT Firs Neue"/>
                <a:cs typeface="TT Firs Neue"/>
                <a:sym typeface="TT Firs Neue"/>
              </a:rPr>
              <a:t>An Introduction to Cyber Threats and Defense Strategies</a:t>
            </a:r>
          </a:p>
        </p:txBody>
      </p:sp>
      <p:sp>
        <p:nvSpPr>
          <p:cNvPr name="Freeform 14" id="14"/>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5" name="TextBox 14"/>
          <p:cNvSpPr txBox="1"/>
          <p:nvPr/>
        </p:nvSpPr>
        <p:spPr>
          <a:xfrm>
            <a:off x="914400" y="457200"/>
            <a:ext cx="7315200" cy="1371600"/>
          </a:xfrm>
          <a:prstGeom prst="rect">
            <a:avLst/>
          </a:prstGeom>
          <a:noFill/>
        </p:spPr>
        <p:txBody>
          <a:bodyPr wrap="none">
            <a:spAutoFit/>
          </a:bodyPr>
          <a:lstStyle/>
          <a:p>
            <a:r>
              <a:t>Science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9505691" y="2534643"/>
            <a:ext cx="7753609" cy="6118303"/>
          </a:xfrm>
          <a:custGeom>
            <a:avLst/>
            <a:gdLst/>
            <a:ahLst/>
            <a:cxnLst/>
            <a:rect r="r" b="b" t="t" l="l"/>
            <a:pathLst>
              <a:path h="6118303" w="7753609">
                <a:moveTo>
                  <a:pt x="0" y="0"/>
                </a:moveTo>
                <a:lnTo>
                  <a:pt x="7753609" y="0"/>
                </a:lnTo>
                <a:lnTo>
                  <a:pt x="7753609" y="6118303"/>
                </a:lnTo>
                <a:lnTo>
                  <a:pt x="0" y="6118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2982597" y="5355807"/>
            <a:ext cx="1388624" cy="2300421"/>
            <a:chOff x="0" y="0"/>
            <a:chExt cx="365728" cy="605872"/>
          </a:xfrm>
        </p:grpSpPr>
        <p:sp>
          <p:nvSpPr>
            <p:cNvPr name="Freeform 7" id="7"/>
            <p:cNvSpPr/>
            <p:nvPr/>
          </p:nvSpPr>
          <p:spPr>
            <a:xfrm flipH="false" flipV="false" rot="0">
              <a:off x="0" y="0"/>
              <a:ext cx="365728" cy="605872"/>
            </a:xfrm>
            <a:custGeom>
              <a:avLst/>
              <a:gdLst/>
              <a:ahLst/>
              <a:cxnLst/>
              <a:rect r="r" b="b" t="t" l="l"/>
              <a:pathLst>
                <a:path h="605872" w="365728">
                  <a:moveTo>
                    <a:pt x="0" y="0"/>
                  </a:moveTo>
                  <a:lnTo>
                    <a:pt x="365728" y="0"/>
                  </a:lnTo>
                  <a:lnTo>
                    <a:pt x="365728" y="605872"/>
                  </a:lnTo>
                  <a:lnTo>
                    <a:pt x="0" y="605872"/>
                  </a:lnTo>
                  <a:close/>
                </a:path>
              </a:pathLst>
            </a:custGeom>
            <a:solidFill>
              <a:srgbClr val="064CDE"/>
            </a:solidFill>
          </p:spPr>
        </p:sp>
        <p:sp>
          <p:nvSpPr>
            <p:cNvPr name="TextBox 8" id="8"/>
            <p:cNvSpPr txBox="true"/>
            <p:nvPr/>
          </p:nvSpPr>
          <p:spPr>
            <a:xfrm>
              <a:off x="0" y="-28575"/>
              <a:ext cx="365728" cy="63444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083740" y="5702464"/>
            <a:ext cx="1186336" cy="1607106"/>
          </a:xfrm>
          <a:custGeom>
            <a:avLst/>
            <a:gdLst/>
            <a:ahLst/>
            <a:cxnLst/>
            <a:rect r="r" b="b" t="t" l="l"/>
            <a:pathLst>
              <a:path h="1607106" w="1186336">
                <a:moveTo>
                  <a:pt x="0" y="0"/>
                </a:moveTo>
                <a:lnTo>
                  <a:pt x="1186337" y="0"/>
                </a:lnTo>
                <a:lnTo>
                  <a:pt x="1186337" y="1607106"/>
                </a:lnTo>
                <a:lnTo>
                  <a:pt x="0" y="16071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a:t>
            </a:r>
            <a:r>
              <a:rPr lang="en-US" sz="6500" b="true">
                <a:solidFill>
                  <a:srgbClr val="011142"/>
                </a:solidFill>
                <a:latin typeface="TT Firs Neue Bold"/>
                <a:ea typeface="TT Firs Neue Bold"/>
                <a:cs typeface="TT Firs Neue Bold"/>
                <a:sym typeface="TT Firs Neue Bold"/>
              </a:rPr>
              <a:t>ecurity?</a:t>
            </a:r>
          </a:p>
        </p:txBody>
      </p:sp>
      <p:sp>
        <p:nvSpPr>
          <p:cNvPr name="TextBox 11" id="11"/>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What is</a:t>
            </a:r>
          </a:p>
        </p:txBody>
      </p:sp>
      <p:sp>
        <p:nvSpPr>
          <p:cNvPr name="TextBox 12" id="12"/>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6" name="TextBox 15"/>
          <p:cNvSpPr txBox="1"/>
          <p:nvPr/>
        </p:nvSpPr>
        <p:spPr>
          <a:xfrm>
            <a:off x="914400" y="1371600"/>
            <a:ext cx="7315200" cy="4114800"/>
          </a:xfrm>
          <a:prstGeom prst="rect">
            <a:avLst/>
          </a:prstGeom>
          <a:noFill/>
        </p:spPr>
        <p:txBody>
          <a:bodyPr wrap="none">
            <a:spAutoFit/>
          </a:bodyPr>
          <a:lstStyle/>
          <a:p>
            <a:pPr>
              <a:defRPr sz="1800"/>
            </a:pPr>
            <a:r>
              <a:t>Plants use sunlight to create energy.</a:t>
            </a:r>
          </a:p>
          <a:p>
            <a:pPr>
              <a:defRPr sz="1800"/>
            </a:pPr>
            <a:r>
              <a:t>It’s how they convert light into food.</a:t>
            </a:r>
          </a:p>
          <a:p>
            <a:pPr>
              <a:defRPr sz="1800"/>
            </a:pPr>
            <a:r>
              <a:t>Essential for nearly all ecosystems.</a:t>
            </a:r>
          </a:p>
          <a:p>
            <a:pPr lvl="1">
              <a:defRPr sz="1200" i="1">
                <a:solidFill>
                  <a:srgbClr val="787878"/>
                </a:solidFill>
              </a:defRPr>
            </a:pPr>
            <a:r>
              <a:t>[Image placeholder] Photosynthesis: The Foundation of Life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4790520"/>
            <a:ext cx="3544425" cy="705961"/>
            <a:chOff x="0" y="0"/>
            <a:chExt cx="933511" cy="185932"/>
          </a:xfrm>
        </p:grpSpPr>
        <p:sp>
          <p:nvSpPr>
            <p:cNvPr name="Freeform 6" id="6"/>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7" id="7"/>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Malware</a:t>
              </a:r>
            </a:p>
          </p:txBody>
        </p:sp>
      </p:grpSp>
      <p:grpSp>
        <p:nvGrpSpPr>
          <p:cNvPr name="Group 8" id="8"/>
          <p:cNvGrpSpPr/>
          <p:nvPr/>
        </p:nvGrpSpPr>
        <p:grpSpPr>
          <a:xfrm rot="0">
            <a:off x="6550468" y="4790520"/>
            <a:ext cx="3544425" cy="705961"/>
            <a:chOff x="0" y="0"/>
            <a:chExt cx="933511" cy="185932"/>
          </a:xfrm>
        </p:grpSpPr>
        <p:sp>
          <p:nvSpPr>
            <p:cNvPr name="Freeform 9" id="9"/>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0" id="10"/>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Phising</a:t>
              </a:r>
            </a:p>
          </p:txBody>
        </p:sp>
      </p:grpSp>
      <p:grpSp>
        <p:nvGrpSpPr>
          <p:cNvPr name="Group 11" id="11"/>
          <p:cNvGrpSpPr/>
          <p:nvPr/>
        </p:nvGrpSpPr>
        <p:grpSpPr>
          <a:xfrm rot="0">
            <a:off x="12054739" y="7259869"/>
            <a:ext cx="3544425" cy="705961"/>
            <a:chOff x="0" y="0"/>
            <a:chExt cx="933511" cy="185932"/>
          </a:xfrm>
        </p:grpSpPr>
        <p:sp>
          <p:nvSpPr>
            <p:cNvPr name="Freeform 12" id="12"/>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3" id="13"/>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Man-in-the-Middle Attacks</a:t>
              </a:r>
            </a:p>
          </p:txBody>
        </p:sp>
      </p:grpSp>
      <p:grpSp>
        <p:nvGrpSpPr>
          <p:cNvPr name="Group 14" id="14"/>
          <p:cNvGrpSpPr/>
          <p:nvPr/>
        </p:nvGrpSpPr>
        <p:grpSpPr>
          <a:xfrm rot="0">
            <a:off x="1003305" y="7259869"/>
            <a:ext cx="3544425" cy="705961"/>
            <a:chOff x="0" y="0"/>
            <a:chExt cx="933511" cy="185932"/>
          </a:xfrm>
        </p:grpSpPr>
        <p:sp>
          <p:nvSpPr>
            <p:cNvPr name="Freeform 15" id="15"/>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6" id="16"/>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DDoS Attacks</a:t>
              </a:r>
            </a:p>
          </p:txBody>
        </p:sp>
      </p:grpSp>
      <p:grpSp>
        <p:nvGrpSpPr>
          <p:cNvPr name="Group 17" id="17"/>
          <p:cNvGrpSpPr/>
          <p:nvPr/>
        </p:nvGrpSpPr>
        <p:grpSpPr>
          <a:xfrm rot="0">
            <a:off x="6525072" y="7259869"/>
            <a:ext cx="3544425" cy="705961"/>
            <a:chOff x="0" y="0"/>
            <a:chExt cx="933511" cy="185932"/>
          </a:xfrm>
        </p:grpSpPr>
        <p:sp>
          <p:nvSpPr>
            <p:cNvPr name="Freeform 18" id="18"/>
            <p:cNvSpPr/>
            <p:nvPr/>
          </p:nvSpPr>
          <p:spPr>
            <a:xfrm flipH="false" flipV="false" rot="0">
              <a:off x="0" y="0"/>
              <a:ext cx="933511" cy="185932"/>
            </a:xfrm>
            <a:custGeom>
              <a:avLst/>
              <a:gdLst/>
              <a:ahLst/>
              <a:cxnLst/>
              <a:rect r="r" b="b" t="t" l="l"/>
              <a:pathLst>
                <a:path h="185932" w="933511">
                  <a:moveTo>
                    <a:pt x="43685" y="0"/>
                  </a:moveTo>
                  <a:lnTo>
                    <a:pt x="889826" y="0"/>
                  </a:lnTo>
                  <a:cubicBezTo>
                    <a:pt x="901412" y="0"/>
                    <a:pt x="912524" y="4603"/>
                    <a:pt x="920716" y="12795"/>
                  </a:cubicBezTo>
                  <a:cubicBezTo>
                    <a:pt x="928909" y="20988"/>
                    <a:pt x="933511" y="32099"/>
                    <a:pt x="933511" y="43685"/>
                  </a:cubicBezTo>
                  <a:lnTo>
                    <a:pt x="933511" y="142247"/>
                  </a:lnTo>
                  <a:cubicBezTo>
                    <a:pt x="933511" y="166374"/>
                    <a:pt x="913953" y="185932"/>
                    <a:pt x="889826" y="185932"/>
                  </a:cubicBezTo>
                  <a:lnTo>
                    <a:pt x="43685" y="185932"/>
                  </a:lnTo>
                  <a:cubicBezTo>
                    <a:pt x="19558" y="185932"/>
                    <a:pt x="0" y="166374"/>
                    <a:pt x="0" y="142247"/>
                  </a:cubicBezTo>
                  <a:lnTo>
                    <a:pt x="0" y="43685"/>
                  </a:lnTo>
                  <a:cubicBezTo>
                    <a:pt x="0" y="32099"/>
                    <a:pt x="4603" y="20988"/>
                    <a:pt x="12795" y="12795"/>
                  </a:cubicBezTo>
                  <a:cubicBezTo>
                    <a:pt x="20988" y="4603"/>
                    <a:pt x="32099" y="0"/>
                    <a:pt x="43685" y="0"/>
                  </a:cubicBezTo>
                  <a:close/>
                </a:path>
              </a:pathLst>
            </a:custGeom>
            <a:solidFill>
              <a:srgbClr val="F1F2F6"/>
            </a:solidFill>
            <a:ln w="19050" cap="sq">
              <a:solidFill>
                <a:srgbClr val="011142"/>
              </a:solidFill>
              <a:prstDash val="solid"/>
              <a:miter/>
            </a:ln>
          </p:spPr>
        </p:sp>
        <p:sp>
          <p:nvSpPr>
            <p:cNvPr name="TextBox 19" id="19"/>
            <p:cNvSpPr txBox="true"/>
            <p:nvPr/>
          </p:nvSpPr>
          <p:spPr>
            <a:xfrm>
              <a:off x="0" y="-28575"/>
              <a:ext cx="933511" cy="214507"/>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011142"/>
                  </a:solidFill>
                  <a:latin typeface="TT Firs Neue Bold"/>
                  <a:ea typeface="TT Firs Neue Bold"/>
                  <a:cs typeface="TT Firs Neue Bold"/>
                  <a:sym typeface="TT Firs Neue Bold"/>
                </a:rPr>
                <a:t>Zero-day Exploits</a:t>
              </a:r>
            </a:p>
          </p:txBody>
        </p:sp>
      </p:grpSp>
      <p:sp>
        <p:nvSpPr>
          <p:cNvPr name="Freeform 20" id="20"/>
          <p:cNvSpPr/>
          <p:nvPr/>
        </p:nvSpPr>
        <p:spPr>
          <a:xfrm flipH="false" flipV="false" rot="0">
            <a:off x="11698759" y="1798523"/>
            <a:ext cx="5560541" cy="4114800"/>
          </a:xfrm>
          <a:custGeom>
            <a:avLst/>
            <a:gdLst/>
            <a:ahLst/>
            <a:cxnLst/>
            <a:rect r="r" b="b" t="t" l="l"/>
            <a:pathLst>
              <a:path h="4114800" w="5560541">
                <a:moveTo>
                  <a:pt x="0" y="0"/>
                </a:moveTo>
                <a:lnTo>
                  <a:pt x="5560541" y="0"/>
                </a:lnTo>
                <a:lnTo>
                  <a:pt x="55605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1" id="21"/>
          <p:cNvSpPr/>
          <p:nvPr/>
        </p:nvSpPr>
        <p:spPr>
          <a:xfrm flipH="false" flipV="false" rot="0">
            <a:off x="8816521" y="2757505"/>
            <a:ext cx="4068420" cy="1531205"/>
          </a:xfrm>
          <a:custGeom>
            <a:avLst/>
            <a:gdLst/>
            <a:ahLst/>
            <a:cxnLst/>
            <a:rect r="r" b="b" t="t" l="l"/>
            <a:pathLst>
              <a:path h="1531205" w="4068420">
                <a:moveTo>
                  <a:pt x="0" y="0"/>
                </a:moveTo>
                <a:lnTo>
                  <a:pt x="4068420" y="0"/>
                </a:lnTo>
                <a:lnTo>
                  <a:pt x="4068420" y="1531205"/>
                </a:lnTo>
                <a:lnTo>
                  <a:pt x="0" y="15312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2" id="22"/>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Th</a:t>
            </a:r>
            <a:r>
              <a:rPr lang="en-US" sz="6500" b="true">
                <a:solidFill>
                  <a:srgbClr val="011142"/>
                </a:solidFill>
                <a:latin typeface="TT Firs Neue Bold"/>
                <a:ea typeface="TT Firs Neue Bold"/>
                <a:cs typeface="TT Firs Neue Bold"/>
                <a:sym typeface="TT Firs Neue Bold"/>
              </a:rPr>
              <a:t>reats</a:t>
            </a:r>
          </a:p>
        </p:txBody>
      </p:sp>
      <p:sp>
        <p:nvSpPr>
          <p:cNvPr name="TextBox 23" id="23"/>
          <p:cNvSpPr txBox="true"/>
          <p:nvPr/>
        </p:nvSpPr>
        <p:spPr>
          <a:xfrm rot="0">
            <a:off x="1028700" y="2715618"/>
            <a:ext cx="4898318"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Common</a:t>
            </a:r>
          </a:p>
        </p:txBody>
      </p:sp>
      <p:sp>
        <p:nvSpPr>
          <p:cNvPr name="TextBox 24" id="24"/>
          <p:cNvSpPr txBox="true"/>
          <p:nvPr/>
        </p:nvSpPr>
        <p:spPr>
          <a:xfrm rot="0">
            <a:off x="1028700" y="5640236"/>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5" id="25"/>
          <p:cNvSpPr txBox="true"/>
          <p:nvPr/>
        </p:nvSpPr>
        <p:spPr>
          <a:xfrm rot="0">
            <a:off x="6550468" y="5640236"/>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6" id="26"/>
          <p:cNvSpPr txBox="true"/>
          <p:nvPr/>
        </p:nvSpPr>
        <p:spPr>
          <a:xfrm rot="0">
            <a:off x="12050881"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7" id="27"/>
          <p:cNvSpPr txBox="true"/>
          <p:nvPr/>
        </p:nvSpPr>
        <p:spPr>
          <a:xfrm rot="0">
            <a:off x="1003305" y="8109585"/>
            <a:ext cx="4325659" cy="1148715"/>
          </a:xfrm>
          <a:prstGeom prst="rect">
            <a:avLst/>
          </a:prstGeom>
        </p:spPr>
        <p:txBody>
          <a:bodyPr anchor="t" rtlCol="false" tIns="0" lIns="0" bIns="0" rIns="0">
            <a:spAutoFit/>
          </a:bodyPr>
          <a:lstStyle/>
          <a:p>
            <a:pPr algn="l">
              <a:lnSpc>
                <a:spcPts val="228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28" id="28"/>
          <p:cNvSpPr txBox="true"/>
          <p:nvPr/>
        </p:nvSpPr>
        <p:spPr>
          <a:xfrm rot="0">
            <a:off x="6525072" y="8109585"/>
            <a:ext cx="4325659" cy="1148715"/>
          </a:xfrm>
          <a:prstGeom prst="rect">
            <a:avLst/>
          </a:prstGeom>
        </p:spPr>
        <p:txBody>
          <a:bodyPr anchor="t" rtlCol="false" tIns="0" lIns="0" bIns="0" rIns="0">
            <a:spAutoFit/>
          </a:bodyPr>
          <a:lstStyle/>
          <a:p>
            <a:pPr algn="l" marL="0" indent="0" lvl="0">
              <a:lnSpc>
                <a:spcPts val="2280"/>
              </a:lnSpc>
              <a:spcBef>
                <a:spcPct val="0"/>
              </a:spcBef>
            </a:pPr>
            <a:r>
              <a:rPr lang="en-US" sz="2000" strike="noStrike" u="none">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9" id="29"/>
          <p:cNvSpPr/>
          <p:nvPr/>
        </p:nvSpPr>
        <p:spPr>
          <a:xfrm flipH="true" flipV="false" rot="0">
            <a:off x="12884941" y="4966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30" name="TextBox 29"/>
          <p:cNvSpPr txBox="1"/>
          <p:nvPr/>
        </p:nvSpPr>
        <p:spPr>
          <a:xfrm>
            <a:off x="914400" y="1371600"/>
            <a:ext cx="7315200" cy="4114800"/>
          </a:xfrm>
          <a:prstGeom prst="rect">
            <a:avLst/>
          </a:prstGeom>
          <a:noFill/>
        </p:spPr>
        <p:txBody>
          <a:bodyPr wrap="none">
            <a:spAutoFit/>
          </a:bodyPr>
          <a:lstStyle/>
          <a:p>
            <a:pPr>
              <a:defRPr sz="1800"/>
            </a:pPr>
            <a:r>
              <a:t>Chlorophyll absorbs sunlight.</a:t>
            </a:r>
          </a:p>
          <a:p>
            <a:pPr>
              <a:defRPr sz="1800"/>
            </a:pPr>
            <a:r>
              <a:t>It’s the pigment that gives plants their green color.</a:t>
            </a:r>
          </a:p>
          <a:p>
            <a:pPr>
              <a:defRPr sz="1800"/>
            </a:pPr>
            <a:r>
              <a:t>Different types of chlorophyll exist.</a:t>
            </a:r>
          </a:p>
          <a:p>
            <a:pPr lvl="1">
              <a:defRPr sz="1200" i="1">
                <a:solidFill>
                  <a:srgbClr val="787878"/>
                </a:solidFill>
              </a:defRPr>
            </a:pPr>
            <a:r>
              <a:t>[Image placeholder] The Process: Chlorophyll's Role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5355807"/>
            <a:ext cx="2103283" cy="1564421"/>
            <a:chOff x="0" y="0"/>
            <a:chExt cx="553951" cy="412029"/>
          </a:xfrm>
        </p:grpSpPr>
        <p:sp>
          <p:nvSpPr>
            <p:cNvPr name="Freeform 6" id="6"/>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564866" y="5622542"/>
            <a:ext cx="1030950" cy="1030950"/>
          </a:xfrm>
          <a:custGeom>
            <a:avLst/>
            <a:gdLst/>
            <a:ahLst/>
            <a:cxnLst/>
            <a:rect r="r" b="b" t="t" l="l"/>
            <a:pathLst>
              <a:path h="1030950" w="1030950">
                <a:moveTo>
                  <a:pt x="0" y="0"/>
                </a:moveTo>
                <a:lnTo>
                  <a:pt x="1030951" y="0"/>
                </a:lnTo>
                <a:lnTo>
                  <a:pt x="1030951" y="1030950"/>
                </a:lnTo>
                <a:lnTo>
                  <a:pt x="0" y="10309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7282178"/>
            <a:ext cx="2103283" cy="1564421"/>
            <a:chOff x="0" y="0"/>
            <a:chExt cx="553951" cy="412029"/>
          </a:xfrm>
        </p:grpSpPr>
        <p:sp>
          <p:nvSpPr>
            <p:cNvPr name="Freeform 10" id="10"/>
            <p:cNvSpPr/>
            <p:nvPr/>
          </p:nvSpPr>
          <p:spPr>
            <a:xfrm flipH="false" flipV="false" rot="0">
              <a:off x="0" y="0"/>
              <a:ext cx="553951" cy="412029"/>
            </a:xfrm>
            <a:custGeom>
              <a:avLst/>
              <a:gdLst/>
              <a:ahLst/>
              <a:cxnLst/>
              <a:rect r="r" b="b" t="t" l="l"/>
              <a:pathLst>
                <a:path h="412029" w="553951">
                  <a:moveTo>
                    <a:pt x="88341" y="0"/>
                  </a:moveTo>
                  <a:lnTo>
                    <a:pt x="465610" y="0"/>
                  </a:lnTo>
                  <a:cubicBezTo>
                    <a:pt x="514400" y="0"/>
                    <a:pt x="553951" y="39552"/>
                    <a:pt x="553951" y="88341"/>
                  </a:cubicBezTo>
                  <a:lnTo>
                    <a:pt x="553951" y="323688"/>
                  </a:lnTo>
                  <a:cubicBezTo>
                    <a:pt x="553951" y="372477"/>
                    <a:pt x="514400" y="412029"/>
                    <a:pt x="465610" y="412029"/>
                  </a:cubicBezTo>
                  <a:lnTo>
                    <a:pt x="88341" y="412029"/>
                  </a:lnTo>
                  <a:cubicBezTo>
                    <a:pt x="39552" y="412029"/>
                    <a:pt x="0" y="372477"/>
                    <a:pt x="0" y="323688"/>
                  </a:cubicBezTo>
                  <a:lnTo>
                    <a:pt x="0" y="88341"/>
                  </a:lnTo>
                  <a:cubicBezTo>
                    <a:pt x="0" y="39552"/>
                    <a:pt x="39552" y="0"/>
                    <a:pt x="88341" y="0"/>
                  </a:cubicBezTo>
                  <a:close/>
                </a:path>
              </a:pathLst>
            </a:custGeom>
            <a:solidFill>
              <a:srgbClr val="F1F2F6"/>
            </a:solidFill>
            <a:ln w="19050" cap="rnd">
              <a:solidFill>
                <a:srgbClr val="011142"/>
              </a:solidFill>
              <a:prstDash val="solid"/>
              <a:round/>
            </a:ln>
          </p:spPr>
        </p:sp>
        <p:sp>
          <p:nvSpPr>
            <p:cNvPr name="TextBox 11" id="11"/>
            <p:cNvSpPr txBox="true"/>
            <p:nvPr/>
          </p:nvSpPr>
          <p:spPr>
            <a:xfrm>
              <a:off x="0" y="-28575"/>
              <a:ext cx="553951" cy="44060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2" id="12"/>
          <p:cNvSpPr/>
          <p:nvPr/>
        </p:nvSpPr>
        <p:spPr>
          <a:xfrm flipH="false" flipV="false" rot="0">
            <a:off x="1450590" y="7584632"/>
            <a:ext cx="1259502" cy="959512"/>
          </a:xfrm>
          <a:custGeom>
            <a:avLst/>
            <a:gdLst/>
            <a:ahLst/>
            <a:cxnLst/>
            <a:rect r="r" b="b" t="t" l="l"/>
            <a:pathLst>
              <a:path h="959512" w="1259502">
                <a:moveTo>
                  <a:pt x="0" y="0"/>
                </a:moveTo>
                <a:lnTo>
                  <a:pt x="1259503" y="0"/>
                </a:lnTo>
                <a:lnTo>
                  <a:pt x="1259503" y="959512"/>
                </a:lnTo>
                <a:lnTo>
                  <a:pt x="0" y="9595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10120057" y="3167378"/>
            <a:ext cx="7139243" cy="4114800"/>
          </a:xfrm>
          <a:custGeom>
            <a:avLst/>
            <a:gdLst/>
            <a:ahLst/>
            <a:cxnLst/>
            <a:rect r="r" b="b" t="t" l="l"/>
            <a:pathLst>
              <a:path h="4114800" w="7139243">
                <a:moveTo>
                  <a:pt x="0" y="0"/>
                </a:moveTo>
                <a:lnTo>
                  <a:pt x="7139243" y="0"/>
                </a:lnTo>
                <a:lnTo>
                  <a:pt x="713924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0">
            <a:off x="9144000" y="5568785"/>
            <a:ext cx="3028032" cy="3426785"/>
          </a:xfrm>
          <a:custGeom>
            <a:avLst/>
            <a:gdLst/>
            <a:ahLst/>
            <a:cxnLst/>
            <a:rect r="r" b="b" t="t" l="l"/>
            <a:pathLst>
              <a:path h="3426785" w="3028032">
                <a:moveTo>
                  <a:pt x="0" y="0"/>
                </a:moveTo>
                <a:lnTo>
                  <a:pt x="3028032" y="0"/>
                </a:lnTo>
                <a:lnTo>
                  <a:pt x="3028032" y="3426785"/>
                </a:lnTo>
                <a:lnTo>
                  <a:pt x="0" y="34267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12553032" y="6653492"/>
            <a:ext cx="1589165" cy="1577608"/>
          </a:xfrm>
          <a:custGeom>
            <a:avLst/>
            <a:gdLst/>
            <a:ahLst/>
            <a:cxnLst/>
            <a:rect r="r" b="b" t="t" l="l"/>
            <a:pathLst>
              <a:path h="1577608" w="1589165">
                <a:moveTo>
                  <a:pt x="0" y="0"/>
                </a:moveTo>
                <a:lnTo>
                  <a:pt x="1589165" y="0"/>
                </a:lnTo>
                <a:lnTo>
                  <a:pt x="1589165" y="1577608"/>
                </a:lnTo>
                <a:lnTo>
                  <a:pt x="0" y="15776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6" id="16"/>
          <p:cNvSpPr txBox="true"/>
          <p:nvPr/>
        </p:nvSpPr>
        <p:spPr>
          <a:xfrm rot="0">
            <a:off x="1028700" y="3542516"/>
            <a:ext cx="7088850" cy="1557135"/>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Examples of Cyber Atta</a:t>
            </a:r>
            <a:r>
              <a:rPr lang="en-US" sz="6500" b="true">
                <a:solidFill>
                  <a:srgbClr val="011142"/>
                </a:solidFill>
                <a:latin typeface="TT Firs Neue Bold"/>
                <a:ea typeface="TT Firs Neue Bold"/>
                <a:cs typeface="TT Firs Neue Bold"/>
                <a:sym typeface="TT Firs Neue Bold"/>
              </a:rPr>
              <a:t>cks</a:t>
            </a:r>
          </a:p>
        </p:txBody>
      </p:sp>
      <p:sp>
        <p:nvSpPr>
          <p:cNvPr name="TextBox 17" id="17"/>
          <p:cNvSpPr txBox="true"/>
          <p:nvPr/>
        </p:nvSpPr>
        <p:spPr>
          <a:xfrm rot="0">
            <a:off x="1028700" y="2715618"/>
            <a:ext cx="653174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Real-</a:t>
            </a:r>
            <a:r>
              <a:rPr lang="en-US" sz="6500">
                <a:solidFill>
                  <a:srgbClr val="011142"/>
                </a:solidFill>
                <a:latin typeface="TT Firs Neue"/>
                <a:ea typeface="TT Firs Neue"/>
                <a:cs typeface="TT Firs Neue"/>
                <a:sym typeface="TT Firs Neue"/>
              </a:rPr>
              <a:t>World</a:t>
            </a:r>
          </a:p>
        </p:txBody>
      </p:sp>
      <p:sp>
        <p:nvSpPr>
          <p:cNvPr name="TextBox 18" id="18"/>
          <p:cNvSpPr txBox="true"/>
          <p:nvPr/>
        </p:nvSpPr>
        <p:spPr>
          <a:xfrm rot="0">
            <a:off x="3510213" y="5410942"/>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TextBox 19" id="19"/>
          <p:cNvSpPr txBox="true"/>
          <p:nvPr/>
        </p:nvSpPr>
        <p:spPr>
          <a:xfrm rot="0">
            <a:off x="3510213" y="7337313"/>
            <a:ext cx="5150480"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a:t>
            </a:r>
          </a:p>
        </p:txBody>
      </p:sp>
      <p:sp>
        <p:nvSpPr>
          <p:cNvPr name="Freeform 20" id="2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id="22" name="TextBox 21"/>
          <p:cNvSpPr txBox="1"/>
          <p:nvPr/>
        </p:nvSpPr>
        <p:spPr>
          <a:xfrm>
            <a:off x="914400" y="1371600"/>
            <a:ext cx="7315200" cy="4114800"/>
          </a:xfrm>
          <a:prstGeom prst="rect">
            <a:avLst/>
          </a:prstGeom>
          <a:noFill/>
        </p:spPr>
        <p:txBody>
          <a:bodyPr wrap="none">
            <a:spAutoFit/>
          </a:bodyPr>
          <a:lstStyle/>
          <a:p>
            <a:pPr>
              <a:defRPr sz="1800"/>
            </a:pPr>
            <a:r>
              <a:t>Plants absorb water through their roots.</a:t>
            </a:r>
          </a:p>
          <a:p>
            <a:pPr>
              <a:defRPr sz="1800"/>
            </a:pPr>
            <a:r>
              <a:t>Carbon dioxide enters through tiny pores called stomata.</a:t>
            </a:r>
          </a:p>
          <a:p>
            <a:pPr>
              <a:defRPr sz="1800"/>
            </a:pPr>
            <a:r>
              <a:t>These are the raw materials.</a:t>
            </a:r>
          </a:p>
          <a:p>
            <a:pPr lvl="1">
              <a:defRPr sz="1200" i="1">
                <a:solidFill>
                  <a:srgbClr val="787878"/>
                </a:solidFill>
              </a:defRPr>
            </a:pPr>
            <a:r>
              <a:t>[Image placeholder] Key Ingredients: Water and Carbon Dioxide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538542" y="1394390"/>
            <a:ext cx="3953607" cy="7498221"/>
          </a:xfrm>
          <a:custGeom>
            <a:avLst/>
            <a:gdLst/>
            <a:ahLst/>
            <a:cxnLst/>
            <a:rect r="r" b="b" t="t" l="l"/>
            <a:pathLst>
              <a:path h="7498221" w="3953607">
                <a:moveTo>
                  <a:pt x="0" y="0"/>
                </a:moveTo>
                <a:lnTo>
                  <a:pt x="3953607" y="0"/>
                </a:lnTo>
                <a:lnTo>
                  <a:pt x="3953607" y="7498220"/>
                </a:lnTo>
                <a:lnTo>
                  <a:pt x="0" y="749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3132475" y="2128474"/>
            <a:ext cx="4753038" cy="812337"/>
          </a:xfrm>
          <a:custGeom>
            <a:avLst/>
            <a:gdLst/>
            <a:ahLst/>
            <a:cxnLst/>
            <a:rect r="r" b="b" t="t" l="l"/>
            <a:pathLst>
              <a:path h="812337" w="4753038">
                <a:moveTo>
                  <a:pt x="0" y="0"/>
                </a:moveTo>
                <a:lnTo>
                  <a:pt x="4753038" y="0"/>
                </a:lnTo>
                <a:lnTo>
                  <a:pt x="4753038" y="812338"/>
                </a:lnTo>
                <a:lnTo>
                  <a:pt x="0" y="812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Security</a:t>
            </a:r>
          </a:p>
        </p:txBody>
      </p:sp>
      <p:sp>
        <p:nvSpPr>
          <p:cNvPr name="TextBox 8" id="8"/>
          <p:cNvSpPr txBox="true"/>
          <p:nvPr/>
        </p:nvSpPr>
        <p:spPr>
          <a:xfrm rot="0">
            <a:off x="1028700" y="2715618"/>
            <a:ext cx="7088850"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Impor</a:t>
            </a:r>
            <a:r>
              <a:rPr lang="en-US" sz="6500">
                <a:solidFill>
                  <a:srgbClr val="011142"/>
                </a:solidFill>
                <a:latin typeface="TT Firs Neue"/>
                <a:ea typeface="TT Firs Neue"/>
                <a:cs typeface="TT Firs Neue"/>
                <a:sym typeface="TT Firs Neue"/>
              </a:rPr>
              <a:t>tance of</a:t>
            </a:r>
          </a:p>
        </p:txBody>
      </p:sp>
      <p:sp>
        <p:nvSpPr>
          <p:cNvPr name="TextBox 9" id="9"/>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0" id="10"/>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1" id="11"/>
          <p:cNvSpPr/>
          <p:nvPr/>
        </p:nvSpPr>
        <p:spPr>
          <a:xfrm flipH="true" flipV="false" rot="0">
            <a:off x="14492149"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id="12" name="TextBox 11"/>
          <p:cNvSpPr txBox="1"/>
          <p:nvPr/>
        </p:nvSpPr>
        <p:spPr>
          <a:xfrm>
            <a:off x="914400" y="1371600"/>
            <a:ext cx="7315200" cy="4114800"/>
          </a:xfrm>
          <a:prstGeom prst="rect">
            <a:avLst/>
          </a:prstGeom>
          <a:noFill/>
        </p:spPr>
        <p:txBody>
          <a:bodyPr wrap="none">
            <a:spAutoFit/>
          </a:bodyPr>
          <a:lstStyle/>
          <a:p>
            <a:pPr>
              <a:defRPr sz="1800"/>
            </a:pPr>
            <a:r>
              <a:t>Glucose is a sugar – the plant’s food.</a:t>
            </a:r>
          </a:p>
          <a:p>
            <a:pPr>
              <a:defRPr sz="1800"/>
            </a:pPr>
            <a:r>
              <a:t>Oxygen is released as a byproduct.</a:t>
            </a:r>
          </a:p>
          <a:p>
            <a:pPr>
              <a:defRPr sz="1800"/>
            </a:pPr>
            <a:r>
              <a:t>This is vital for respiration in animals.</a:t>
            </a:r>
          </a:p>
          <a:p>
            <a:pPr lvl="1">
              <a:defRPr sz="1200" i="1">
                <a:solidFill>
                  <a:srgbClr val="787878"/>
                </a:solidFill>
              </a:defRPr>
            </a:pPr>
            <a:r>
              <a:t>[Image placeholder] The Products: Glucose and Oxygen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140376" y="2374272"/>
            <a:ext cx="5069148" cy="6884028"/>
          </a:xfrm>
          <a:custGeom>
            <a:avLst/>
            <a:gdLst/>
            <a:ahLst/>
            <a:cxnLst/>
            <a:rect r="r" b="b" t="t" l="l"/>
            <a:pathLst>
              <a:path h="6884028" w="5069148">
                <a:moveTo>
                  <a:pt x="0" y="0"/>
                </a:moveTo>
                <a:lnTo>
                  <a:pt x="5069148" y="0"/>
                </a:lnTo>
                <a:lnTo>
                  <a:pt x="5069148" y="6884028"/>
                </a:lnTo>
                <a:lnTo>
                  <a:pt x="0" y="68840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1258078" y="3855923"/>
            <a:ext cx="2833743" cy="3154977"/>
          </a:xfrm>
          <a:custGeom>
            <a:avLst/>
            <a:gdLst/>
            <a:ahLst/>
            <a:cxnLst/>
            <a:rect r="r" b="b" t="t" l="l"/>
            <a:pathLst>
              <a:path h="3154977" w="2833743">
                <a:moveTo>
                  <a:pt x="0" y="0"/>
                </a:moveTo>
                <a:lnTo>
                  <a:pt x="2833743" y="0"/>
                </a:lnTo>
                <a:lnTo>
                  <a:pt x="2833743" y="3154977"/>
                </a:lnTo>
                <a:lnTo>
                  <a:pt x="0" y="3154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8" id="8"/>
          <p:cNvSpPr txBox="true"/>
          <p:nvPr/>
        </p:nvSpPr>
        <p:spPr>
          <a:xfrm rot="0">
            <a:off x="1028700"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Best Pra</a:t>
            </a:r>
            <a:r>
              <a:rPr lang="en-US" sz="6500" b="true">
                <a:solidFill>
                  <a:srgbClr val="011142"/>
                </a:solidFill>
                <a:latin typeface="TT Firs Neue Bold"/>
                <a:ea typeface="TT Firs Neue Bold"/>
                <a:cs typeface="TT Firs Neue Bold"/>
                <a:sym typeface="TT Firs Neue Bold"/>
              </a:rPr>
              <a:t>ctices</a:t>
            </a:r>
          </a:p>
        </p:txBody>
      </p:sp>
      <p:sp>
        <p:nvSpPr>
          <p:cNvPr name="TextBox 9" id="9"/>
          <p:cNvSpPr txBox="true"/>
          <p:nvPr/>
        </p:nvSpPr>
        <p:spPr>
          <a:xfrm rot="0">
            <a:off x="1028700" y="2715618"/>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Cyber Security</a:t>
            </a:r>
          </a:p>
        </p:txBody>
      </p:sp>
      <p:sp>
        <p:nvSpPr>
          <p:cNvPr name="TextBox 10" id="10"/>
          <p:cNvSpPr txBox="true"/>
          <p:nvPr/>
        </p:nvSpPr>
        <p:spPr>
          <a:xfrm rot="0">
            <a:off x="1028700" y="4720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1" id="11"/>
          <p:cNvSpPr txBox="true"/>
          <p:nvPr/>
        </p:nvSpPr>
        <p:spPr>
          <a:xfrm rot="0">
            <a:off x="1028700" y="6498807"/>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2" id="12"/>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id="13" name="TextBox 12"/>
          <p:cNvSpPr txBox="1"/>
          <p:nvPr/>
        </p:nvSpPr>
        <p:spPr>
          <a:xfrm>
            <a:off x="914400" y="1371600"/>
            <a:ext cx="7315200" cy="4114800"/>
          </a:xfrm>
          <a:prstGeom prst="rect">
            <a:avLst/>
          </a:prstGeom>
          <a:noFill/>
        </p:spPr>
        <p:txBody>
          <a:bodyPr wrap="none">
            <a:spAutoFit/>
          </a:bodyPr>
          <a:lstStyle/>
          <a:p>
            <a:pPr>
              <a:defRPr sz="1800"/>
            </a:pPr>
            <a:r>
              <a:t>Photosynthesis provides the oxygen we breathe.</a:t>
            </a:r>
          </a:p>
          <a:p>
            <a:pPr>
              <a:defRPr sz="1800"/>
            </a:pPr>
            <a:r>
              <a:t>It regulates Earth’s climate by absorbing CO2.</a:t>
            </a:r>
          </a:p>
          <a:p>
            <a:pPr>
              <a:defRPr sz="1800"/>
            </a:pPr>
            <a:r>
              <a:t>It forms the base of most food chains.</a:t>
            </a:r>
          </a:p>
          <a:p>
            <a:pPr lvl="1">
              <a:defRPr sz="1200" i="1">
                <a:solidFill>
                  <a:srgbClr val="787878"/>
                </a:solidFill>
              </a:defRPr>
            </a:pPr>
            <a:r>
              <a:t>[Image placeholder] Importance &amp; Impact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28700" y="1794747"/>
            <a:ext cx="7695392" cy="7233669"/>
          </a:xfrm>
          <a:custGeom>
            <a:avLst/>
            <a:gdLst/>
            <a:ahLst/>
            <a:cxnLst/>
            <a:rect r="r" b="b" t="t" l="l"/>
            <a:pathLst>
              <a:path h="7233669" w="7695392">
                <a:moveTo>
                  <a:pt x="0" y="0"/>
                </a:moveTo>
                <a:lnTo>
                  <a:pt x="7695392" y="0"/>
                </a:lnTo>
                <a:lnTo>
                  <a:pt x="7695392" y="7233669"/>
                </a:lnTo>
                <a:lnTo>
                  <a:pt x="0" y="72336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9675064" y="3979435"/>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Organiza</a:t>
            </a:r>
            <a:r>
              <a:rPr lang="en-US" sz="6500" b="true">
                <a:solidFill>
                  <a:srgbClr val="011142"/>
                </a:solidFill>
                <a:latin typeface="TT Firs Neue Bold"/>
                <a:ea typeface="TT Firs Neue Bold"/>
                <a:cs typeface="TT Firs Neue Bold"/>
                <a:sym typeface="TT Firs Neue Bold"/>
              </a:rPr>
              <a:t>tions</a:t>
            </a:r>
          </a:p>
        </p:txBody>
      </p:sp>
      <p:sp>
        <p:nvSpPr>
          <p:cNvPr name="TextBox 7" id="7"/>
          <p:cNvSpPr txBox="true"/>
          <p:nvPr/>
        </p:nvSpPr>
        <p:spPr>
          <a:xfrm rot="0">
            <a:off x="9675064" y="3152536"/>
            <a:ext cx="6573172" cy="807490"/>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Role of</a:t>
            </a:r>
          </a:p>
        </p:txBody>
      </p:sp>
      <p:sp>
        <p:nvSpPr>
          <p:cNvPr name="TextBox 8" id="8"/>
          <p:cNvSpPr txBox="true"/>
          <p:nvPr/>
        </p:nvSpPr>
        <p:spPr>
          <a:xfrm rot="0">
            <a:off x="9675064" y="5157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9" id="9"/>
          <p:cNvSpPr txBox="true"/>
          <p:nvPr/>
        </p:nvSpPr>
        <p:spPr>
          <a:xfrm rot="0">
            <a:off x="9675064" y="6935725"/>
            <a:ext cx="7584236" cy="1406525"/>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0" id="10"/>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false" flipV="false" rot="0">
            <a:off x="10715451" y="3855923"/>
            <a:ext cx="5643891" cy="4176480"/>
          </a:xfrm>
          <a:custGeom>
            <a:avLst/>
            <a:gdLst/>
            <a:ahLst/>
            <a:cxnLst/>
            <a:rect r="r" b="b" t="t" l="l"/>
            <a:pathLst>
              <a:path h="4176480" w="5643891">
                <a:moveTo>
                  <a:pt x="0" y="0"/>
                </a:moveTo>
                <a:lnTo>
                  <a:pt x="5643892" y="0"/>
                </a:lnTo>
                <a:lnTo>
                  <a:pt x="5643892" y="4176480"/>
                </a:lnTo>
                <a:lnTo>
                  <a:pt x="0" y="4176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8918568" y="4762603"/>
            <a:ext cx="2696841" cy="2696841"/>
          </a:xfrm>
          <a:custGeom>
            <a:avLst/>
            <a:gdLst/>
            <a:ahLst/>
            <a:cxnLst/>
            <a:rect r="r" b="b" t="t" l="l"/>
            <a:pathLst>
              <a:path h="2696841" w="2696841">
                <a:moveTo>
                  <a:pt x="0" y="0"/>
                </a:moveTo>
                <a:lnTo>
                  <a:pt x="2696841" y="0"/>
                </a:lnTo>
                <a:lnTo>
                  <a:pt x="2696841" y="2696841"/>
                </a:lnTo>
                <a:lnTo>
                  <a:pt x="0" y="26968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4666964" y="2827223"/>
            <a:ext cx="2592336" cy="2592336"/>
          </a:xfrm>
          <a:custGeom>
            <a:avLst/>
            <a:gdLst/>
            <a:ahLst/>
            <a:cxnLst/>
            <a:rect r="r" b="b" t="t" l="l"/>
            <a:pathLst>
              <a:path h="2592336" w="2592336">
                <a:moveTo>
                  <a:pt x="0" y="0"/>
                </a:moveTo>
                <a:lnTo>
                  <a:pt x="2592336" y="0"/>
                </a:lnTo>
                <a:lnTo>
                  <a:pt x="2592336" y="2592336"/>
                </a:lnTo>
                <a:lnTo>
                  <a:pt x="0" y="25923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8" id="8"/>
          <p:cNvSpPr/>
          <p:nvPr/>
        </p:nvSpPr>
        <p:spPr>
          <a:xfrm flipH="false" flipV="false" rot="0">
            <a:off x="14770177" y="6812313"/>
            <a:ext cx="2059803" cy="2044823"/>
          </a:xfrm>
          <a:custGeom>
            <a:avLst/>
            <a:gdLst/>
            <a:ahLst/>
            <a:cxnLst/>
            <a:rect r="r" b="b" t="t" l="l"/>
            <a:pathLst>
              <a:path h="2044823" w="2059803">
                <a:moveTo>
                  <a:pt x="0" y="0"/>
                </a:moveTo>
                <a:lnTo>
                  <a:pt x="2059804" y="0"/>
                </a:lnTo>
                <a:lnTo>
                  <a:pt x="2059804" y="2044823"/>
                </a:lnTo>
                <a:lnTo>
                  <a:pt x="0" y="20448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9" id="9"/>
          <p:cNvSpPr/>
          <p:nvPr/>
        </p:nvSpPr>
        <p:spPr>
          <a:xfrm flipH="false" flipV="false" rot="0">
            <a:off x="11110143" y="2032849"/>
            <a:ext cx="2427254" cy="1588748"/>
          </a:xfrm>
          <a:custGeom>
            <a:avLst/>
            <a:gdLst/>
            <a:ahLst/>
            <a:cxnLst/>
            <a:rect r="r" b="b" t="t" l="l"/>
            <a:pathLst>
              <a:path h="1588748" w="2427254">
                <a:moveTo>
                  <a:pt x="0" y="0"/>
                </a:moveTo>
                <a:lnTo>
                  <a:pt x="2427254" y="0"/>
                </a:lnTo>
                <a:lnTo>
                  <a:pt x="2427254" y="1588748"/>
                </a:lnTo>
                <a:lnTo>
                  <a:pt x="0" y="15887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1028700" y="2715618"/>
            <a:ext cx="7088850" cy="1556538"/>
          </a:xfrm>
          <a:prstGeom prst="rect">
            <a:avLst/>
          </a:prstGeom>
        </p:spPr>
        <p:txBody>
          <a:bodyPr anchor="t" rtlCol="false" tIns="0" lIns="0" bIns="0" rIns="0">
            <a:spAutoFit/>
          </a:bodyPr>
          <a:lstStyle/>
          <a:p>
            <a:pPr algn="l">
              <a:lnSpc>
                <a:spcPts val="5915"/>
              </a:lnSpc>
            </a:pPr>
            <a:r>
              <a:rPr lang="en-US" sz="6500">
                <a:solidFill>
                  <a:srgbClr val="011142"/>
                </a:solidFill>
                <a:latin typeface="TT Firs Neue"/>
                <a:ea typeface="TT Firs Neue"/>
                <a:cs typeface="TT Firs Neue"/>
                <a:sym typeface="TT Firs Neue"/>
              </a:rPr>
              <a:t>Emerging Trends in </a:t>
            </a:r>
          </a:p>
        </p:txBody>
      </p:sp>
      <p:sp>
        <p:nvSpPr>
          <p:cNvPr name="TextBox 11" id="11"/>
          <p:cNvSpPr txBox="true"/>
          <p:nvPr/>
        </p:nvSpPr>
        <p:spPr>
          <a:xfrm rot="0">
            <a:off x="1829717" y="3542516"/>
            <a:ext cx="7088850" cy="807788"/>
          </a:xfrm>
          <a:prstGeom prst="rect">
            <a:avLst/>
          </a:prstGeom>
        </p:spPr>
        <p:txBody>
          <a:bodyPr anchor="t" rtlCol="false" tIns="0" lIns="0" bIns="0" rIns="0">
            <a:spAutoFit/>
          </a:bodyPr>
          <a:lstStyle/>
          <a:p>
            <a:pPr algn="l">
              <a:lnSpc>
                <a:spcPts val="5915"/>
              </a:lnSpc>
            </a:pPr>
            <a:r>
              <a:rPr lang="en-US" sz="6500" b="true">
                <a:solidFill>
                  <a:srgbClr val="011142"/>
                </a:solidFill>
                <a:latin typeface="TT Firs Neue Bold"/>
                <a:ea typeface="TT Firs Neue Bold"/>
                <a:cs typeface="TT Firs Neue Bold"/>
                <a:sym typeface="TT Firs Neue Bold"/>
              </a:rPr>
              <a:t>Cyber Securi</a:t>
            </a:r>
            <a:r>
              <a:rPr lang="en-US" sz="6500" b="true">
                <a:solidFill>
                  <a:srgbClr val="011142"/>
                </a:solidFill>
                <a:latin typeface="TT Firs Neue Bold"/>
                <a:ea typeface="TT Firs Neue Bold"/>
                <a:cs typeface="TT Firs Neue Bold"/>
                <a:sym typeface="TT Firs Neue Bold"/>
              </a:rPr>
              <a:t>ty</a:t>
            </a:r>
          </a:p>
        </p:txBody>
      </p:sp>
      <p:sp>
        <p:nvSpPr>
          <p:cNvPr name="TextBox 12" id="12"/>
          <p:cNvSpPr txBox="true"/>
          <p:nvPr/>
        </p:nvSpPr>
        <p:spPr>
          <a:xfrm rot="0">
            <a:off x="1028700" y="4720807"/>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3" id="13"/>
          <p:cNvSpPr txBox="true"/>
          <p:nvPr/>
        </p:nvSpPr>
        <p:spPr>
          <a:xfrm rot="0">
            <a:off x="1028700" y="6630970"/>
            <a:ext cx="7088850" cy="1758950"/>
          </a:xfrm>
          <a:prstGeom prst="rect">
            <a:avLst/>
          </a:prstGeom>
        </p:spPr>
        <p:txBody>
          <a:bodyPr anchor="t" rtlCol="false" tIns="0" lIns="0" bIns="0" rIns="0">
            <a:spAutoFit/>
          </a:bodyPr>
          <a:lstStyle/>
          <a:p>
            <a:pPr algn="l">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4" id="14"/>
          <p:cNvSpPr/>
          <p:nvPr/>
        </p:nvSpPr>
        <p:spPr>
          <a:xfrm flipH="true" flipV="false" rot="0">
            <a:off x="13090922" y="8809448"/>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true" flipV="false" rot="0">
            <a:off x="-2118122" y="413523"/>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grpSp>
        <p:nvGrpSpPr>
          <p:cNvPr name="Group 5" id="5"/>
          <p:cNvGrpSpPr/>
          <p:nvPr/>
        </p:nvGrpSpPr>
        <p:grpSpPr>
          <a:xfrm rot="0">
            <a:off x="1028700" y="2361782"/>
            <a:ext cx="10998225" cy="6085958"/>
            <a:chOff x="0" y="0"/>
            <a:chExt cx="2896652" cy="1602886"/>
          </a:xfrm>
        </p:grpSpPr>
        <p:sp>
          <p:nvSpPr>
            <p:cNvPr name="Freeform 6" id="6"/>
            <p:cNvSpPr/>
            <p:nvPr/>
          </p:nvSpPr>
          <p:spPr>
            <a:xfrm flipH="false" flipV="false" rot="0">
              <a:off x="0" y="0"/>
              <a:ext cx="2896652" cy="1602886"/>
            </a:xfrm>
            <a:custGeom>
              <a:avLst/>
              <a:gdLst/>
              <a:ahLst/>
              <a:cxnLst/>
              <a:rect r="r" b="b" t="t" l="l"/>
              <a:pathLst>
                <a:path h="1602886" w="2896652">
                  <a:moveTo>
                    <a:pt x="35900" y="0"/>
                  </a:moveTo>
                  <a:lnTo>
                    <a:pt x="2860752" y="0"/>
                  </a:lnTo>
                  <a:cubicBezTo>
                    <a:pt x="2870273" y="0"/>
                    <a:pt x="2879404" y="3782"/>
                    <a:pt x="2886137" y="10515"/>
                  </a:cubicBezTo>
                  <a:cubicBezTo>
                    <a:pt x="2892870" y="17247"/>
                    <a:pt x="2896652" y="26379"/>
                    <a:pt x="2896652" y="35900"/>
                  </a:cubicBezTo>
                  <a:lnTo>
                    <a:pt x="2896652" y="1566986"/>
                  </a:lnTo>
                  <a:cubicBezTo>
                    <a:pt x="2896652" y="1576507"/>
                    <a:pt x="2892870" y="1585638"/>
                    <a:pt x="2886137" y="1592371"/>
                  </a:cubicBezTo>
                  <a:cubicBezTo>
                    <a:pt x="2879404" y="1599104"/>
                    <a:pt x="2870273" y="1602886"/>
                    <a:pt x="2860752" y="1602886"/>
                  </a:cubicBezTo>
                  <a:lnTo>
                    <a:pt x="35900" y="1602886"/>
                  </a:lnTo>
                  <a:cubicBezTo>
                    <a:pt x="16073" y="1602886"/>
                    <a:pt x="0" y="1586813"/>
                    <a:pt x="0" y="1566986"/>
                  </a:cubicBezTo>
                  <a:lnTo>
                    <a:pt x="0" y="35900"/>
                  </a:lnTo>
                  <a:cubicBezTo>
                    <a:pt x="0" y="16073"/>
                    <a:pt x="16073" y="0"/>
                    <a:pt x="35900" y="0"/>
                  </a:cubicBezTo>
                  <a:close/>
                </a:path>
              </a:pathLst>
            </a:custGeom>
            <a:solidFill>
              <a:srgbClr val="F1F2F6"/>
            </a:solidFill>
            <a:ln w="19050" cap="rnd">
              <a:solidFill>
                <a:srgbClr val="011142"/>
              </a:solidFill>
              <a:prstDash val="solid"/>
              <a:round/>
            </a:ln>
          </p:spPr>
        </p:sp>
        <p:sp>
          <p:nvSpPr>
            <p:cNvPr name="TextBox 7" id="7"/>
            <p:cNvSpPr txBox="true"/>
            <p:nvPr/>
          </p:nvSpPr>
          <p:spPr>
            <a:xfrm>
              <a:off x="0" y="-28575"/>
              <a:ext cx="2896652" cy="163146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1400595" y="1930376"/>
            <a:ext cx="5502605" cy="7327924"/>
          </a:xfrm>
          <a:custGeom>
            <a:avLst/>
            <a:gdLst/>
            <a:ahLst/>
            <a:cxnLst/>
            <a:rect r="r" b="b" t="t" l="l"/>
            <a:pathLst>
              <a:path h="7327924" w="5502605">
                <a:moveTo>
                  <a:pt x="0" y="0"/>
                </a:moveTo>
                <a:lnTo>
                  <a:pt x="5502605" y="0"/>
                </a:lnTo>
                <a:lnTo>
                  <a:pt x="5502605" y="7327924"/>
                </a:lnTo>
                <a:lnTo>
                  <a:pt x="0" y="73279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13764948" y="3392449"/>
            <a:ext cx="1903989" cy="3117623"/>
            <a:chOff x="0" y="0"/>
            <a:chExt cx="501462" cy="821102"/>
          </a:xfrm>
        </p:grpSpPr>
        <p:sp>
          <p:nvSpPr>
            <p:cNvPr name="Freeform 10" id="10"/>
            <p:cNvSpPr/>
            <p:nvPr/>
          </p:nvSpPr>
          <p:spPr>
            <a:xfrm flipH="false" flipV="false" rot="0">
              <a:off x="0" y="0"/>
              <a:ext cx="501462" cy="821102"/>
            </a:xfrm>
            <a:custGeom>
              <a:avLst/>
              <a:gdLst/>
              <a:ahLst/>
              <a:cxnLst/>
              <a:rect r="r" b="b" t="t" l="l"/>
              <a:pathLst>
                <a:path h="821102" w="501462">
                  <a:moveTo>
                    <a:pt x="0" y="0"/>
                  </a:moveTo>
                  <a:lnTo>
                    <a:pt x="501462" y="0"/>
                  </a:lnTo>
                  <a:lnTo>
                    <a:pt x="501462" y="821102"/>
                  </a:lnTo>
                  <a:lnTo>
                    <a:pt x="0" y="821102"/>
                  </a:lnTo>
                  <a:close/>
                </a:path>
              </a:pathLst>
            </a:custGeom>
            <a:solidFill>
              <a:srgbClr val="F1F2F6"/>
            </a:solidFill>
          </p:spPr>
        </p:sp>
        <p:sp>
          <p:nvSpPr>
            <p:cNvPr name="TextBox 11" id="11"/>
            <p:cNvSpPr txBox="true"/>
            <p:nvPr/>
          </p:nvSpPr>
          <p:spPr>
            <a:xfrm>
              <a:off x="0" y="-28575"/>
              <a:ext cx="501462" cy="8496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3605590" y="3624049"/>
            <a:ext cx="1937726" cy="1937726"/>
          </a:xfrm>
          <a:custGeom>
            <a:avLst/>
            <a:gdLst/>
            <a:ahLst/>
            <a:cxnLst/>
            <a:rect r="r" b="b" t="t" l="l"/>
            <a:pathLst>
              <a:path h="1937726" w="1937726">
                <a:moveTo>
                  <a:pt x="0" y="0"/>
                </a:moveTo>
                <a:lnTo>
                  <a:pt x="1937727" y="0"/>
                </a:lnTo>
                <a:lnTo>
                  <a:pt x="1937727" y="1937726"/>
                </a:lnTo>
                <a:lnTo>
                  <a:pt x="0" y="1937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735694" y="3313840"/>
            <a:ext cx="7088850" cy="801392"/>
          </a:xfrm>
          <a:prstGeom prst="rect">
            <a:avLst/>
          </a:prstGeom>
        </p:spPr>
        <p:txBody>
          <a:bodyPr anchor="t" rtlCol="false" tIns="0" lIns="0" bIns="0" rIns="0">
            <a:spAutoFit/>
          </a:bodyPr>
          <a:lstStyle/>
          <a:p>
            <a:pPr algn="ctr">
              <a:lnSpc>
                <a:spcPts val="5915"/>
              </a:lnSpc>
            </a:pPr>
            <a:r>
              <a:rPr lang="en-US" b="true" sz="6500">
                <a:solidFill>
                  <a:srgbClr val="011142"/>
                </a:solidFill>
                <a:latin typeface="TT Firs Neue Bold"/>
                <a:ea typeface="TT Firs Neue Bold"/>
                <a:cs typeface="TT Firs Neue Bold"/>
                <a:sym typeface="TT Firs Neue Bold"/>
              </a:rPr>
              <a:t>Conclusion</a:t>
            </a:r>
          </a:p>
        </p:txBody>
      </p:sp>
      <p:sp>
        <p:nvSpPr>
          <p:cNvPr name="TextBox 14" id="14"/>
          <p:cNvSpPr txBox="true"/>
          <p:nvPr/>
        </p:nvSpPr>
        <p:spPr>
          <a:xfrm rot="0">
            <a:off x="2735694" y="4492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15" id="15"/>
          <p:cNvSpPr txBox="true"/>
          <p:nvPr/>
        </p:nvSpPr>
        <p:spPr>
          <a:xfrm rot="0">
            <a:off x="2735694" y="6270131"/>
            <a:ext cx="7584236" cy="1406525"/>
          </a:xfrm>
          <a:prstGeom prst="rect">
            <a:avLst/>
          </a:prstGeom>
        </p:spPr>
        <p:txBody>
          <a:bodyPr anchor="t" rtlCol="false" tIns="0" lIns="0" bIns="0" rIns="0">
            <a:spAutoFit/>
          </a:bodyPr>
          <a:lstStyle/>
          <a:p>
            <a:pPr algn="ctr">
              <a:lnSpc>
                <a:spcPts val="2800"/>
              </a:lnSpc>
            </a:pPr>
            <a:r>
              <a:rPr lang="en-US" sz="2000">
                <a:solidFill>
                  <a:srgbClr val="011142"/>
                </a:solidFill>
                <a:latin typeface="TT Firs Neue"/>
                <a:ea typeface="TT Firs Neue"/>
                <a:cs typeface="TT Firs Neue"/>
                <a:sym typeface="TT Firs Neue"/>
              </a:rPr>
              <a:t>Lorem ipsum dolor sit amet, consectetur adipiscing elit, sed do eiusmod tempor incididunt ut labore et dolore magna aliqua. Ut enim ad minim veniam, quis nostrud exercitation ullamco laboris nisi ut aliquip ex ea commodo consequat.</a:t>
            </a:r>
          </a:p>
        </p:txBody>
      </p:sp>
      <p:sp>
        <p:nvSpPr>
          <p:cNvPr name="Freeform 16" id="16"/>
          <p:cNvSpPr/>
          <p:nvPr/>
        </p:nvSpPr>
        <p:spPr>
          <a:xfrm flipH="true" flipV="false" rot="0">
            <a:off x="-3318366"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0">
            <a:off x="13764948" y="696050"/>
            <a:ext cx="7315200" cy="1064029"/>
          </a:xfrm>
          <a:custGeom>
            <a:avLst/>
            <a:gdLst/>
            <a:ahLst/>
            <a:cxnLst/>
            <a:rect r="r" b="b" t="t" l="l"/>
            <a:pathLst>
              <a:path h="1064029" w="7315200">
                <a:moveTo>
                  <a:pt x="7315200" y="0"/>
                </a:moveTo>
                <a:lnTo>
                  <a:pt x="0" y="0"/>
                </a:lnTo>
                <a:lnTo>
                  <a:pt x="0" y="1064029"/>
                </a:lnTo>
                <a:lnTo>
                  <a:pt x="7315200" y="10640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0CEF1"/>
        </a:solidFill>
      </p:bgPr>
    </p:bg>
    <p:spTree>
      <p:nvGrpSpPr>
        <p:cNvPr id="1" name=""/>
        <p:cNvGrpSpPr/>
        <p:nvPr/>
      </p:nvGrpSpPr>
      <p:grpSpPr>
        <a:xfrm>
          <a:off x="0" y="0"/>
          <a:ext cx="0" cy="0"/>
          <a:chOff x="0" y="0"/>
          <a:chExt cx="0" cy="0"/>
        </a:xfrm>
      </p:grpSpPr>
      <p:grpSp>
        <p:nvGrpSpPr>
          <p:cNvPr name="Group 2" id="2"/>
          <p:cNvGrpSpPr/>
          <p:nvPr/>
        </p:nvGrpSpPr>
        <p:grpSpPr>
          <a:xfrm rot="0">
            <a:off x="14666964" y="1028700"/>
            <a:ext cx="2592336" cy="731379"/>
            <a:chOff x="0" y="0"/>
            <a:chExt cx="682755" cy="192627"/>
          </a:xfrm>
        </p:grpSpPr>
        <p:sp>
          <p:nvSpPr>
            <p:cNvPr name="Freeform 3" id="3"/>
            <p:cNvSpPr/>
            <p:nvPr/>
          </p:nvSpPr>
          <p:spPr>
            <a:xfrm flipH="false" flipV="false" rot="0">
              <a:off x="0" y="0"/>
              <a:ext cx="682755" cy="192627"/>
            </a:xfrm>
            <a:custGeom>
              <a:avLst/>
              <a:gdLst/>
              <a:ahLst/>
              <a:cxnLst/>
              <a:rect r="r" b="b" t="t" l="l"/>
              <a:pathLst>
                <a:path h="192627" w="682755">
                  <a:moveTo>
                    <a:pt x="96313" y="0"/>
                  </a:moveTo>
                  <a:lnTo>
                    <a:pt x="586442" y="0"/>
                  </a:lnTo>
                  <a:cubicBezTo>
                    <a:pt x="639634" y="0"/>
                    <a:pt x="682755" y="43121"/>
                    <a:pt x="682755" y="96313"/>
                  </a:cubicBezTo>
                  <a:lnTo>
                    <a:pt x="682755" y="96313"/>
                  </a:lnTo>
                  <a:cubicBezTo>
                    <a:pt x="682755" y="149506"/>
                    <a:pt x="639634" y="192627"/>
                    <a:pt x="586442" y="192627"/>
                  </a:cubicBezTo>
                  <a:lnTo>
                    <a:pt x="96313" y="192627"/>
                  </a:lnTo>
                  <a:cubicBezTo>
                    <a:pt x="43121" y="192627"/>
                    <a:pt x="0" y="149506"/>
                    <a:pt x="0" y="96313"/>
                  </a:cubicBezTo>
                  <a:lnTo>
                    <a:pt x="0" y="96313"/>
                  </a:lnTo>
                  <a:cubicBezTo>
                    <a:pt x="0" y="43121"/>
                    <a:pt x="43121" y="0"/>
                    <a:pt x="96313" y="0"/>
                  </a:cubicBezTo>
                  <a:close/>
                </a:path>
              </a:pathLst>
            </a:custGeom>
            <a:solidFill>
              <a:srgbClr val="F1F2F6"/>
            </a:solidFill>
            <a:ln w="19050" cap="rnd">
              <a:solidFill>
                <a:srgbClr val="011142"/>
              </a:solidFill>
              <a:prstDash val="solid"/>
              <a:round/>
            </a:ln>
          </p:spPr>
        </p:sp>
        <p:sp>
          <p:nvSpPr>
            <p:cNvPr name="TextBox 4" id="4"/>
            <p:cNvSpPr txBox="true"/>
            <p:nvPr/>
          </p:nvSpPr>
          <p:spPr>
            <a:xfrm>
              <a:off x="0" y="-28575"/>
              <a:ext cx="682755" cy="221202"/>
            </a:xfrm>
            <a:prstGeom prst="rect">
              <a:avLst/>
            </a:prstGeom>
          </p:spPr>
          <p:txBody>
            <a:bodyPr anchor="ctr" rtlCol="false" tIns="50800" lIns="50800" bIns="50800" rIns="50800"/>
            <a:lstStyle/>
            <a:p>
              <a:pPr algn="ctr">
                <a:lnSpc>
                  <a:spcPts val="2659"/>
                </a:lnSpc>
              </a:pPr>
              <a:r>
                <a:rPr lang="en-US" sz="1899" b="true">
                  <a:solidFill>
                    <a:srgbClr val="011142"/>
                  </a:solidFill>
                  <a:latin typeface="TT Firs Neue Bold"/>
                  <a:ea typeface="TT Firs Neue Bold"/>
                  <a:cs typeface="TT Firs Neue Bold"/>
                  <a:sym typeface="TT Firs Neue Bold"/>
                </a:rPr>
                <a:t>Thynk Unlimited</a:t>
              </a:r>
            </a:p>
          </p:txBody>
        </p:sp>
      </p:grpSp>
      <p:sp>
        <p:nvSpPr>
          <p:cNvPr name="Freeform 5" id="5"/>
          <p:cNvSpPr/>
          <p:nvPr/>
        </p:nvSpPr>
        <p:spPr>
          <a:xfrm flipH="true" flipV="false" rot="0">
            <a:off x="13601700" y="8726285"/>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07344" y="330360"/>
            <a:ext cx="7315200" cy="1064029"/>
          </a:xfrm>
          <a:custGeom>
            <a:avLst/>
            <a:gdLst/>
            <a:ahLst/>
            <a:cxnLst/>
            <a:rect r="r" b="b" t="t" l="l"/>
            <a:pathLst>
              <a:path h="1064029" w="7315200">
                <a:moveTo>
                  <a:pt x="7315200" y="0"/>
                </a:moveTo>
                <a:lnTo>
                  <a:pt x="0" y="0"/>
                </a:lnTo>
                <a:lnTo>
                  <a:pt x="0" y="1064030"/>
                </a:lnTo>
                <a:lnTo>
                  <a:pt x="7315200" y="1064030"/>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28700" y="4590644"/>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28700" y="5363170"/>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9" id="9"/>
          <p:cNvSpPr/>
          <p:nvPr/>
        </p:nvSpPr>
        <p:spPr>
          <a:xfrm flipH="false" flipV="false" rot="0">
            <a:off x="1028700" y="6135696"/>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28700" y="6908222"/>
            <a:ext cx="462147" cy="462147"/>
          </a:xfrm>
          <a:custGeom>
            <a:avLst/>
            <a:gdLst/>
            <a:ahLst/>
            <a:cxnLst/>
            <a:rect r="r" b="b" t="t" l="l"/>
            <a:pathLst>
              <a:path h="462147" w="462147">
                <a:moveTo>
                  <a:pt x="0" y="0"/>
                </a:moveTo>
                <a:lnTo>
                  <a:pt x="462147" y="0"/>
                </a:lnTo>
                <a:lnTo>
                  <a:pt x="462147" y="462147"/>
                </a:lnTo>
                <a:lnTo>
                  <a:pt x="0" y="4621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1" id="11"/>
          <p:cNvSpPr txBox="true"/>
          <p:nvPr/>
        </p:nvSpPr>
        <p:spPr>
          <a:xfrm rot="0">
            <a:off x="1866784" y="6930125"/>
            <a:ext cx="701383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123 Anywhere ST., Any City, ST 12345</a:t>
            </a:r>
          </a:p>
        </p:txBody>
      </p:sp>
      <p:sp>
        <p:nvSpPr>
          <p:cNvPr name="Freeform 12" id="12"/>
          <p:cNvSpPr/>
          <p:nvPr/>
        </p:nvSpPr>
        <p:spPr>
          <a:xfrm flipH="false" flipV="false" rot="0">
            <a:off x="9895709" y="2278394"/>
            <a:ext cx="7363591" cy="5730213"/>
          </a:xfrm>
          <a:custGeom>
            <a:avLst/>
            <a:gdLst/>
            <a:ahLst/>
            <a:cxnLst/>
            <a:rect r="r" b="b" t="t" l="l"/>
            <a:pathLst>
              <a:path h="5730213" w="7363591">
                <a:moveTo>
                  <a:pt x="0" y="0"/>
                </a:moveTo>
                <a:lnTo>
                  <a:pt x="7363591" y="0"/>
                </a:lnTo>
                <a:lnTo>
                  <a:pt x="7363591" y="5730212"/>
                </a:lnTo>
                <a:lnTo>
                  <a:pt x="0" y="57302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8383586" y="3122107"/>
            <a:ext cx="3792868" cy="4042785"/>
          </a:xfrm>
          <a:custGeom>
            <a:avLst/>
            <a:gdLst/>
            <a:ahLst/>
            <a:cxnLst/>
            <a:rect r="r" b="b" t="t" l="l"/>
            <a:pathLst>
              <a:path h="4042785" w="3792868">
                <a:moveTo>
                  <a:pt x="0" y="0"/>
                </a:moveTo>
                <a:lnTo>
                  <a:pt x="3792868" y="0"/>
                </a:lnTo>
                <a:lnTo>
                  <a:pt x="3792868" y="4042786"/>
                </a:lnTo>
                <a:lnTo>
                  <a:pt x="0" y="40427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TextBox 14" id="14"/>
          <p:cNvSpPr txBox="true"/>
          <p:nvPr/>
        </p:nvSpPr>
        <p:spPr>
          <a:xfrm rot="0">
            <a:off x="1028700" y="3157829"/>
            <a:ext cx="6572165" cy="1122835"/>
          </a:xfrm>
          <a:prstGeom prst="rect">
            <a:avLst/>
          </a:prstGeom>
        </p:spPr>
        <p:txBody>
          <a:bodyPr anchor="t" rtlCol="false" tIns="0" lIns="0" bIns="0" rIns="0">
            <a:spAutoFit/>
          </a:bodyPr>
          <a:lstStyle/>
          <a:p>
            <a:pPr algn="l">
              <a:lnSpc>
                <a:spcPts val="8199"/>
              </a:lnSpc>
            </a:pPr>
            <a:r>
              <a:rPr lang="en-US" sz="9010" b="true">
                <a:solidFill>
                  <a:srgbClr val="011142"/>
                </a:solidFill>
                <a:latin typeface="TT Firs Neue Bold"/>
                <a:ea typeface="TT Firs Neue Bold"/>
                <a:cs typeface="TT Firs Neue Bold"/>
                <a:sym typeface="TT Firs Neue Bold"/>
              </a:rPr>
              <a:t>Thank You</a:t>
            </a:r>
          </a:p>
        </p:txBody>
      </p:sp>
      <p:sp>
        <p:nvSpPr>
          <p:cNvPr name="TextBox 15" id="15"/>
          <p:cNvSpPr txBox="true"/>
          <p:nvPr/>
        </p:nvSpPr>
        <p:spPr>
          <a:xfrm rot="0">
            <a:off x="1866784" y="4589178"/>
            <a:ext cx="4595622"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+123-456-7890</a:t>
            </a:r>
          </a:p>
        </p:txBody>
      </p:sp>
      <p:sp>
        <p:nvSpPr>
          <p:cNvPr name="TextBox 16" id="16"/>
          <p:cNvSpPr txBox="true"/>
          <p:nvPr/>
        </p:nvSpPr>
        <p:spPr>
          <a:xfrm rot="0">
            <a:off x="1866784" y="5361704"/>
            <a:ext cx="5294203"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u="none">
                <a:solidFill>
                  <a:srgbClr val="011142"/>
                </a:solidFill>
                <a:latin typeface="TT Firs Neue"/>
                <a:ea typeface="TT Firs Neue"/>
                <a:cs typeface="TT Firs Neue"/>
                <a:sym typeface="TT Firs Neue"/>
              </a:rPr>
              <a:t>www.reallygreatsite.com</a:t>
            </a:r>
          </a:p>
        </p:txBody>
      </p:sp>
      <p:sp>
        <p:nvSpPr>
          <p:cNvPr name="TextBox 17" id="17"/>
          <p:cNvSpPr txBox="true"/>
          <p:nvPr/>
        </p:nvSpPr>
        <p:spPr>
          <a:xfrm rot="0">
            <a:off x="1866784" y="6143051"/>
            <a:ext cx="5942495" cy="446696"/>
          </a:xfrm>
          <a:prstGeom prst="rect">
            <a:avLst/>
          </a:prstGeom>
        </p:spPr>
        <p:txBody>
          <a:bodyPr anchor="t" rtlCol="false" tIns="0" lIns="0" bIns="0" rIns="0">
            <a:spAutoFit/>
          </a:bodyPr>
          <a:lstStyle/>
          <a:p>
            <a:pPr algn="l" marL="0" indent="0" lvl="0">
              <a:lnSpc>
                <a:spcPts val="3728"/>
              </a:lnSpc>
              <a:spcBef>
                <a:spcPct val="0"/>
              </a:spcBef>
            </a:pPr>
            <a:r>
              <a:rPr lang="en-US" sz="2663" strike="noStrike">
                <a:solidFill>
                  <a:srgbClr val="011142"/>
                </a:solidFill>
                <a:latin typeface="TT Firs Neue"/>
                <a:ea typeface="TT Firs Neue"/>
                <a:cs typeface="TT Firs Neue"/>
                <a:sym typeface="TT Firs Neue"/>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DAG54qJhymU</dc:identifier>
  <dcterms:modified xsi:type="dcterms:W3CDTF">2011-08-01T06:04:30Z</dcterms:modified>
  <cp:revision>1</cp:revision>
  <dc:title>Blue and White Modern Cyber Security Presentation</dc:title>
</cp:coreProperties>
</file>