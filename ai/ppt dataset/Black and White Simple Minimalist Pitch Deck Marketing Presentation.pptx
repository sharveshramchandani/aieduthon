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M Serif Display" charset="1" panose="00000000000000000000"/>
      <p:regular r:id="rId18"/>
    </p:embeddedFont>
    <p:embeddedFont>
      <p:font typeface="Open Sauce" charset="1" panose="00000500000000000000"/>
      <p:regular r:id="rId19"/>
    </p:embeddedFont>
    <p:embeddedFont>
      <p:font typeface="Open Sauce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Pitch Deck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STRATEGY-DRIVEN MARKETING THAT GROWS BRANDS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Taylor Alonso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18762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233825"/>
            <a:ext cx="3822789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Table of Contents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AutoShape 5" id="5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613003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3003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67282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7282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21560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Now?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21560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13003" y="5571356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Services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13003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7282" y="557135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Business Model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67282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21560" y="5571356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Competitive Advantage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21560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13003" y="8235315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13003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67282" y="8235315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Roadmap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67282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21560" y="8235315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Contect Info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721560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174577" y="2533024"/>
            <a:ext cx="8307875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Many small and growing businesses struggle to reach the right audience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783262" y="2674320"/>
            <a:ext cx="909958" cy="90995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810680" y="2772429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74577" y="4537700"/>
            <a:ext cx="8307875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rketi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fte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 in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tdat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d,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83262" y="4678996"/>
            <a:ext cx="909958" cy="9099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820205" y="4777105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74577" y="6543666"/>
            <a:ext cx="8307875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tern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 stretch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lack 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xpertis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83262" y="6684962"/>
            <a:ext cx="909958" cy="9099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810680" y="6783072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166399" y="3491019"/>
            <a:ext cx="5026555" cy="5026555"/>
            <a:chOff x="0" y="0"/>
            <a:chExt cx="4489857" cy="448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630723" y="3491019"/>
            <a:ext cx="5026555" cy="5026555"/>
            <a:chOff x="0" y="0"/>
            <a:chExt cx="4489857" cy="44898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095047" y="3491019"/>
            <a:ext cx="5026555" cy="5026555"/>
            <a:chOff x="0" y="0"/>
            <a:chExt cx="4489857" cy="44898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567267" y="4318533"/>
            <a:ext cx="1153465" cy="1215337"/>
          </a:xfrm>
          <a:custGeom>
            <a:avLst/>
            <a:gdLst/>
            <a:ahLst/>
            <a:cxnLst/>
            <a:rect r="r" b="b" t="t" l="l"/>
            <a:pathLst>
              <a:path h="1215337" w="1153465">
                <a:moveTo>
                  <a:pt x="0" y="0"/>
                </a:moveTo>
                <a:lnTo>
                  <a:pt x="1153466" y="0"/>
                </a:lnTo>
                <a:lnTo>
                  <a:pt x="1153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926777" y="4318533"/>
            <a:ext cx="1363095" cy="1215337"/>
          </a:xfrm>
          <a:custGeom>
            <a:avLst/>
            <a:gdLst/>
            <a:ahLst/>
            <a:cxnLst/>
            <a:rect r="r" b="b" t="t" l="l"/>
            <a:pathLst>
              <a:path h="1215337" w="1363095">
                <a:moveTo>
                  <a:pt x="0" y="0"/>
                </a:moveTo>
                <a:lnTo>
                  <a:pt x="1363095" y="0"/>
                </a:lnTo>
                <a:lnTo>
                  <a:pt x="1363095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Solution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1259" y="6004245"/>
            <a:ext cx="4276833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exib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e,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end-to-e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05583" y="6004245"/>
            <a:ext cx="4276833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combine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strat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gy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cre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iv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 ana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ly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tics 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driv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real growth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69907" y="6004245"/>
            <a:ext cx="4276833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lly man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 services or sup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for 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n-house teams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2949943" y="4318533"/>
            <a:ext cx="1459466" cy="1215337"/>
          </a:xfrm>
          <a:custGeom>
            <a:avLst/>
            <a:gdLst/>
            <a:ahLst/>
            <a:cxnLst/>
            <a:rect r="r" b="b" t="t" l="l"/>
            <a:pathLst>
              <a:path h="1215337" w="1459466">
                <a:moveTo>
                  <a:pt x="0" y="0"/>
                </a:moveTo>
                <a:lnTo>
                  <a:pt x="1459466" y="0"/>
                </a:lnTo>
                <a:lnTo>
                  <a:pt x="1459466" y="1215337"/>
                </a:lnTo>
                <a:lnTo>
                  <a:pt x="0" y="12153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341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Why Now?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0649" y="4537700"/>
            <a:ext cx="6860034" cy="334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 cost of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digi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 ads and comp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titio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Algorithm and platform 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requi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 con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adaptati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uyers expect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entic, consistent content across 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ll chann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4952833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Services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119231" y="1477572"/>
            <a:ext cx="3345981" cy="334598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385456" y="2264420"/>
            <a:ext cx="2813532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Marketing Strategy &amp; Planning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19231" y="5463447"/>
            <a:ext cx="3345981" cy="334598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598533" y="6605630"/>
            <a:ext cx="2387379" cy="110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&amp; Opti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iz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41463" y="1477572"/>
            <a:ext cx="3345981" cy="334598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07687" y="2264420"/>
            <a:ext cx="2813532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Social Media &amp; Content Creation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41463" y="5463447"/>
            <a:ext cx="3345981" cy="334598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420764" y="6322750"/>
            <a:ext cx="2387379" cy="1669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SEO, B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&amp; Copyw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763694" y="1477572"/>
            <a:ext cx="3345981" cy="334598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029918" y="2545407"/>
            <a:ext cx="2813532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ampaigns &amp; Paid Ads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763694" y="5463447"/>
            <a:ext cx="3345981" cy="334598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242995" y="6888510"/>
            <a:ext cx="2387379" cy="537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744502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Business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924" y="2411433"/>
            <a:ext cx="11538461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offer flexible, scalable services for businesses of all sizes.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5924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Monthly Retainer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Packages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6399" y="4852373"/>
            <a:ext cx="4843133" cy="3594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Tiered pricing (Starter / Growth / Premium)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Includes a set number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of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rv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ces: strat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gy sessions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content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atio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n, cam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ign manag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etc.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Ideal for businesses need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 consistent sup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port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 measu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able resul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over time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Predictable reve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nue and long-term client relationships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31959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One-Off Campaigns &amp; C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22434" y="4852373"/>
            <a:ext cx="4843133" cy="250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Project-based pricing for seasonal or special campaigns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Includes short-term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social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edia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pu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es, product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laun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hes,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rebra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ing, or dig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ital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udi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Ideal for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 the waters or addressing a specific need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7994" y="3642063"/>
            <a:ext cx="4833608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rks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ops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&amp; Tr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 fo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In-Hous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Team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78469" y="4852373"/>
            <a:ext cx="4843133" cy="323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Interactive, skill-based training: SEO, so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cial med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ia strategy, content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ing, rep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Delivered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webi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rs, vid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eo m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odul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s, or o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-si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ssions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for businesses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buil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ding internal mar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ab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ity</a:t>
            </a:r>
          </a:p>
          <a:p>
            <a:pPr algn="l" marL="388620" indent="-194310" lvl="1">
              <a:lnSpc>
                <a:spcPts val="288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ue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tre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 also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ui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ds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18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rand authority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5470711" y="2869863"/>
          <a:ext cx="11650890" cy="5359654"/>
        </p:xfrm>
        <a:graphic>
          <a:graphicData uri="http://schemas.openxmlformats.org/drawingml/2006/table">
            <a:tbl>
              <a:tblPr/>
              <a:tblGrid>
                <a:gridCol w="3883630"/>
                <a:gridCol w="3883630"/>
                <a:gridCol w="3883630"/>
              </a:tblGrid>
              <a:tr h="1071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Studio Shodwe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Big Agencies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1071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Strategic Partnership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Affordable Flex Packages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Creative + Analytics Mix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1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Direct Client Access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Competitive Advantage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6399" y="2939259"/>
            <a:ext cx="3588175" cy="288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appr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ach bl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nds st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ategic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insight, creative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ecut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on, and data-driv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optimiz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tion — 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cif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ally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for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growing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businesses.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790438" y="2866051"/>
            <a:ext cx="3366924" cy="3484527"/>
          </a:xfrm>
          <a:custGeom>
            <a:avLst/>
            <a:gdLst/>
            <a:ahLst/>
            <a:cxnLst/>
            <a:rect r="r" b="b" t="t" l="l"/>
            <a:pathLst>
              <a:path h="3484527" w="3366924">
                <a:moveTo>
                  <a:pt x="0" y="0"/>
                </a:moveTo>
                <a:lnTo>
                  <a:pt x="3366924" y="0"/>
                </a:lnTo>
                <a:lnTo>
                  <a:pt x="3366924" y="3484527"/>
                </a:lnTo>
                <a:lnTo>
                  <a:pt x="0" y="3484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90438" y="7338209"/>
            <a:ext cx="3588175" cy="817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ounder 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/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etin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egist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790438" y="6779203"/>
            <a:ext cx="358817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Tayl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or 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Alo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ns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159663" y="2866051"/>
            <a:ext cx="3366924" cy="3484527"/>
          </a:xfrm>
          <a:custGeom>
            <a:avLst/>
            <a:gdLst/>
            <a:ahLst/>
            <a:cxnLst/>
            <a:rect r="r" b="b" t="t" l="l"/>
            <a:pathLst>
              <a:path h="3484527" w="3366924">
                <a:moveTo>
                  <a:pt x="0" y="0"/>
                </a:moveTo>
                <a:lnTo>
                  <a:pt x="3366924" y="0"/>
                </a:lnTo>
                <a:lnTo>
                  <a:pt x="3366924" y="3484527"/>
                </a:lnTo>
                <a:lnTo>
                  <a:pt x="0" y="34845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514" r="0" b="-2251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59663" y="7338209"/>
            <a:ext cx="3588175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Paid Ads &amp; F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unnel Expert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59663" y="6779203"/>
            <a:ext cx="358817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Shawn Ga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rcia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533427" y="2866051"/>
            <a:ext cx="3366924" cy="3484527"/>
          </a:xfrm>
          <a:custGeom>
            <a:avLst/>
            <a:gdLst/>
            <a:ahLst/>
            <a:cxnLst/>
            <a:rect r="r" b="b" t="t" l="l"/>
            <a:pathLst>
              <a:path h="3484527" w="3366924">
                <a:moveTo>
                  <a:pt x="0" y="0"/>
                </a:moveTo>
                <a:lnTo>
                  <a:pt x="3366924" y="0"/>
                </a:lnTo>
                <a:lnTo>
                  <a:pt x="3366924" y="3484527"/>
                </a:lnTo>
                <a:lnTo>
                  <a:pt x="0" y="34845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343" r="0" b="-3968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533427" y="7338209"/>
            <a:ext cx="3588175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1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nalytics &amp; Optimization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33427" y="6779203"/>
            <a:ext cx="358817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Neil</a:t>
            </a:r>
            <a:r>
              <a:rPr lang="en-US" sz="3200" strike="noStrike" u="non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Tran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Roadmap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18899" y="2928479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8899" y="3679049"/>
            <a:ext cx="3237203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Build portfolio &amp; case studies</a:t>
            </a:r>
          </a:p>
        </p:txBody>
      </p:sp>
      <p:sp>
        <p:nvSpPr>
          <p:cNvPr name="AutoShape 9" id="9"/>
          <p:cNvSpPr/>
          <p:nvPr/>
        </p:nvSpPr>
        <p:spPr>
          <a:xfrm>
            <a:off x="1175924" y="5715000"/>
            <a:ext cx="1593615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747424" y="3785659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720345" y="7019925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20345" y="7770495"/>
            <a:ext cx="3237203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Launch marketing workshops</a:t>
            </a:r>
          </a:p>
        </p:txBody>
      </p:sp>
      <p:sp>
        <p:nvSpPr>
          <p:cNvPr name="AutoShape 13" id="13"/>
          <p:cNvSpPr/>
          <p:nvPr/>
        </p:nvSpPr>
        <p:spPr>
          <a:xfrm>
            <a:off x="5348870" y="5684662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10079204" y="2928479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79204" y="3679049"/>
            <a:ext cx="3237203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Develop marketing playbook tool</a:t>
            </a:r>
          </a:p>
        </p:txBody>
      </p:sp>
      <p:sp>
        <p:nvSpPr>
          <p:cNvPr name="AutoShape 16" id="16"/>
          <p:cNvSpPr/>
          <p:nvPr/>
        </p:nvSpPr>
        <p:spPr>
          <a:xfrm>
            <a:off x="9707729" y="3785659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3680650" y="7019925"/>
            <a:ext cx="3440951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2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Phase 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80650" y="7770495"/>
            <a:ext cx="3237203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Scale via agency partners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3309175" y="5684662"/>
            <a:ext cx="0" cy="1940701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039916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Contact Info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6399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5924" y="2411433"/>
            <a:ext cx="9447306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t’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ow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 b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geth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0686" y="4213563"/>
            <a:ext cx="305794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PHONE NUMBER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89721" y="4213563"/>
            <a:ext cx="647415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2400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+123-456-7890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0686" y="5180965"/>
            <a:ext cx="305794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EBSITE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89721" y="5180965"/>
            <a:ext cx="647415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2400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REALLYGREATSITE.C</a:t>
            </a:r>
            <a:r>
              <a:rPr lang="en-US" b="true" sz="2400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0686" y="6148367"/>
            <a:ext cx="305794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MAIL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89721" y="6148367"/>
            <a:ext cx="647415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2400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HELLO@REALLYGREATSITE.COM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0686" y="7115770"/>
            <a:ext cx="305794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SOCIAL MEDIA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89721" y="7115770"/>
            <a:ext cx="6474153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2400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@R</a:t>
            </a:r>
            <a:r>
              <a:rPr lang="en-US" b="true" sz="2400" spc="24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EALLYGREATSITE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 FOR LISTENING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Taylor Alonso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18762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 strike="noStrike" u="none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STUDIO SHODWE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DAG54cjf2ts</dc:identifier>
  <dcterms:modified xsi:type="dcterms:W3CDTF">2011-08-01T06:04:30Z</dcterms:modified>
  <cp:revision>1</cp:revision>
  <dc:title>Black and White Simple Minimalist Pitch Deck Marketing Presentation</dc:title>
</cp:coreProperties>
</file>